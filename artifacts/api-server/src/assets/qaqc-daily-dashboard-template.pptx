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ne-page dashboard" id="{71b1dbfa-443a-9ba6-e64d-b9150cf8f614}">
          <p14:sldIdLst>
            <p14:sldId id="256"/>
          </p14:sldIdLst>
        </p14:section>
        <p14:section name="Disciplines" id="{4c2c26df-7477-0fec-cc94-38811fc1c637}">
          <p14:sldIdLst>
            <p14:sldId id="257"/>
          </p14:sldIdLst>
        </p14:section>
        <p14:section name="Types and revisions" id="{c12bbb9c-6750-2f91-ada7-4c39d37449bf}">
          <p14:sldIdLst>
            <p14:sldId id="258"/>
          </p14:sldIdLst>
        </p14:section>
        <p14:section name="Pending review" id="{025d2862-10da-66d5-4954-a255009262e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SUBMITTALS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8B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A9D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Approved</c:v>
                  </c:pt>
                  <c:pt idx="2">
                    <c:v>Resubmit</c:v>
                  </c:pt>
                  <c:pt idx="3">
                    <c:v>Rejected</c:v>
                  </c:pt>
                  <c:pt idx="4">
                    <c:v>Under review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11</c:v>
                </c:pt>
                <c:pt idx="2">
                  <c:v>4</c:v>
                </c:pt>
                <c:pt idx="3">
                  <c:v>1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.0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DRAWINGS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8B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A9D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Approved</c:v>
                  </c:pt>
                  <c:pt idx="2">
                    <c:v>Resubmit</c:v>
                  </c:pt>
                  <c:pt idx="3">
                    <c:v>Rejected</c:v>
                  </c:pt>
                  <c:pt idx="4">
                    <c:v>Under review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16</c:v>
                </c:pt>
                <c:pt idx="2">
                  <c:v>4</c:v>
                </c:pt>
                <c:pt idx="3">
                  <c:v>2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.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 TOTAL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8B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A9D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Approved</c:v>
                  </c:pt>
                  <c:pt idx="2">
                    <c:v>Resubmit</c:v>
                  </c:pt>
                  <c:pt idx="3">
                    <c:v>Rejected</c:v>
                  </c:pt>
                  <c:pt idx="4">
                    <c:v>Under review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</c:v>
                </c:pt>
                <c:pt idx="1">
                  <c:v>27</c:v>
                </c:pt>
                <c:pt idx="2">
                  <c:v>8</c:v>
                </c:pt>
                <c:pt idx="3">
                  <c:v>3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.65000000000000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Correspondence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82C8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6AEB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Outgoing</c:v>
                </c:pt>
                <c:pt idx="1">
                  <c:v>Incoming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</c:v>
                </c:pt>
                <c:pt idx="1">
                  <c:v>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SUBMITTALS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8B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A9D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Approved</c:v>
                  </c:pt>
                  <c:pt idx="2">
                    <c:v>Resubmit</c:v>
                  </c:pt>
                  <c:pt idx="3">
                    <c:v>Rejected</c:v>
                  </c:pt>
                  <c:pt idx="4">
                    <c:v>Under review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451</c:v>
                </c:pt>
                <c:pt idx="1">
                  <c:v>292</c:v>
                </c:pt>
                <c:pt idx="2">
                  <c:v>59</c:v>
                </c:pt>
                <c:pt idx="3">
                  <c:v>20</c:v>
                </c:pt>
                <c:pt idx="4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73.5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DRAWINGS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8B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A9D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Approved</c:v>
                  </c:pt>
                  <c:pt idx="2">
                    <c:v>Resubmit</c:v>
                  </c:pt>
                  <c:pt idx="3">
                    <c:v>Rejected</c:v>
                  </c:pt>
                  <c:pt idx="4">
                    <c:v>Under review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583</c:v>
                </c:pt>
                <c:pt idx="1">
                  <c:v>373</c:v>
                </c:pt>
                <c:pt idx="2">
                  <c:v>77</c:v>
                </c:pt>
                <c:pt idx="3">
                  <c:v>27</c:v>
                </c:pt>
                <c:pt idx="4">
                  <c:v>106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12.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 TOTAL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58BC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BA9D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Total</c:v>
                  </c:pt>
                  <c:pt idx="1">
                    <c:v>Approved</c:v>
                  </c:pt>
                  <c:pt idx="2">
                    <c:v>Resubmit</c:v>
                  </c:pt>
                  <c:pt idx="3">
                    <c:v>Rejected</c:v>
                  </c:pt>
                  <c:pt idx="4">
                    <c:v>Under review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1034</c:v>
                </c:pt>
                <c:pt idx="1">
                  <c:v>665</c:v>
                </c:pt>
                <c:pt idx="2">
                  <c:v>136</c:v>
                </c:pt>
                <c:pt idx="3">
                  <c:v>47</c:v>
                </c:pt>
                <c:pt idx="4">
                  <c:v>186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85.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Correspondence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82C83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6AEB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Outgoing</c:v>
                </c:pt>
                <c:pt idx="1">
                  <c:v>Incoming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318</c:v>
                </c:pt>
                <c:pt idx="1">
                  <c:v>291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overall cum.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Drawing rev 0  +9</c:v>
                  </c:pt>
                  <c:pt idx="1">
                    <c:v>Drawing rev 1  +4</c:v>
                  </c:pt>
                  <c:pt idx="2">
                    <c:v>Drawing rev 2  +3</c:v>
                  </c:pt>
                  <c:pt idx="3">
                    <c:v>Submittal rev 0  +7</c:v>
                  </c:pt>
                  <c:pt idx="4">
                    <c:v>Submittal rev 1  +2</c:v>
                  </c:pt>
                  <c:pt idx="5">
                    <c:v>Submittal rev 2  +2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24.2</c:v>
                </c:pt>
                <c:pt idx="1">
                  <c:v>9.5</c:v>
                </c:pt>
                <c:pt idx="2">
                  <c:v>2.4</c:v>
                </c:pt>
                <c:pt idx="3">
                  <c:v>18.4</c:v>
                </c:pt>
                <c:pt idx="4">
                  <c:v>7.9</c:v>
                </c:pt>
                <c:pt idx="5">
                  <c:v>1.9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Under review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AE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982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Client</c:v>
                  </c:pt>
                  <c:pt idx="1">
                    <c:v>Algihaz</c:v>
                  </c:pt>
                  <c:pt idx="2">
                    <c:v>Supplier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58</c:v>
                </c:pt>
                <c:pt idx="2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2.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Rejected</c:v>
                </c:pt>
              </c:strCache>
            </c:strRef>
          </c:tx>
          <c:spPr>
            <a:solidFill>
              <a:srgbClr val="D58B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58B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43C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82C8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BA9D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Drawing  +2</c:v>
                  </c:pt>
                  <c:pt idx="1">
                    <c:v>Materials  +1</c:v>
                  </c:pt>
                  <c:pt idx="2">
                    <c:v>Calculation  0</c:v>
                  </c:pt>
                  <c:pt idx="3">
                    <c:v>General  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10</c:v>
                </c:pt>
                <c:pt idx="2">
                  <c:v>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06A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</c:v>
                </c:pt>
                <c:pt idx="1">
                  <c:v>101</c:v>
                </c:pt>
                <c:pt idx="2">
                  <c:v>67</c:v>
                </c:pt>
                <c:pt idx="3">
                  <c:v>58</c:v>
                </c:pt>
                <c:pt idx="4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Resubmit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</c:v>
                </c:pt>
                <c:pt idx="1">
                  <c:v>20</c:v>
                </c:pt>
                <c:pt idx="2">
                  <c:v>14</c:v>
                </c:pt>
                <c:pt idx="3">
                  <c:v>12</c:v>
                </c:pt>
                <c:pt idx="4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Rejected</c:v>
                </c:pt>
              </c:strCache>
            </c:strRef>
          </c:tx>
          <c:spPr>
            <a:solidFill>
              <a:srgbClr val="D58B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4</c:v>
                </c:pt>
                <c:pt idx="4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Under Review</c:v>
                </c:pt>
              </c:strCache>
            </c:strRef>
          </c:tx>
          <c:spPr>
            <a:solidFill>
              <a:srgbClr val="BBA9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33</c:v>
                </c:pt>
                <c:pt idx="1">
                  <c:v>24</c:v>
                </c:pt>
                <c:pt idx="2">
                  <c:v>21</c:v>
                </c:pt>
                <c:pt idx="3">
                  <c:v>17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Approved</c:v>
                </c:pt>
              </c:strCache>
            </c:strRef>
          </c:tx>
          <c:spPr>
            <a:solidFill>
              <a:srgbClr val="06AE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</c:v>
                </c:pt>
                <c:pt idx="1">
                  <c:v>54</c:v>
                </c:pt>
                <c:pt idx="2">
                  <c:v>73</c:v>
                </c:pt>
                <c:pt idx="3">
                  <c:v>63</c:v>
                </c:pt>
                <c:pt idx="4">
                  <c:v>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Resubmit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</c:v>
                </c:pt>
                <c:pt idx="1">
                  <c:v>10</c:v>
                </c:pt>
                <c:pt idx="2">
                  <c:v>17</c:v>
                </c:pt>
                <c:pt idx="3">
                  <c:v>13</c:v>
                </c:pt>
                <c:pt idx="4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Rejected</c:v>
                </c:pt>
              </c:strCache>
            </c:strRef>
          </c:tx>
          <c:spPr>
            <a:solidFill>
              <a:srgbClr val="D58B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3</c:v>
                </c:pt>
                <c:pt idx="2">
                  <c:v>6</c:v>
                </c:pt>
                <c:pt idx="3">
                  <c:v>5</c:v>
                </c:pt>
                <c:pt idx="4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Under Review</c:v>
                </c:pt>
              </c:strCache>
            </c:strRef>
          </c:tx>
          <c:spPr>
            <a:solidFill>
              <a:srgbClr val="BBA9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Civil</c:v>
                  </c:pt>
                  <c:pt idx="1">
                    <c:v>Structural</c:v>
                  </c:pt>
                  <c:pt idx="2">
                    <c:v>Mechanical</c:v>
                  </c:pt>
                  <c:pt idx="3">
                    <c:v>Electrical</c:v>
                  </c:pt>
                  <c:pt idx="4">
                    <c:v>Instrumentation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19</c:v>
                </c:pt>
                <c:pt idx="1">
                  <c:v>13</c:v>
                </c:pt>
                <c:pt idx="2">
                  <c:v>22</c:v>
                </c:pt>
                <c:pt idx="3">
                  <c:v>18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Drawings  ▲+32</c:v>
                  </c:pt>
                  <c:pt idx="1">
                    <c:v>Material Submittals  ▲+11</c:v>
                  </c:pt>
                  <c:pt idx="2">
                    <c:v>Method Statements  ▲+4</c:v>
                  </c:pt>
                  <c:pt idx="3">
                    <c:v>ITP  ▲+4</c:v>
                  </c:pt>
                  <c:pt idx="4">
                    <c:v>RFIs  ▲+9</c:v>
                  </c:pt>
                  <c:pt idx="5">
                    <c:v>Procedures  ▲+1</c:v>
                  </c:pt>
                  <c:pt idx="6">
                    <c:v>Calculations  ▲+2</c:v>
                  </c:pt>
                  <c:pt idx="7">
                    <c:v>Vendor Documents  ▲+4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583</c:v>
                </c:pt>
                <c:pt idx="1">
                  <c:v>221</c:v>
                </c:pt>
                <c:pt idx="2">
                  <c:v>100</c:v>
                </c:pt>
                <c:pt idx="3">
                  <c:v>78</c:v>
                </c:pt>
                <c:pt idx="4">
                  <c:v>197</c:v>
                </c:pt>
                <c:pt idx="5">
                  <c:v>43</c:v>
                </c:pt>
                <c:pt idx="6">
                  <c:v>37</c:v>
                </c:pt>
                <c:pt idx="7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overall cum.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Drawing rev 0</c:v>
                  </c:pt>
                  <c:pt idx="1">
                    <c:v>Drawing rev 1</c:v>
                  </c:pt>
                  <c:pt idx="2">
                    <c:v>Drawing rev 2</c:v>
                  </c:pt>
                  <c:pt idx="3">
                    <c:v>Submittal rev 0</c:v>
                  </c:pt>
                  <c:pt idx="4">
                    <c:v>Submittal rev 1</c:v>
                  </c:pt>
                  <c:pt idx="5">
                    <c:v>Submittal rev 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24.2</c:v>
                </c:pt>
                <c:pt idx="1">
                  <c:v>9.5</c:v>
                </c:pt>
                <c:pt idx="2">
                  <c:v>2.4</c:v>
                </c:pt>
                <c:pt idx="3">
                  <c:v>18.4</c:v>
                </c:pt>
                <c:pt idx="4">
                  <c:v>7.9</c:v>
                </c:pt>
                <c:pt idx="5">
                  <c:v>1.9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≤7 days</c:v>
                </c:pt>
              </c:strCache>
            </c:strRef>
          </c:tx>
          <c:spPr>
            <a:solidFill>
              <a:srgbClr val="6DBE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</c:v>
                  </c:pt>
                  <c:pt idx="1">
                    <c:v>Algihaz</c:v>
                  </c:pt>
                  <c:pt idx="2">
                    <c:v>Supplier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49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8–30 days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</c:v>
                  </c:pt>
                  <c:pt idx="1">
                    <c:v>Algihaz</c:v>
                  </c:pt>
                  <c:pt idx="2">
                    <c:v>Supplier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</c:v>
                </c:pt>
                <c:pt idx="1">
                  <c:v>22</c:v>
                </c:pt>
                <c:pt idx="2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≥31 days</c:v>
                </c:pt>
              </c:strCache>
            </c:strRef>
          </c:tx>
          <c:spPr>
            <a:solidFill>
              <a:srgbClr val="E977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</c:v>
                  </c:pt>
                  <c:pt idx="1">
                    <c:v>Algihaz</c:v>
                  </c:pt>
                  <c:pt idx="2">
                    <c:v>Supplier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</c:v>
                </c:pt>
                <c:pt idx="1">
                  <c:v>9</c:v>
                </c:pt>
                <c:pt idx="2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</c:v>
                </c:pt>
              </c:strCache>
            </c:strRef>
          </c:tx>
          <c:spPr>
            <a:solidFill>
              <a:srgbClr val="582C8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Under review</c:v>
                  </c:pt>
                  <c:pt idx="1">
                    <c:v>Status A</c:v>
                  </c:pt>
                  <c:pt idx="2">
                    <c:v>Status B</c:v>
                  </c:pt>
                  <c:pt idx="3">
                    <c:v>Status C</c:v>
                  </c:pt>
                  <c:pt idx="4">
                    <c:v>Status D</c:v>
                  </c:pt>
                  <c:pt idx="5">
                    <c:v>Status 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Algihaz</c:v>
                </c:pt>
              </c:strCache>
            </c:strRef>
          </c:tx>
          <c:spPr>
            <a:solidFill>
              <a:srgbClr val="EB982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Under review</c:v>
                  </c:pt>
                  <c:pt idx="1">
                    <c:v>Status A</c:v>
                  </c:pt>
                  <c:pt idx="2">
                    <c:v>Status B</c:v>
                  </c:pt>
                  <c:pt idx="3">
                    <c:v>Status C</c:v>
                  </c:pt>
                  <c:pt idx="4">
                    <c:v>Status D</c:v>
                  </c:pt>
                  <c:pt idx="5">
                    <c:v>Status 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Supplier</c:v>
                </c:pt>
              </c:strCache>
            </c:strRef>
          </c:tx>
          <c:spPr>
            <a:solidFill>
              <a:srgbClr val="06AEB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Under review</c:v>
                  </c:pt>
                  <c:pt idx="1">
                    <c:v>Status A</c:v>
                  </c:pt>
                  <c:pt idx="2">
                    <c:v>Status B</c:v>
                  </c:pt>
                  <c:pt idx="3">
                    <c:v>Status C</c:v>
                  </c:pt>
                  <c:pt idx="4">
                    <c:v>Status D</c:v>
                  </c:pt>
                  <c:pt idx="5">
                    <c:v>Status 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</c:v>
                </c:pt>
                <c:pt idx="1">
                  <c:v>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200" u="none">
                  <a:solidFill>
                    <a:srgbClr val="3A3A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A3A3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view for the business. Top band = documents added since yesterday (current minus yesterday). Middle band = cumulative till the report date. Bottom band = approved share by revision, under review by party, pending days and rejected submissions.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per discipline = Approved + Resubmit + Rejected + Under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% of overall cum. = current approved / (Drawings total + Submittals total).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Pending days buckets: up to 7 days, 8 to 30 days, 31 days and above. Zero values are hidden in the right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6473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55000"/>
                  </a:schemeClr>
                </a:solidFill>
              </a:rPr>
              <a:t>Algihaz  ·  Daily Document Governance Dashboard  · 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1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 txBox="1"/>
          <p:nvPr/>
        </p:nvSpPr>
        <p:spPr>
          <a:xfrm>
            <a:off x="27432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55000"/>
                  </a:schemeClr>
                </a:solidFill>
              </a:rPr>
              <a:t>Algihaz  ·  Daily Document Governance Dashboard  ·  SAMPLE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4" Type="http://schemas.openxmlformats.org/officeDocument/2006/relationships/chart" Target="/ppt/charts/chart13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4.xml"/><Relationship Id="rId4" Type="http://schemas.openxmlformats.org/officeDocument/2006/relationships/chart" Target="/ppt/charts/chart15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6.xml"/><Relationship Id="rId4" Type="http://schemas.openxmlformats.org/officeDocument/2006/relationships/chart" Target="/ppt/charts/chart17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Daily document governance report</a:t>
            </a:r>
            <a:endParaRPr lang="en-US" sz="2200" dirty="0"/>
          </a:p>
        </p:txBody>
      </p:sp>
      <p:sp>
        <p:nvSpPr>
          <p:cNvPr id="3" name="Project line"/>
          <p:cNvSpPr txBox="1"/>
          <p:nvPr/>
        </p:nvSpPr>
        <p:spPr>
          <a:xfrm>
            <a:off x="274320" y="51206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AGH-ALPHA  ·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Alpha District Development</a:t>
            </a:r>
            <a:endParaRPr lang="en-US" sz="1400" dirty="0"/>
          </a:p>
        </p:txBody>
      </p:sp>
      <p:sp>
        <p:nvSpPr>
          <p:cNvPr id="4" name="Report date chip"/>
          <p:cNvSpPr/>
          <p:nvPr/>
        </p:nvSpPr>
        <p:spPr>
          <a:xfrm>
            <a:off x="9464040" y="109728"/>
            <a:ext cx="2450592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Report date"/>
          <p:cNvSpPr txBox="1"/>
          <p:nvPr/>
        </p:nvSpPr>
        <p:spPr>
          <a:xfrm>
            <a:off x="9464040" y="109728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REPORT DATE</a:t>
            </a:r>
            <a:endParaRPr lang="en-US" sz="9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18-10-2026</a:t>
            </a:r>
            <a:endParaRPr lang="en-US" sz="900" dirty="0"/>
          </a:p>
        </p:txBody>
      </p:sp>
      <p:sp>
        <p:nvSpPr>
          <p:cNvPr id="6" name="Team strip"/>
          <p:cNvSpPr/>
          <p:nvPr/>
        </p:nvSpPr>
        <p:spPr>
          <a:xfrm>
            <a:off x="274320" y="841248"/>
            <a:ext cx="11640312" cy="256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7" name="Team line"/>
          <p:cNvSpPr txBox="1"/>
          <p:nvPr/>
        </p:nvSpPr>
        <p:spPr>
          <a:xfrm>
            <a:off x="274320" y="841248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chemeClr val="accent1"/>
                </a:solidFill>
              </a:rPr>
              <a:t>Project team:  </a:t>
            </a:r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PM – S. Rahman   ||   PE – M. Khan   ||   DC – A. Nair   ||   Cost centre CC-3107</a:t>
            </a:r>
            <a:endParaRPr lang="en-US" sz="1200" dirty="0"/>
          </a:p>
        </p:txBody>
      </p:sp>
      <p:sp>
        <p:nvSpPr>
          <p:cNvPr id="8" name="Added band"/>
          <p:cNvSpPr/>
          <p:nvPr/>
        </p:nvSpPr>
        <p:spPr>
          <a:xfrm>
            <a:off x="274320" y="1152144"/>
            <a:ext cx="274320" cy="160934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Added band label"/>
          <p:cNvSpPr txBox="1"/>
          <p:nvPr/>
        </p:nvSpPr>
        <p:spPr>
          <a:xfrm>
            <a:off x="274320" y="1152144"/>
            <a:ext cx="2743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ADDED SINCE YESTERDAY</a:t>
            </a:r>
            <a:endParaRPr lang="en-US" sz="1000" dirty="0"/>
          </a:p>
        </p:txBody>
      </p:sp>
      <p:sp>
        <p:nvSpPr>
          <p:cNvPr id="10" name="Added SUBMITTALS card"/>
          <p:cNvSpPr/>
          <p:nvPr/>
        </p:nvSpPr>
        <p:spPr>
          <a:xfrm>
            <a:off x="621792" y="1152144"/>
            <a:ext cx="288036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1" name="Added SUBMITTALS header"/>
          <p:cNvSpPr/>
          <p:nvPr/>
        </p:nvSpPr>
        <p:spPr>
          <a:xfrm>
            <a:off x="621792" y="1152144"/>
            <a:ext cx="288036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Added SUBMITTALS title"/>
          <p:cNvSpPr txBox="1"/>
          <p:nvPr/>
        </p:nvSpPr>
        <p:spPr>
          <a:xfrm>
            <a:off x="621792" y="11521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SUBMITTALS</a:t>
            </a:r>
            <a:endParaRPr lang="en-US" sz="1100" dirty="0"/>
          </a:p>
        </p:txBody>
      </p:sp>
      <p:sp>
        <p:nvSpPr>
          <p:cNvPr id="13" name="Added SUBMITTALS chip 1"/>
          <p:cNvSpPr/>
          <p:nvPr/>
        </p:nvSpPr>
        <p:spPr>
          <a:xfrm>
            <a:off x="71323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dded SUBMITTALS chip 1 accent"/>
          <p:cNvSpPr/>
          <p:nvPr/>
        </p:nvSpPr>
        <p:spPr>
          <a:xfrm>
            <a:off x="713232" y="1435608"/>
            <a:ext cx="5029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15" name="Added SUBMITTALS chip 1 value"/>
          <p:cNvSpPr txBox="1"/>
          <p:nvPr/>
        </p:nvSpPr>
        <p:spPr>
          <a:xfrm>
            <a:off x="71323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+21</a:t>
            </a:r>
            <a:endParaRPr lang="en-US" sz="1400" dirty="0"/>
          </a:p>
        </p:txBody>
      </p:sp>
      <p:sp>
        <p:nvSpPr>
          <p:cNvPr id="16" name="Added SUBMITTALS chip 1 label"/>
          <p:cNvSpPr txBox="1"/>
          <p:nvPr/>
        </p:nvSpPr>
        <p:spPr>
          <a:xfrm>
            <a:off x="71323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Total</a:t>
            </a:r>
            <a:endParaRPr lang="en-US" sz="800" dirty="0"/>
          </a:p>
        </p:txBody>
      </p:sp>
      <p:sp>
        <p:nvSpPr>
          <p:cNvPr id="17" name="Added SUBMITTALS chip 2"/>
          <p:cNvSpPr/>
          <p:nvPr/>
        </p:nvSpPr>
        <p:spPr>
          <a:xfrm>
            <a:off x="126187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Added SUBMITTALS chip 2 accent"/>
          <p:cNvSpPr/>
          <p:nvPr/>
        </p:nvSpPr>
        <p:spPr>
          <a:xfrm>
            <a:off x="1261872" y="1435608"/>
            <a:ext cx="5029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19" name="Added SUBMITTALS chip 2 value"/>
          <p:cNvSpPr txBox="1"/>
          <p:nvPr/>
        </p:nvSpPr>
        <p:spPr>
          <a:xfrm>
            <a:off x="126187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+11</a:t>
            </a:r>
            <a:endParaRPr lang="en-US" sz="1400" dirty="0"/>
          </a:p>
        </p:txBody>
      </p:sp>
      <p:sp>
        <p:nvSpPr>
          <p:cNvPr id="20" name="Added SUBMITTALS chip 2 label"/>
          <p:cNvSpPr txBox="1"/>
          <p:nvPr/>
        </p:nvSpPr>
        <p:spPr>
          <a:xfrm>
            <a:off x="126187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Approved</a:t>
            </a:r>
            <a:endParaRPr lang="en-US" sz="800" dirty="0"/>
          </a:p>
        </p:txBody>
      </p:sp>
      <p:sp>
        <p:nvSpPr>
          <p:cNvPr id="21" name="Added SUBMITTALS chip 3"/>
          <p:cNvSpPr/>
          <p:nvPr/>
        </p:nvSpPr>
        <p:spPr>
          <a:xfrm>
            <a:off x="181051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dded SUBMITTALS chip 3 accent"/>
          <p:cNvSpPr/>
          <p:nvPr/>
        </p:nvSpPr>
        <p:spPr>
          <a:xfrm>
            <a:off x="1810512" y="1435608"/>
            <a:ext cx="502920" cy="45720"/>
          </a:xfrm>
          <a:prstGeom prst="rect">
            <a:avLst/>
          </a:prstGeom>
          <a:solidFill>
            <a:srgbClr val="EB9823"/>
          </a:solidFill>
          <a:ln w="12700">
            <a:solidFill>
              <a:srgbClr val="EB9823"/>
            </a:solidFill>
            <a:prstDash val="solid"/>
          </a:ln>
        </p:spPr>
      </p:sp>
      <p:sp>
        <p:nvSpPr>
          <p:cNvPr id="23" name="Added SUBMITTALS chip 3 value"/>
          <p:cNvSpPr txBox="1"/>
          <p:nvPr/>
        </p:nvSpPr>
        <p:spPr>
          <a:xfrm>
            <a:off x="181051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+4</a:t>
            </a:r>
            <a:endParaRPr lang="en-US" sz="1400" dirty="0"/>
          </a:p>
        </p:txBody>
      </p:sp>
      <p:sp>
        <p:nvSpPr>
          <p:cNvPr id="24" name="Added SUBMITTALS chip 3 label"/>
          <p:cNvSpPr txBox="1"/>
          <p:nvPr/>
        </p:nvSpPr>
        <p:spPr>
          <a:xfrm>
            <a:off x="181051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Resubmit</a:t>
            </a:r>
            <a:endParaRPr lang="en-US" sz="800" dirty="0"/>
          </a:p>
        </p:txBody>
      </p:sp>
      <p:sp>
        <p:nvSpPr>
          <p:cNvPr id="25" name="Added SUBMITTALS chip 4"/>
          <p:cNvSpPr/>
          <p:nvPr/>
        </p:nvSpPr>
        <p:spPr>
          <a:xfrm>
            <a:off x="235915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Added SUBMITTALS chip 4 accent"/>
          <p:cNvSpPr/>
          <p:nvPr/>
        </p:nvSpPr>
        <p:spPr>
          <a:xfrm>
            <a:off x="2359152" y="1435608"/>
            <a:ext cx="502920" cy="45720"/>
          </a:xfrm>
          <a:prstGeom prst="rect">
            <a:avLst/>
          </a:prstGeom>
          <a:solidFill>
            <a:srgbClr val="D58BCB"/>
          </a:solidFill>
          <a:ln w="12700">
            <a:solidFill>
              <a:srgbClr val="D58BCB"/>
            </a:solidFill>
            <a:prstDash val="solid"/>
          </a:ln>
        </p:spPr>
      </p:sp>
      <p:sp>
        <p:nvSpPr>
          <p:cNvPr id="27" name="Added SUBMITTALS chip 4 value"/>
          <p:cNvSpPr txBox="1"/>
          <p:nvPr/>
        </p:nvSpPr>
        <p:spPr>
          <a:xfrm>
            <a:off x="235915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+1</a:t>
            </a:r>
            <a:endParaRPr lang="en-US" sz="1400" dirty="0"/>
          </a:p>
        </p:txBody>
      </p:sp>
      <p:sp>
        <p:nvSpPr>
          <p:cNvPr id="28" name="Added SUBMITTALS chip 4 label"/>
          <p:cNvSpPr txBox="1"/>
          <p:nvPr/>
        </p:nvSpPr>
        <p:spPr>
          <a:xfrm>
            <a:off x="235915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Rejected</a:t>
            </a:r>
            <a:endParaRPr lang="en-US" sz="800" dirty="0"/>
          </a:p>
        </p:txBody>
      </p:sp>
      <p:sp>
        <p:nvSpPr>
          <p:cNvPr id="29" name="Added SUBMITTALS chip 5"/>
          <p:cNvSpPr/>
          <p:nvPr/>
        </p:nvSpPr>
        <p:spPr>
          <a:xfrm>
            <a:off x="290779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Added SUBMITTALS chip 5 accent"/>
          <p:cNvSpPr/>
          <p:nvPr/>
        </p:nvSpPr>
        <p:spPr>
          <a:xfrm>
            <a:off x="2907792" y="1435608"/>
            <a:ext cx="502920" cy="45720"/>
          </a:xfrm>
          <a:prstGeom prst="rect">
            <a:avLst/>
          </a:prstGeom>
          <a:solidFill>
            <a:srgbClr val="BBA9D2"/>
          </a:solidFill>
          <a:ln w="12700">
            <a:solidFill>
              <a:srgbClr val="BBA9D2"/>
            </a:solidFill>
            <a:prstDash val="solid"/>
          </a:ln>
        </p:spPr>
      </p:sp>
      <p:sp>
        <p:nvSpPr>
          <p:cNvPr id="31" name="Added SUBMITTALS chip 5 value"/>
          <p:cNvSpPr txBox="1"/>
          <p:nvPr/>
        </p:nvSpPr>
        <p:spPr>
          <a:xfrm>
            <a:off x="290779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+5</a:t>
            </a:r>
            <a:endParaRPr lang="en-US" sz="1400" dirty="0"/>
          </a:p>
        </p:txBody>
      </p:sp>
      <p:sp>
        <p:nvSpPr>
          <p:cNvPr id="32" name="Added SUBMITTALS chip 5 label"/>
          <p:cNvSpPr txBox="1"/>
          <p:nvPr/>
        </p:nvSpPr>
        <p:spPr>
          <a:xfrm>
            <a:off x="290779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Under review</a:t>
            </a:r>
            <a:endParaRPr lang="en-US" sz="800" dirty="0"/>
          </a:p>
        </p:txBody>
      </p:sp>
      <p:graphicFrame>
        <p:nvGraphicFramePr>
          <p:cNvPr id="33" name="Added SUBMITTALS chart" descr=""/>
          <p:cNvGraphicFramePr/>
          <p:nvPr/>
        </p:nvGraphicFramePr>
        <p:xfrm>
          <a:off x="713232" y="1975104"/>
          <a:ext cx="269748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Added DRAWINGS card"/>
          <p:cNvSpPr/>
          <p:nvPr/>
        </p:nvSpPr>
        <p:spPr>
          <a:xfrm>
            <a:off x="3593592" y="1152144"/>
            <a:ext cx="288036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35" name="Added DRAWINGS header"/>
          <p:cNvSpPr/>
          <p:nvPr/>
        </p:nvSpPr>
        <p:spPr>
          <a:xfrm>
            <a:off x="3593592" y="1152144"/>
            <a:ext cx="288036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Added DRAWINGS title"/>
          <p:cNvSpPr txBox="1"/>
          <p:nvPr/>
        </p:nvSpPr>
        <p:spPr>
          <a:xfrm>
            <a:off x="3593592" y="11521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DRAWINGS</a:t>
            </a:r>
            <a:endParaRPr lang="en-US" sz="1100" dirty="0"/>
          </a:p>
        </p:txBody>
      </p:sp>
      <p:sp>
        <p:nvSpPr>
          <p:cNvPr id="37" name="Added DRAWINGS chip 1"/>
          <p:cNvSpPr/>
          <p:nvPr/>
        </p:nvSpPr>
        <p:spPr>
          <a:xfrm>
            <a:off x="368503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Added DRAWINGS chip 1 accent"/>
          <p:cNvSpPr/>
          <p:nvPr/>
        </p:nvSpPr>
        <p:spPr>
          <a:xfrm>
            <a:off x="3685032" y="1435608"/>
            <a:ext cx="5029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39" name="Added DRAWINGS chip 1 value"/>
          <p:cNvSpPr txBox="1"/>
          <p:nvPr/>
        </p:nvSpPr>
        <p:spPr>
          <a:xfrm>
            <a:off x="368503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+32</a:t>
            </a:r>
            <a:endParaRPr lang="en-US" sz="1400" dirty="0"/>
          </a:p>
        </p:txBody>
      </p:sp>
      <p:sp>
        <p:nvSpPr>
          <p:cNvPr id="40" name="Added DRAWINGS chip 1 label"/>
          <p:cNvSpPr txBox="1"/>
          <p:nvPr/>
        </p:nvSpPr>
        <p:spPr>
          <a:xfrm>
            <a:off x="368503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Total</a:t>
            </a:r>
            <a:endParaRPr lang="en-US" sz="800" dirty="0"/>
          </a:p>
        </p:txBody>
      </p:sp>
      <p:sp>
        <p:nvSpPr>
          <p:cNvPr id="41" name="Added DRAWINGS chip 2"/>
          <p:cNvSpPr/>
          <p:nvPr/>
        </p:nvSpPr>
        <p:spPr>
          <a:xfrm>
            <a:off x="423367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2" name="Added DRAWINGS chip 2 accent"/>
          <p:cNvSpPr/>
          <p:nvPr/>
        </p:nvSpPr>
        <p:spPr>
          <a:xfrm>
            <a:off x="4233672" y="1435608"/>
            <a:ext cx="5029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43" name="Added DRAWINGS chip 2 value"/>
          <p:cNvSpPr txBox="1"/>
          <p:nvPr/>
        </p:nvSpPr>
        <p:spPr>
          <a:xfrm>
            <a:off x="423367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+16</a:t>
            </a:r>
            <a:endParaRPr lang="en-US" sz="1400" dirty="0"/>
          </a:p>
        </p:txBody>
      </p:sp>
      <p:sp>
        <p:nvSpPr>
          <p:cNvPr id="44" name="Added DRAWINGS chip 2 label"/>
          <p:cNvSpPr txBox="1"/>
          <p:nvPr/>
        </p:nvSpPr>
        <p:spPr>
          <a:xfrm>
            <a:off x="423367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Approved</a:t>
            </a:r>
            <a:endParaRPr lang="en-US" sz="800" dirty="0"/>
          </a:p>
        </p:txBody>
      </p:sp>
      <p:sp>
        <p:nvSpPr>
          <p:cNvPr id="45" name="Added DRAWINGS chip 3"/>
          <p:cNvSpPr/>
          <p:nvPr/>
        </p:nvSpPr>
        <p:spPr>
          <a:xfrm>
            <a:off x="478231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Added DRAWINGS chip 3 accent"/>
          <p:cNvSpPr/>
          <p:nvPr/>
        </p:nvSpPr>
        <p:spPr>
          <a:xfrm>
            <a:off x="4782312" y="1435608"/>
            <a:ext cx="502920" cy="45720"/>
          </a:xfrm>
          <a:prstGeom prst="rect">
            <a:avLst/>
          </a:prstGeom>
          <a:solidFill>
            <a:srgbClr val="EB9823"/>
          </a:solidFill>
          <a:ln w="12700">
            <a:solidFill>
              <a:srgbClr val="EB9823"/>
            </a:solidFill>
            <a:prstDash val="solid"/>
          </a:ln>
        </p:spPr>
      </p:sp>
      <p:sp>
        <p:nvSpPr>
          <p:cNvPr id="47" name="Added DRAWINGS chip 3 value"/>
          <p:cNvSpPr txBox="1"/>
          <p:nvPr/>
        </p:nvSpPr>
        <p:spPr>
          <a:xfrm>
            <a:off x="478231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+4</a:t>
            </a:r>
            <a:endParaRPr lang="en-US" sz="1400" dirty="0"/>
          </a:p>
        </p:txBody>
      </p:sp>
      <p:sp>
        <p:nvSpPr>
          <p:cNvPr id="48" name="Added DRAWINGS chip 3 label"/>
          <p:cNvSpPr txBox="1"/>
          <p:nvPr/>
        </p:nvSpPr>
        <p:spPr>
          <a:xfrm>
            <a:off x="478231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Resubmit</a:t>
            </a:r>
            <a:endParaRPr lang="en-US" sz="800" dirty="0"/>
          </a:p>
        </p:txBody>
      </p:sp>
      <p:sp>
        <p:nvSpPr>
          <p:cNvPr id="49" name="Added DRAWINGS chip 4"/>
          <p:cNvSpPr/>
          <p:nvPr/>
        </p:nvSpPr>
        <p:spPr>
          <a:xfrm>
            <a:off x="533095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Added DRAWINGS chip 4 accent"/>
          <p:cNvSpPr/>
          <p:nvPr/>
        </p:nvSpPr>
        <p:spPr>
          <a:xfrm>
            <a:off x="5330952" y="1435608"/>
            <a:ext cx="502920" cy="45720"/>
          </a:xfrm>
          <a:prstGeom prst="rect">
            <a:avLst/>
          </a:prstGeom>
          <a:solidFill>
            <a:srgbClr val="D58BCB"/>
          </a:solidFill>
          <a:ln w="12700">
            <a:solidFill>
              <a:srgbClr val="D58BCB"/>
            </a:solidFill>
            <a:prstDash val="solid"/>
          </a:ln>
        </p:spPr>
      </p:sp>
      <p:sp>
        <p:nvSpPr>
          <p:cNvPr id="51" name="Added DRAWINGS chip 4 value"/>
          <p:cNvSpPr txBox="1"/>
          <p:nvPr/>
        </p:nvSpPr>
        <p:spPr>
          <a:xfrm>
            <a:off x="533095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+2</a:t>
            </a:r>
            <a:endParaRPr lang="en-US" sz="1400" dirty="0"/>
          </a:p>
        </p:txBody>
      </p:sp>
      <p:sp>
        <p:nvSpPr>
          <p:cNvPr id="52" name="Added DRAWINGS chip 4 label"/>
          <p:cNvSpPr txBox="1"/>
          <p:nvPr/>
        </p:nvSpPr>
        <p:spPr>
          <a:xfrm>
            <a:off x="533095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Rejected</a:t>
            </a:r>
            <a:endParaRPr lang="en-US" sz="800" dirty="0"/>
          </a:p>
        </p:txBody>
      </p:sp>
      <p:sp>
        <p:nvSpPr>
          <p:cNvPr id="53" name="Added DRAWINGS chip 5"/>
          <p:cNvSpPr/>
          <p:nvPr/>
        </p:nvSpPr>
        <p:spPr>
          <a:xfrm>
            <a:off x="587959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4" name="Added DRAWINGS chip 5 accent"/>
          <p:cNvSpPr/>
          <p:nvPr/>
        </p:nvSpPr>
        <p:spPr>
          <a:xfrm>
            <a:off x="5879592" y="1435608"/>
            <a:ext cx="502920" cy="45720"/>
          </a:xfrm>
          <a:prstGeom prst="rect">
            <a:avLst/>
          </a:prstGeom>
          <a:solidFill>
            <a:srgbClr val="BBA9D2"/>
          </a:solidFill>
          <a:ln w="12700">
            <a:solidFill>
              <a:srgbClr val="BBA9D2"/>
            </a:solidFill>
            <a:prstDash val="solid"/>
          </a:ln>
        </p:spPr>
      </p:sp>
      <p:sp>
        <p:nvSpPr>
          <p:cNvPr id="55" name="Added DRAWINGS chip 5 value"/>
          <p:cNvSpPr txBox="1"/>
          <p:nvPr/>
        </p:nvSpPr>
        <p:spPr>
          <a:xfrm>
            <a:off x="587959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+10</a:t>
            </a:r>
            <a:endParaRPr lang="en-US" sz="1400" dirty="0"/>
          </a:p>
        </p:txBody>
      </p:sp>
      <p:sp>
        <p:nvSpPr>
          <p:cNvPr id="56" name="Added DRAWINGS chip 5 label"/>
          <p:cNvSpPr txBox="1"/>
          <p:nvPr/>
        </p:nvSpPr>
        <p:spPr>
          <a:xfrm>
            <a:off x="587959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Under review</a:t>
            </a:r>
            <a:endParaRPr lang="en-US" sz="800" dirty="0"/>
          </a:p>
        </p:txBody>
      </p:sp>
      <p:graphicFrame>
        <p:nvGraphicFramePr>
          <p:cNvPr id="57" name="Added DRAWINGS chart" descr=""/>
          <p:cNvGraphicFramePr/>
          <p:nvPr/>
        </p:nvGraphicFramePr>
        <p:xfrm>
          <a:off x="3685032" y="1975104"/>
          <a:ext cx="269748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8" name="Added SUBMISSION TOTAL card"/>
          <p:cNvSpPr/>
          <p:nvPr/>
        </p:nvSpPr>
        <p:spPr>
          <a:xfrm>
            <a:off x="6565392" y="1152144"/>
            <a:ext cx="288036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9" name="Added SUBMISSION TOTAL header"/>
          <p:cNvSpPr/>
          <p:nvPr/>
        </p:nvSpPr>
        <p:spPr>
          <a:xfrm>
            <a:off x="6565392" y="1152144"/>
            <a:ext cx="288036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0" name="Added SUBMISSION TOTAL title"/>
          <p:cNvSpPr txBox="1"/>
          <p:nvPr/>
        </p:nvSpPr>
        <p:spPr>
          <a:xfrm>
            <a:off x="6565392" y="115214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SUBMISSION TOTAL</a:t>
            </a:r>
            <a:endParaRPr lang="en-US" sz="1100" dirty="0"/>
          </a:p>
        </p:txBody>
      </p:sp>
      <p:sp>
        <p:nvSpPr>
          <p:cNvPr id="61" name="Added SUBMISSION TOTAL chip 1"/>
          <p:cNvSpPr/>
          <p:nvPr/>
        </p:nvSpPr>
        <p:spPr>
          <a:xfrm>
            <a:off x="665683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2" name="Added SUBMISSION TOTAL chip 1 accent"/>
          <p:cNvSpPr/>
          <p:nvPr/>
        </p:nvSpPr>
        <p:spPr>
          <a:xfrm>
            <a:off x="6656832" y="1435608"/>
            <a:ext cx="5029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63" name="Added SUBMISSION TOTAL chip 1 value"/>
          <p:cNvSpPr txBox="1"/>
          <p:nvPr/>
        </p:nvSpPr>
        <p:spPr>
          <a:xfrm>
            <a:off x="665683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+53</a:t>
            </a:r>
            <a:endParaRPr lang="en-US" sz="1400" dirty="0"/>
          </a:p>
        </p:txBody>
      </p:sp>
      <p:sp>
        <p:nvSpPr>
          <p:cNvPr id="64" name="Added SUBMISSION TOTAL chip 1 label"/>
          <p:cNvSpPr txBox="1"/>
          <p:nvPr/>
        </p:nvSpPr>
        <p:spPr>
          <a:xfrm>
            <a:off x="665683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Total</a:t>
            </a:r>
            <a:endParaRPr lang="en-US" sz="800" dirty="0"/>
          </a:p>
        </p:txBody>
      </p:sp>
      <p:sp>
        <p:nvSpPr>
          <p:cNvPr id="65" name="Added SUBMISSION TOTAL chip 2"/>
          <p:cNvSpPr/>
          <p:nvPr/>
        </p:nvSpPr>
        <p:spPr>
          <a:xfrm>
            <a:off x="720547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6" name="Added SUBMISSION TOTAL chip 2 accent"/>
          <p:cNvSpPr/>
          <p:nvPr/>
        </p:nvSpPr>
        <p:spPr>
          <a:xfrm>
            <a:off x="7205472" y="1435608"/>
            <a:ext cx="5029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67" name="Added SUBMISSION TOTAL chip 2 value"/>
          <p:cNvSpPr txBox="1"/>
          <p:nvPr/>
        </p:nvSpPr>
        <p:spPr>
          <a:xfrm>
            <a:off x="720547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+27</a:t>
            </a:r>
            <a:endParaRPr lang="en-US" sz="1400" dirty="0"/>
          </a:p>
        </p:txBody>
      </p:sp>
      <p:sp>
        <p:nvSpPr>
          <p:cNvPr id="68" name="Added SUBMISSION TOTAL chip 2 label"/>
          <p:cNvSpPr txBox="1"/>
          <p:nvPr/>
        </p:nvSpPr>
        <p:spPr>
          <a:xfrm>
            <a:off x="720547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Approved</a:t>
            </a:r>
            <a:endParaRPr lang="en-US" sz="800" dirty="0"/>
          </a:p>
        </p:txBody>
      </p:sp>
      <p:sp>
        <p:nvSpPr>
          <p:cNvPr id="69" name="Added SUBMISSION TOTAL chip 3"/>
          <p:cNvSpPr/>
          <p:nvPr/>
        </p:nvSpPr>
        <p:spPr>
          <a:xfrm>
            <a:off x="775411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0" name="Added SUBMISSION TOTAL chip 3 accent"/>
          <p:cNvSpPr/>
          <p:nvPr/>
        </p:nvSpPr>
        <p:spPr>
          <a:xfrm>
            <a:off x="7754112" y="1435608"/>
            <a:ext cx="502920" cy="45720"/>
          </a:xfrm>
          <a:prstGeom prst="rect">
            <a:avLst/>
          </a:prstGeom>
          <a:solidFill>
            <a:srgbClr val="EB9823"/>
          </a:solidFill>
          <a:ln w="12700">
            <a:solidFill>
              <a:srgbClr val="EB9823"/>
            </a:solidFill>
            <a:prstDash val="solid"/>
          </a:ln>
        </p:spPr>
      </p:sp>
      <p:sp>
        <p:nvSpPr>
          <p:cNvPr id="71" name="Added SUBMISSION TOTAL chip 3 value"/>
          <p:cNvSpPr txBox="1"/>
          <p:nvPr/>
        </p:nvSpPr>
        <p:spPr>
          <a:xfrm>
            <a:off x="775411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+8</a:t>
            </a:r>
            <a:endParaRPr lang="en-US" sz="1400" dirty="0"/>
          </a:p>
        </p:txBody>
      </p:sp>
      <p:sp>
        <p:nvSpPr>
          <p:cNvPr id="72" name="Added SUBMISSION TOTAL chip 3 label"/>
          <p:cNvSpPr txBox="1"/>
          <p:nvPr/>
        </p:nvSpPr>
        <p:spPr>
          <a:xfrm>
            <a:off x="775411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Resubmit</a:t>
            </a:r>
            <a:endParaRPr lang="en-US" sz="800" dirty="0"/>
          </a:p>
        </p:txBody>
      </p:sp>
      <p:sp>
        <p:nvSpPr>
          <p:cNvPr id="73" name="Added SUBMISSION TOTAL chip 4"/>
          <p:cNvSpPr/>
          <p:nvPr/>
        </p:nvSpPr>
        <p:spPr>
          <a:xfrm>
            <a:off x="830275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4" name="Added SUBMISSION TOTAL chip 4 accent"/>
          <p:cNvSpPr/>
          <p:nvPr/>
        </p:nvSpPr>
        <p:spPr>
          <a:xfrm>
            <a:off x="8302752" y="1435608"/>
            <a:ext cx="502920" cy="45720"/>
          </a:xfrm>
          <a:prstGeom prst="rect">
            <a:avLst/>
          </a:prstGeom>
          <a:solidFill>
            <a:srgbClr val="D58BCB"/>
          </a:solidFill>
          <a:ln w="12700">
            <a:solidFill>
              <a:srgbClr val="D58BCB"/>
            </a:solidFill>
            <a:prstDash val="solid"/>
          </a:ln>
        </p:spPr>
      </p:sp>
      <p:sp>
        <p:nvSpPr>
          <p:cNvPr id="75" name="Added SUBMISSION TOTAL chip 4 value"/>
          <p:cNvSpPr txBox="1"/>
          <p:nvPr/>
        </p:nvSpPr>
        <p:spPr>
          <a:xfrm>
            <a:off x="830275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+3</a:t>
            </a:r>
            <a:endParaRPr lang="en-US" sz="1400" dirty="0"/>
          </a:p>
        </p:txBody>
      </p:sp>
      <p:sp>
        <p:nvSpPr>
          <p:cNvPr id="76" name="Added SUBMISSION TOTAL chip 4 label"/>
          <p:cNvSpPr txBox="1"/>
          <p:nvPr/>
        </p:nvSpPr>
        <p:spPr>
          <a:xfrm>
            <a:off x="830275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Rejected</a:t>
            </a:r>
            <a:endParaRPr lang="en-US" sz="800" dirty="0"/>
          </a:p>
        </p:txBody>
      </p:sp>
      <p:sp>
        <p:nvSpPr>
          <p:cNvPr id="77" name="Added SUBMISSION TOTAL chip 5"/>
          <p:cNvSpPr/>
          <p:nvPr/>
        </p:nvSpPr>
        <p:spPr>
          <a:xfrm>
            <a:off x="8851392" y="1435608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8" name="Added SUBMISSION TOTAL chip 5 accent"/>
          <p:cNvSpPr/>
          <p:nvPr/>
        </p:nvSpPr>
        <p:spPr>
          <a:xfrm>
            <a:off x="8851392" y="1435608"/>
            <a:ext cx="502920" cy="45720"/>
          </a:xfrm>
          <a:prstGeom prst="rect">
            <a:avLst/>
          </a:prstGeom>
          <a:solidFill>
            <a:srgbClr val="BBA9D2"/>
          </a:solidFill>
          <a:ln w="12700">
            <a:solidFill>
              <a:srgbClr val="BBA9D2"/>
            </a:solidFill>
            <a:prstDash val="solid"/>
          </a:ln>
        </p:spPr>
      </p:sp>
      <p:sp>
        <p:nvSpPr>
          <p:cNvPr id="79" name="Added SUBMISSION TOTAL chip 5 value"/>
          <p:cNvSpPr txBox="1"/>
          <p:nvPr/>
        </p:nvSpPr>
        <p:spPr>
          <a:xfrm>
            <a:off x="8851392" y="14996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+15</a:t>
            </a:r>
            <a:endParaRPr lang="en-US" sz="1400" dirty="0"/>
          </a:p>
        </p:txBody>
      </p:sp>
      <p:sp>
        <p:nvSpPr>
          <p:cNvPr id="80" name="Added SUBMISSION TOTAL chip 5 label"/>
          <p:cNvSpPr txBox="1"/>
          <p:nvPr/>
        </p:nvSpPr>
        <p:spPr>
          <a:xfrm>
            <a:off x="8851392" y="17282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Under review</a:t>
            </a:r>
            <a:endParaRPr lang="en-US" sz="800" dirty="0"/>
          </a:p>
        </p:txBody>
      </p:sp>
      <p:graphicFrame>
        <p:nvGraphicFramePr>
          <p:cNvPr id="81" name="Added SUBMISSION TOTAL chart" descr=""/>
          <p:cNvGraphicFramePr/>
          <p:nvPr/>
        </p:nvGraphicFramePr>
        <p:xfrm>
          <a:off x="6656832" y="1975104"/>
          <a:ext cx="269748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2" name="Added CORRESPONDENCE card"/>
          <p:cNvSpPr/>
          <p:nvPr/>
        </p:nvSpPr>
        <p:spPr>
          <a:xfrm>
            <a:off x="9537192" y="1152144"/>
            <a:ext cx="237744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83" name="Added CORRESPONDENCE header"/>
          <p:cNvSpPr/>
          <p:nvPr/>
        </p:nvSpPr>
        <p:spPr>
          <a:xfrm>
            <a:off x="9537192" y="1152144"/>
            <a:ext cx="237744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4" name="Added CORRESPONDENCE title"/>
          <p:cNvSpPr txBox="1"/>
          <p:nvPr/>
        </p:nvSpPr>
        <p:spPr>
          <a:xfrm>
            <a:off x="9537192" y="11521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CORRESPONDENCE</a:t>
            </a:r>
            <a:endParaRPr lang="en-US" sz="1100" dirty="0"/>
          </a:p>
        </p:txBody>
      </p:sp>
      <p:sp>
        <p:nvSpPr>
          <p:cNvPr id="85" name="Added CORRESPONDENCE chip 1"/>
          <p:cNvSpPr/>
          <p:nvPr/>
        </p:nvSpPr>
        <p:spPr>
          <a:xfrm>
            <a:off x="9628632" y="1435608"/>
            <a:ext cx="10744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6" name="Added CORRESPONDENCE chip 1 accent"/>
          <p:cNvSpPr/>
          <p:nvPr/>
        </p:nvSpPr>
        <p:spPr>
          <a:xfrm>
            <a:off x="9628632" y="1435608"/>
            <a:ext cx="10744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87" name="Added CORRESPONDENCE chip 1 value"/>
          <p:cNvSpPr txBox="1"/>
          <p:nvPr/>
        </p:nvSpPr>
        <p:spPr>
          <a:xfrm>
            <a:off x="9628632" y="1499616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+6</a:t>
            </a:r>
            <a:endParaRPr lang="en-US" sz="1400" dirty="0"/>
          </a:p>
        </p:txBody>
      </p:sp>
      <p:sp>
        <p:nvSpPr>
          <p:cNvPr id="88" name="Added CORRESPONDENCE chip 1 label"/>
          <p:cNvSpPr txBox="1"/>
          <p:nvPr/>
        </p:nvSpPr>
        <p:spPr>
          <a:xfrm>
            <a:off x="9628632" y="1728216"/>
            <a:ext cx="107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Outgoing</a:t>
            </a:r>
            <a:endParaRPr lang="en-US" sz="800" dirty="0"/>
          </a:p>
        </p:txBody>
      </p:sp>
      <p:sp>
        <p:nvSpPr>
          <p:cNvPr id="89" name="Added CORRESPONDENCE chip 2"/>
          <p:cNvSpPr/>
          <p:nvPr/>
        </p:nvSpPr>
        <p:spPr>
          <a:xfrm>
            <a:off x="10748772" y="1435608"/>
            <a:ext cx="10744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0" name="Added CORRESPONDENCE chip 2 accent"/>
          <p:cNvSpPr/>
          <p:nvPr/>
        </p:nvSpPr>
        <p:spPr>
          <a:xfrm>
            <a:off x="10748772" y="1435608"/>
            <a:ext cx="10744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91" name="Added CORRESPONDENCE chip 2 value"/>
          <p:cNvSpPr txBox="1"/>
          <p:nvPr/>
        </p:nvSpPr>
        <p:spPr>
          <a:xfrm>
            <a:off x="10748772" y="1499616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+6</a:t>
            </a:r>
            <a:endParaRPr lang="en-US" sz="1400" dirty="0"/>
          </a:p>
        </p:txBody>
      </p:sp>
      <p:sp>
        <p:nvSpPr>
          <p:cNvPr id="92" name="Added CORRESPONDENCE chip 2 label"/>
          <p:cNvSpPr txBox="1"/>
          <p:nvPr/>
        </p:nvSpPr>
        <p:spPr>
          <a:xfrm>
            <a:off x="10748772" y="1728216"/>
            <a:ext cx="107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Incoming</a:t>
            </a:r>
            <a:endParaRPr lang="en-US" sz="800" dirty="0"/>
          </a:p>
        </p:txBody>
      </p:sp>
      <p:graphicFrame>
        <p:nvGraphicFramePr>
          <p:cNvPr id="93" name="Added CORRESPONDENCE chart" descr=""/>
          <p:cNvGraphicFramePr/>
          <p:nvPr/>
        </p:nvGraphicFramePr>
        <p:xfrm>
          <a:off x="9994392" y="1956816"/>
          <a:ext cx="1463040" cy="7680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4" name="Cumulative band"/>
          <p:cNvSpPr/>
          <p:nvPr/>
        </p:nvSpPr>
        <p:spPr>
          <a:xfrm>
            <a:off x="274320" y="2816352"/>
            <a:ext cx="274320" cy="16093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5" name="Cumulative band label"/>
          <p:cNvSpPr txBox="1"/>
          <p:nvPr/>
        </p:nvSpPr>
        <p:spPr>
          <a:xfrm>
            <a:off x="274320" y="2816352"/>
            <a:ext cx="2743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CUMULATIVE (TILL DATE)</a:t>
            </a:r>
            <a:endParaRPr lang="en-US" sz="1000" dirty="0"/>
          </a:p>
        </p:txBody>
      </p:sp>
      <p:sp>
        <p:nvSpPr>
          <p:cNvPr id="96" name="Cum SUBMITTALS card"/>
          <p:cNvSpPr/>
          <p:nvPr/>
        </p:nvSpPr>
        <p:spPr>
          <a:xfrm>
            <a:off x="621792" y="2816352"/>
            <a:ext cx="288036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97" name="Cum SUBMITTALS header"/>
          <p:cNvSpPr/>
          <p:nvPr/>
        </p:nvSpPr>
        <p:spPr>
          <a:xfrm>
            <a:off x="621792" y="2816352"/>
            <a:ext cx="288036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8" name="Cum SUBMITTALS title"/>
          <p:cNvSpPr txBox="1"/>
          <p:nvPr/>
        </p:nvSpPr>
        <p:spPr>
          <a:xfrm>
            <a:off x="621792" y="28163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SUBMITTALS</a:t>
            </a:r>
            <a:endParaRPr lang="en-US" sz="1100" dirty="0"/>
          </a:p>
        </p:txBody>
      </p:sp>
      <p:sp>
        <p:nvSpPr>
          <p:cNvPr id="99" name="Cum SUBMITTALS chip 1"/>
          <p:cNvSpPr/>
          <p:nvPr/>
        </p:nvSpPr>
        <p:spPr>
          <a:xfrm>
            <a:off x="71323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0" name="Cum SUBMITTALS chip 1 accent"/>
          <p:cNvSpPr/>
          <p:nvPr/>
        </p:nvSpPr>
        <p:spPr>
          <a:xfrm>
            <a:off x="713232" y="3099816"/>
            <a:ext cx="5029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101" name="Cum SUBMITTALS chip 1 value"/>
          <p:cNvSpPr txBox="1"/>
          <p:nvPr/>
        </p:nvSpPr>
        <p:spPr>
          <a:xfrm>
            <a:off x="71323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451</a:t>
            </a:r>
            <a:endParaRPr lang="en-US" sz="1400" dirty="0"/>
          </a:p>
        </p:txBody>
      </p:sp>
      <p:sp>
        <p:nvSpPr>
          <p:cNvPr id="102" name="Cum SUBMITTALS chip 1 label"/>
          <p:cNvSpPr txBox="1"/>
          <p:nvPr/>
        </p:nvSpPr>
        <p:spPr>
          <a:xfrm>
            <a:off x="71323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Total</a:t>
            </a:r>
            <a:endParaRPr lang="en-US" sz="800" dirty="0"/>
          </a:p>
        </p:txBody>
      </p:sp>
      <p:sp>
        <p:nvSpPr>
          <p:cNvPr id="103" name="Cum SUBMITTALS chip 2"/>
          <p:cNvSpPr/>
          <p:nvPr/>
        </p:nvSpPr>
        <p:spPr>
          <a:xfrm>
            <a:off x="126187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4" name="Cum SUBMITTALS chip 2 accent"/>
          <p:cNvSpPr/>
          <p:nvPr/>
        </p:nvSpPr>
        <p:spPr>
          <a:xfrm>
            <a:off x="1261872" y="3099816"/>
            <a:ext cx="5029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105" name="Cum SUBMITTALS chip 2 value"/>
          <p:cNvSpPr txBox="1"/>
          <p:nvPr/>
        </p:nvSpPr>
        <p:spPr>
          <a:xfrm>
            <a:off x="126187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292</a:t>
            </a:r>
            <a:endParaRPr lang="en-US" sz="1400" dirty="0"/>
          </a:p>
        </p:txBody>
      </p:sp>
      <p:sp>
        <p:nvSpPr>
          <p:cNvPr id="106" name="Cum SUBMITTALS chip 2 label"/>
          <p:cNvSpPr txBox="1"/>
          <p:nvPr/>
        </p:nvSpPr>
        <p:spPr>
          <a:xfrm>
            <a:off x="126187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Approved</a:t>
            </a:r>
            <a:endParaRPr lang="en-US" sz="800" dirty="0"/>
          </a:p>
        </p:txBody>
      </p:sp>
      <p:sp>
        <p:nvSpPr>
          <p:cNvPr id="107" name="Cum SUBMITTALS chip 3"/>
          <p:cNvSpPr/>
          <p:nvPr/>
        </p:nvSpPr>
        <p:spPr>
          <a:xfrm>
            <a:off x="181051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8" name="Cum SUBMITTALS chip 3 accent"/>
          <p:cNvSpPr/>
          <p:nvPr/>
        </p:nvSpPr>
        <p:spPr>
          <a:xfrm>
            <a:off x="1810512" y="3099816"/>
            <a:ext cx="502920" cy="45720"/>
          </a:xfrm>
          <a:prstGeom prst="rect">
            <a:avLst/>
          </a:prstGeom>
          <a:solidFill>
            <a:srgbClr val="EB9823"/>
          </a:solidFill>
          <a:ln w="12700">
            <a:solidFill>
              <a:srgbClr val="EB9823"/>
            </a:solidFill>
            <a:prstDash val="solid"/>
          </a:ln>
        </p:spPr>
      </p:sp>
      <p:sp>
        <p:nvSpPr>
          <p:cNvPr id="109" name="Cum SUBMITTALS chip 3 value"/>
          <p:cNvSpPr txBox="1"/>
          <p:nvPr/>
        </p:nvSpPr>
        <p:spPr>
          <a:xfrm>
            <a:off x="181051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59</a:t>
            </a:r>
            <a:endParaRPr lang="en-US" sz="1400" dirty="0"/>
          </a:p>
        </p:txBody>
      </p:sp>
      <p:sp>
        <p:nvSpPr>
          <p:cNvPr id="110" name="Cum SUBMITTALS chip 3 label"/>
          <p:cNvSpPr txBox="1"/>
          <p:nvPr/>
        </p:nvSpPr>
        <p:spPr>
          <a:xfrm>
            <a:off x="181051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Resubmit</a:t>
            </a:r>
            <a:endParaRPr lang="en-US" sz="800" dirty="0"/>
          </a:p>
        </p:txBody>
      </p:sp>
      <p:sp>
        <p:nvSpPr>
          <p:cNvPr id="111" name="Cum SUBMITTALS chip 4"/>
          <p:cNvSpPr/>
          <p:nvPr/>
        </p:nvSpPr>
        <p:spPr>
          <a:xfrm>
            <a:off x="235915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2" name="Cum SUBMITTALS chip 4 accent"/>
          <p:cNvSpPr/>
          <p:nvPr/>
        </p:nvSpPr>
        <p:spPr>
          <a:xfrm>
            <a:off x="2359152" y="3099816"/>
            <a:ext cx="502920" cy="45720"/>
          </a:xfrm>
          <a:prstGeom prst="rect">
            <a:avLst/>
          </a:prstGeom>
          <a:solidFill>
            <a:srgbClr val="D58BCB"/>
          </a:solidFill>
          <a:ln w="12700">
            <a:solidFill>
              <a:srgbClr val="D58BCB"/>
            </a:solidFill>
            <a:prstDash val="solid"/>
          </a:ln>
        </p:spPr>
      </p:sp>
      <p:sp>
        <p:nvSpPr>
          <p:cNvPr id="113" name="Cum SUBMITTALS chip 4 value"/>
          <p:cNvSpPr txBox="1"/>
          <p:nvPr/>
        </p:nvSpPr>
        <p:spPr>
          <a:xfrm>
            <a:off x="235915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20</a:t>
            </a:r>
            <a:endParaRPr lang="en-US" sz="1400" dirty="0"/>
          </a:p>
        </p:txBody>
      </p:sp>
      <p:sp>
        <p:nvSpPr>
          <p:cNvPr id="114" name="Cum SUBMITTALS chip 4 label"/>
          <p:cNvSpPr txBox="1"/>
          <p:nvPr/>
        </p:nvSpPr>
        <p:spPr>
          <a:xfrm>
            <a:off x="235915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Rejected</a:t>
            </a:r>
            <a:endParaRPr lang="en-US" sz="800" dirty="0"/>
          </a:p>
        </p:txBody>
      </p:sp>
      <p:sp>
        <p:nvSpPr>
          <p:cNvPr id="115" name="Cum SUBMITTALS chip 5"/>
          <p:cNvSpPr/>
          <p:nvPr/>
        </p:nvSpPr>
        <p:spPr>
          <a:xfrm>
            <a:off x="290779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6" name="Cum SUBMITTALS chip 5 accent"/>
          <p:cNvSpPr/>
          <p:nvPr/>
        </p:nvSpPr>
        <p:spPr>
          <a:xfrm>
            <a:off x="2907792" y="3099816"/>
            <a:ext cx="502920" cy="45720"/>
          </a:xfrm>
          <a:prstGeom prst="rect">
            <a:avLst/>
          </a:prstGeom>
          <a:solidFill>
            <a:srgbClr val="BBA9D2"/>
          </a:solidFill>
          <a:ln w="12700">
            <a:solidFill>
              <a:srgbClr val="BBA9D2"/>
            </a:solidFill>
            <a:prstDash val="solid"/>
          </a:ln>
        </p:spPr>
      </p:sp>
      <p:sp>
        <p:nvSpPr>
          <p:cNvPr id="117" name="Cum SUBMITTALS chip 5 value"/>
          <p:cNvSpPr txBox="1"/>
          <p:nvPr/>
        </p:nvSpPr>
        <p:spPr>
          <a:xfrm>
            <a:off x="290779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80</a:t>
            </a:r>
            <a:endParaRPr lang="en-US" sz="1400" dirty="0"/>
          </a:p>
        </p:txBody>
      </p:sp>
      <p:sp>
        <p:nvSpPr>
          <p:cNvPr id="118" name="Cum SUBMITTALS chip 5 label"/>
          <p:cNvSpPr txBox="1"/>
          <p:nvPr/>
        </p:nvSpPr>
        <p:spPr>
          <a:xfrm>
            <a:off x="290779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Under review</a:t>
            </a:r>
            <a:endParaRPr lang="en-US" sz="800" dirty="0"/>
          </a:p>
        </p:txBody>
      </p:sp>
      <p:graphicFrame>
        <p:nvGraphicFramePr>
          <p:cNvPr id="119" name="Cum SUBMITTALS chart" descr=""/>
          <p:cNvGraphicFramePr/>
          <p:nvPr/>
        </p:nvGraphicFramePr>
        <p:xfrm>
          <a:off x="713232" y="3639312"/>
          <a:ext cx="269748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0" name="Cum DRAWINGS card"/>
          <p:cNvSpPr/>
          <p:nvPr/>
        </p:nvSpPr>
        <p:spPr>
          <a:xfrm>
            <a:off x="3593592" y="2816352"/>
            <a:ext cx="288036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21" name="Cum DRAWINGS header"/>
          <p:cNvSpPr/>
          <p:nvPr/>
        </p:nvSpPr>
        <p:spPr>
          <a:xfrm>
            <a:off x="3593592" y="2816352"/>
            <a:ext cx="288036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2" name="Cum DRAWINGS title"/>
          <p:cNvSpPr txBox="1"/>
          <p:nvPr/>
        </p:nvSpPr>
        <p:spPr>
          <a:xfrm>
            <a:off x="3593592" y="28163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DRAWINGS</a:t>
            </a:r>
            <a:endParaRPr lang="en-US" sz="1100" dirty="0"/>
          </a:p>
        </p:txBody>
      </p:sp>
      <p:sp>
        <p:nvSpPr>
          <p:cNvPr id="123" name="Cum DRAWINGS chip 1"/>
          <p:cNvSpPr/>
          <p:nvPr/>
        </p:nvSpPr>
        <p:spPr>
          <a:xfrm>
            <a:off x="368503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4" name="Cum DRAWINGS chip 1 accent"/>
          <p:cNvSpPr/>
          <p:nvPr/>
        </p:nvSpPr>
        <p:spPr>
          <a:xfrm>
            <a:off x="3685032" y="3099816"/>
            <a:ext cx="5029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125" name="Cum DRAWINGS chip 1 value"/>
          <p:cNvSpPr txBox="1"/>
          <p:nvPr/>
        </p:nvSpPr>
        <p:spPr>
          <a:xfrm>
            <a:off x="368503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583</a:t>
            </a:r>
            <a:endParaRPr lang="en-US" sz="1400" dirty="0"/>
          </a:p>
        </p:txBody>
      </p:sp>
      <p:sp>
        <p:nvSpPr>
          <p:cNvPr id="126" name="Cum DRAWINGS chip 1 label"/>
          <p:cNvSpPr txBox="1"/>
          <p:nvPr/>
        </p:nvSpPr>
        <p:spPr>
          <a:xfrm>
            <a:off x="368503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Total</a:t>
            </a:r>
            <a:endParaRPr lang="en-US" sz="800" dirty="0"/>
          </a:p>
        </p:txBody>
      </p:sp>
      <p:sp>
        <p:nvSpPr>
          <p:cNvPr id="127" name="Cum DRAWINGS chip 2"/>
          <p:cNvSpPr/>
          <p:nvPr/>
        </p:nvSpPr>
        <p:spPr>
          <a:xfrm>
            <a:off x="423367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8" name="Cum DRAWINGS chip 2 accent"/>
          <p:cNvSpPr/>
          <p:nvPr/>
        </p:nvSpPr>
        <p:spPr>
          <a:xfrm>
            <a:off x="4233672" y="3099816"/>
            <a:ext cx="5029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129" name="Cum DRAWINGS chip 2 value"/>
          <p:cNvSpPr txBox="1"/>
          <p:nvPr/>
        </p:nvSpPr>
        <p:spPr>
          <a:xfrm>
            <a:off x="423367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373</a:t>
            </a:r>
            <a:endParaRPr lang="en-US" sz="1400" dirty="0"/>
          </a:p>
        </p:txBody>
      </p:sp>
      <p:sp>
        <p:nvSpPr>
          <p:cNvPr id="130" name="Cum DRAWINGS chip 2 label"/>
          <p:cNvSpPr txBox="1"/>
          <p:nvPr/>
        </p:nvSpPr>
        <p:spPr>
          <a:xfrm>
            <a:off x="423367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Approved</a:t>
            </a:r>
            <a:endParaRPr lang="en-US" sz="800" dirty="0"/>
          </a:p>
        </p:txBody>
      </p:sp>
      <p:sp>
        <p:nvSpPr>
          <p:cNvPr id="131" name="Cum DRAWINGS chip 3"/>
          <p:cNvSpPr/>
          <p:nvPr/>
        </p:nvSpPr>
        <p:spPr>
          <a:xfrm>
            <a:off x="478231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2" name="Cum DRAWINGS chip 3 accent"/>
          <p:cNvSpPr/>
          <p:nvPr/>
        </p:nvSpPr>
        <p:spPr>
          <a:xfrm>
            <a:off x="4782312" y="3099816"/>
            <a:ext cx="502920" cy="45720"/>
          </a:xfrm>
          <a:prstGeom prst="rect">
            <a:avLst/>
          </a:prstGeom>
          <a:solidFill>
            <a:srgbClr val="EB9823"/>
          </a:solidFill>
          <a:ln w="12700">
            <a:solidFill>
              <a:srgbClr val="EB9823"/>
            </a:solidFill>
            <a:prstDash val="solid"/>
          </a:ln>
        </p:spPr>
      </p:sp>
      <p:sp>
        <p:nvSpPr>
          <p:cNvPr id="133" name="Cum DRAWINGS chip 3 value"/>
          <p:cNvSpPr txBox="1"/>
          <p:nvPr/>
        </p:nvSpPr>
        <p:spPr>
          <a:xfrm>
            <a:off x="478231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77</a:t>
            </a:r>
            <a:endParaRPr lang="en-US" sz="1400" dirty="0"/>
          </a:p>
        </p:txBody>
      </p:sp>
      <p:sp>
        <p:nvSpPr>
          <p:cNvPr id="134" name="Cum DRAWINGS chip 3 label"/>
          <p:cNvSpPr txBox="1"/>
          <p:nvPr/>
        </p:nvSpPr>
        <p:spPr>
          <a:xfrm>
            <a:off x="478231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Resubmit</a:t>
            </a:r>
            <a:endParaRPr lang="en-US" sz="800" dirty="0"/>
          </a:p>
        </p:txBody>
      </p:sp>
      <p:sp>
        <p:nvSpPr>
          <p:cNvPr id="135" name="Cum DRAWINGS chip 4"/>
          <p:cNvSpPr/>
          <p:nvPr/>
        </p:nvSpPr>
        <p:spPr>
          <a:xfrm>
            <a:off x="533095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6" name="Cum DRAWINGS chip 4 accent"/>
          <p:cNvSpPr/>
          <p:nvPr/>
        </p:nvSpPr>
        <p:spPr>
          <a:xfrm>
            <a:off x="5330952" y="3099816"/>
            <a:ext cx="502920" cy="45720"/>
          </a:xfrm>
          <a:prstGeom prst="rect">
            <a:avLst/>
          </a:prstGeom>
          <a:solidFill>
            <a:srgbClr val="D58BCB"/>
          </a:solidFill>
          <a:ln w="12700">
            <a:solidFill>
              <a:srgbClr val="D58BCB"/>
            </a:solidFill>
            <a:prstDash val="solid"/>
          </a:ln>
        </p:spPr>
      </p:sp>
      <p:sp>
        <p:nvSpPr>
          <p:cNvPr id="137" name="Cum DRAWINGS chip 4 value"/>
          <p:cNvSpPr txBox="1"/>
          <p:nvPr/>
        </p:nvSpPr>
        <p:spPr>
          <a:xfrm>
            <a:off x="533095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27</a:t>
            </a:r>
            <a:endParaRPr lang="en-US" sz="1400" dirty="0"/>
          </a:p>
        </p:txBody>
      </p:sp>
      <p:sp>
        <p:nvSpPr>
          <p:cNvPr id="138" name="Cum DRAWINGS chip 4 label"/>
          <p:cNvSpPr txBox="1"/>
          <p:nvPr/>
        </p:nvSpPr>
        <p:spPr>
          <a:xfrm>
            <a:off x="533095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Rejected</a:t>
            </a:r>
            <a:endParaRPr lang="en-US" sz="800" dirty="0"/>
          </a:p>
        </p:txBody>
      </p:sp>
      <p:sp>
        <p:nvSpPr>
          <p:cNvPr id="139" name="Cum DRAWINGS chip 5"/>
          <p:cNvSpPr/>
          <p:nvPr/>
        </p:nvSpPr>
        <p:spPr>
          <a:xfrm>
            <a:off x="587959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0" name="Cum DRAWINGS chip 5 accent"/>
          <p:cNvSpPr/>
          <p:nvPr/>
        </p:nvSpPr>
        <p:spPr>
          <a:xfrm>
            <a:off x="5879592" y="3099816"/>
            <a:ext cx="502920" cy="45720"/>
          </a:xfrm>
          <a:prstGeom prst="rect">
            <a:avLst/>
          </a:prstGeom>
          <a:solidFill>
            <a:srgbClr val="BBA9D2"/>
          </a:solidFill>
          <a:ln w="12700">
            <a:solidFill>
              <a:srgbClr val="BBA9D2"/>
            </a:solidFill>
            <a:prstDash val="solid"/>
          </a:ln>
        </p:spPr>
      </p:sp>
      <p:sp>
        <p:nvSpPr>
          <p:cNvPr id="141" name="Cum DRAWINGS chip 5 value"/>
          <p:cNvSpPr txBox="1"/>
          <p:nvPr/>
        </p:nvSpPr>
        <p:spPr>
          <a:xfrm>
            <a:off x="587959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106</a:t>
            </a:r>
            <a:endParaRPr lang="en-US" sz="1400" dirty="0"/>
          </a:p>
        </p:txBody>
      </p:sp>
      <p:sp>
        <p:nvSpPr>
          <p:cNvPr id="142" name="Cum DRAWINGS chip 5 label"/>
          <p:cNvSpPr txBox="1"/>
          <p:nvPr/>
        </p:nvSpPr>
        <p:spPr>
          <a:xfrm>
            <a:off x="587959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Under review</a:t>
            </a:r>
            <a:endParaRPr lang="en-US" sz="800" dirty="0"/>
          </a:p>
        </p:txBody>
      </p:sp>
      <p:graphicFrame>
        <p:nvGraphicFramePr>
          <p:cNvPr id="143" name="Cum DRAWINGS chart" descr=""/>
          <p:cNvGraphicFramePr/>
          <p:nvPr/>
        </p:nvGraphicFramePr>
        <p:xfrm>
          <a:off x="3685032" y="3639312"/>
          <a:ext cx="269748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44" name="Cum SUBMISSION TOTAL card"/>
          <p:cNvSpPr/>
          <p:nvPr/>
        </p:nvSpPr>
        <p:spPr>
          <a:xfrm>
            <a:off x="6565392" y="2816352"/>
            <a:ext cx="288036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45" name="Cum SUBMISSION TOTAL header"/>
          <p:cNvSpPr/>
          <p:nvPr/>
        </p:nvSpPr>
        <p:spPr>
          <a:xfrm>
            <a:off x="6565392" y="2816352"/>
            <a:ext cx="288036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6" name="Cum SUBMISSION TOTAL title"/>
          <p:cNvSpPr txBox="1"/>
          <p:nvPr/>
        </p:nvSpPr>
        <p:spPr>
          <a:xfrm>
            <a:off x="6565392" y="281635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SUBMISSION TOTAL</a:t>
            </a:r>
            <a:endParaRPr lang="en-US" sz="1100" dirty="0"/>
          </a:p>
        </p:txBody>
      </p:sp>
      <p:sp>
        <p:nvSpPr>
          <p:cNvPr id="147" name="Cum SUBMISSION TOTAL chip 1"/>
          <p:cNvSpPr/>
          <p:nvPr/>
        </p:nvSpPr>
        <p:spPr>
          <a:xfrm>
            <a:off x="665683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8" name="Cum SUBMISSION TOTAL chip 1 accent"/>
          <p:cNvSpPr/>
          <p:nvPr/>
        </p:nvSpPr>
        <p:spPr>
          <a:xfrm>
            <a:off x="6656832" y="3099816"/>
            <a:ext cx="5029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149" name="Cum SUBMISSION TOTAL chip 1 value"/>
          <p:cNvSpPr txBox="1"/>
          <p:nvPr/>
        </p:nvSpPr>
        <p:spPr>
          <a:xfrm>
            <a:off x="665683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1,034</a:t>
            </a:r>
            <a:endParaRPr lang="en-US" sz="1400" dirty="0"/>
          </a:p>
        </p:txBody>
      </p:sp>
      <p:sp>
        <p:nvSpPr>
          <p:cNvPr id="150" name="Cum SUBMISSION TOTAL chip 1 label"/>
          <p:cNvSpPr txBox="1"/>
          <p:nvPr/>
        </p:nvSpPr>
        <p:spPr>
          <a:xfrm>
            <a:off x="665683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Total</a:t>
            </a:r>
            <a:endParaRPr lang="en-US" sz="800" dirty="0"/>
          </a:p>
        </p:txBody>
      </p:sp>
      <p:sp>
        <p:nvSpPr>
          <p:cNvPr id="151" name="Cum SUBMISSION TOTAL chip 2"/>
          <p:cNvSpPr/>
          <p:nvPr/>
        </p:nvSpPr>
        <p:spPr>
          <a:xfrm>
            <a:off x="720547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2" name="Cum SUBMISSION TOTAL chip 2 accent"/>
          <p:cNvSpPr/>
          <p:nvPr/>
        </p:nvSpPr>
        <p:spPr>
          <a:xfrm>
            <a:off x="7205472" y="3099816"/>
            <a:ext cx="5029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153" name="Cum SUBMISSION TOTAL chip 2 value"/>
          <p:cNvSpPr txBox="1"/>
          <p:nvPr/>
        </p:nvSpPr>
        <p:spPr>
          <a:xfrm>
            <a:off x="720547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665</a:t>
            </a:r>
            <a:endParaRPr lang="en-US" sz="1400" dirty="0"/>
          </a:p>
        </p:txBody>
      </p:sp>
      <p:sp>
        <p:nvSpPr>
          <p:cNvPr id="154" name="Cum SUBMISSION TOTAL chip 2 label"/>
          <p:cNvSpPr txBox="1"/>
          <p:nvPr/>
        </p:nvSpPr>
        <p:spPr>
          <a:xfrm>
            <a:off x="720547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Approved</a:t>
            </a:r>
            <a:endParaRPr lang="en-US" sz="800" dirty="0"/>
          </a:p>
        </p:txBody>
      </p:sp>
      <p:sp>
        <p:nvSpPr>
          <p:cNvPr id="155" name="Cum SUBMISSION TOTAL chip 3"/>
          <p:cNvSpPr/>
          <p:nvPr/>
        </p:nvSpPr>
        <p:spPr>
          <a:xfrm>
            <a:off x="775411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6" name="Cum SUBMISSION TOTAL chip 3 accent"/>
          <p:cNvSpPr/>
          <p:nvPr/>
        </p:nvSpPr>
        <p:spPr>
          <a:xfrm>
            <a:off x="7754112" y="3099816"/>
            <a:ext cx="502920" cy="45720"/>
          </a:xfrm>
          <a:prstGeom prst="rect">
            <a:avLst/>
          </a:prstGeom>
          <a:solidFill>
            <a:srgbClr val="EB9823"/>
          </a:solidFill>
          <a:ln w="12700">
            <a:solidFill>
              <a:srgbClr val="EB9823"/>
            </a:solidFill>
            <a:prstDash val="solid"/>
          </a:ln>
        </p:spPr>
      </p:sp>
      <p:sp>
        <p:nvSpPr>
          <p:cNvPr id="157" name="Cum SUBMISSION TOTAL chip 3 value"/>
          <p:cNvSpPr txBox="1"/>
          <p:nvPr/>
        </p:nvSpPr>
        <p:spPr>
          <a:xfrm>
            <a:off x="775411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136</a:t>
            </a:r>
            <a:endParaRPr lang="en-US" sz="1400" dirty="0"/>
          </a:p>
        </p:txBody>
      </p:sp>
      <p:sp>
        <p:nvSpPr>
          <p:cNvPr id="158" name="Cum SUBMISSION TOTAL chip 3 label"/>
          <p:cNvSpPr txBox="1"/>
          <p:nvPr/>
        </p:nvSpPr>
        <p:spPr>
          <a:xfrm>
            <a:off x="775411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Resubmit</a:t>
            </a:r>
            <a:endParaRPr lang="en-US" sz="800" dirty="0"/>
          </a:p>
        </p:txBody>
      </p:sp>
      <p:sp>
        <p:nvSpPr>
          <p:cNvPr id="159" name="Cum SUBMISSION TOTAL chip 4"/>
          <p:cNvSpPr/>
          <p:nvPr/>
        </p:nvSpPr>
        <p:spPr>
          <a:xfrm>
            <a:off x="830275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0" name="Cum SUBMISSION TOTAL chip 4 accent"/>
          <p:cNvSpPr/>
          <p:nvPr/>
        </p:nvSpPr>
        <p:spPr>
          <a:xfrm>
            <a:off x="8302752" y="3099816"/>
            <a:ext cx="502920" cy="45720"/>
          </a:xfrm>
          <a:prstGeom prst="rect">
            <a:avLst/>
          </a:prstGeom>
          <a:solidFill>
            <a:srgbClr val="D58BCB"/>
          </a:solidFill>
          <a:ln w="12700">
            <a:solidFill>
              <a:srgbClr val="D58BCB"/>
            </a:solidFill>
            <a:prstDash val="solid"/>
          </a:ln>
        </p:spPr>
      </p:sp>
      <p:sp>
        <p:nvSpPr>
          <p:cNvPr id="161" name="Cum SUBMISSION TOTAL chip 4 value"/>
          <p:cNvSpPr txBox="1"/>
          <p:nvPr/>
        </p:nvSpPr>
        <p:spPr>
          <a:xfrm>
            <a:off x="830275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47</a:t>
            </a:r>
            <a:endParaRPr lang="en-US" sz="1400" dirty="0"/>
          </a:p>
        </p:txBody>
      </p:sp>
      <p:sp>
        <p:nvSpPr>
          <p:cNvPr id="162" name="Cum SUBMISSION TOTAL chip 4 label"/>
          <p:cNvSpPr txBox="1"/>
          <p:nvPr/>
        </p:nvSpPr>
        <p:spPr>
          <a:xfrm>
            <a:off x="830275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Rejected</a:t>
            </a:r>
            <a:endParaRPr lang="en-US" sz="800" dirty="0"/>
          </a:p>
        </p:txBody>
      </p:sp>
      <p:sp>
        <p:nvSpPr>
          <p:cNvPr id="163" name="Cum SUBMISSION TOTAL chip 5"/>
          <p:cNvSpPr/>
          <p:nvPr/>
        </p:nvSpPr>
        <p:spPr>
          <a:xfrm>
            <a:off x="8851392" y="3099816"/>
            <a:ext cx="5029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4" name="Cum SUBMISSION TOTAL chip 5 accent"/>
          <p:cNvSpPr/>
          <p:nvPr/>
        </p:nvSpPr>
        <p:spPr>
          <a:xfrm>
            <a:off x="8851392" y="3099816"/>
            <a:ext cx="502920" cy="45720"/>
          </a:xfrm>
          <a:prstGeom prst="rect">
            <a:avLst/>
          </a:prstGeom>
          <a:solidFill>
            <a:srgbClr val="BBA9D2"/>
          </a:solidFill>
          <a:ln w="12700">
            <a:solidFill>
              <a:srgbClr val="BBA9D2"/>
            </a:solidFill>
            <a:prstDash val="solid"/>
          </a:ln>
        </p:spPr>
      </p:sp>
      <p:sp>
        <p:nvSpPr>
          <p:cNvPr id="165" name="Cum SUBMISSION TOTAL chip 5 value"/>
          <p:cNvSpPr txBox="1"/>
          <p:nvPr/>
        </p:nvSpPr>
        <p:spPr>
          <a:xfrm>
            <a:off x="8851392" y="31638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186</a:t>
            </a:r>
            <a:endParaRPr lang="en-US" sz="1400" dirty="0"/>
          </a:p>
        </p:txBody>
      </p:sp>
      <p:sp>
        <p:nvSpPr>
          <p:cNvPr id="166" name="Cum SUBMISSION TOTAL chip 5 label"/>
          <p:cNvSpPr txBox="1"/>
          <p:nvPr/>
        </p:nvSpPr>
        <p:spPr>
          <a:xfrm>
            <a:off x="8851392" y="33924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Under review</a:t>
            </a:r>
            <a:endParaRPr lang="en-US" sz="800" dirty="0"/>
          </a:p>
        </p:txBody>
      </p:sp>
      <p:graphicFrame>
        <p:nvGraphicFramePr>
          <p:cNvPr id="167" name="Cum SUBMISSION TOTAL chart" descr=""/>
          <p:cNvGraphicFramePr/>
          <p:nvPr/>
        </p:nvGraphicFramePr>
        <p:xfrm>
          <a:off x="6656832" y="3639312"/>
          <a:ext cx="2697480" cy="749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168" name="Cum CORRESPONDENCE card"/>
          <p:cNvSpPr/>
          <p:nvPr/>
        </p:nvSpPr>
        <p:spPr>
          <a:xfrm>
            <a:off x="9537192" y="2816352"/>
            <a:ext cx="2377440" cy="16093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69" name="Cum CORRESPONDENCE header"/>
          <p:cNvSpPr/>
          <p:nvPr/>
        </p:nvSpPr>
        <p:spPr>
          <a:xfrm>
            <a:off x="9537192" y="2816352"/>
            <a:ext cx="237744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0" name="Cum CORRESPONDENCE title"/>
          <p:cNvSpPr txBox="1"/>
          <p:nvPr/>
        </p:nvSpPr>
        <p:spPr>
          <a:xfrm>
            <a:off x="9537192" y="28163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CORRESPONDENCE</a:t>
            </a:r>
            <a:endParaRPr lang="en-US" sz="1100" dirty="0"/>
          </a:p>
        </p:txBody>
      </p:sp>
      <p:sp>
        <p:nvSpPr>
          <p:cNvPr id="171" name="Cum CORRESPONDENCE chip 1"/>
          <p:cNvSpPr/>
          <p:nvPr/>
        </p:nvSpPr>
        <p:spPr>
          <a:xfrm>
            <a:off x="9628632" y="3099816"/>
            <a:ext cx="10744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2" name="Cum CORRESPONDENCE chip 1 accent"/>
          <p:cNvSpPr/>
          <p:nvPr/>
        </p:nvSpPr>
        <p:spPr>
          <a:xfrm>
            <a:off x="9628632" y="3099816"/>
            <a:ext cx="10744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173" name="Cum CORRESPONDENCE chip 1 value"/>
          <p:cNvSpPr txBox="1"/>
          <p:nvPr/>
        </p:nvSpPr>
        <p:spPr>
          <a:xfrm>
            <a:off x="9628632" y="3163824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318</a:t>
            </a:r>
            <a:endParaRPr lang="en-US" sz="1400" dirty="0"/>
          </a:p>
        </p:txBody>
      </p:sp>
      <p:sp>
        <p:nvSpPr>
          <p:cNvPr id="174" name="Cum CORRESPONDENCE chip 1 label"/>
          <p:cNvSpPr txBox="1"/>
          <p:nvPr/>
        </p:nvSpPr>
        <p:spPr>
          <a:xfrm>
            <a:off x="9628632" y="3392424"/>
            <a:ext cx="107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Outgoing</a:t>
            </a:r>
            <a:endParaRPr lang="en-US" sz="800" dirty="0"/>
          </a:p>
        </p:txBody>
      </p:sp>
      <p:sp>
        <p:nvSpPr>
          <p:cNvPr id="175" name="Cum CORRESPONDENCE chip 2"/>
          <p:cNvSpPr/>
          <p:nvPr/>
        </p:nvSpPr>
        <p:spPr>
          <a:xfrm>
            <a:off x="10748772" y="3099816"/>
            <a:ext cx="10744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6" name="Cum CORRESPONDENCE chip 2 accent"/>
          <p:cNvSpPr/>
          <p:nvPr/>
        </p:nvSpPr>
        <p:spPr>
          <a:xfrm>
            <a:off x="10748772" y="3099816"/>
            <a:ext cx="1074420" cy="45720"/>
          </a:xfrm>
          <a:prstGeom prst="rect">
            <a:avLst/>
          </a:prstGeom>
          <a:solidFill>
            <a:srgbClr val="06AEBB"/>
          </a:solidFill>
          <a:ln w="12700">
            <a:solidFill>
              <a:srgbClr val="06AEBB"/>
            </a:solidFill>
            <a:prstDash val="solid"/>
          </a:ln>
        </p:spPr>
      </p:sp>
      <p:sp>
        <p:nvSpPr>
          <p:cNvPr id="177" name="Cum CORRESPONDENCE chip 2 value"/>
          <p:cNvSpPr txBox="1"/>
          <p:nvPr/>
        </p:nvSpPr>
        <p:spPr>
          <a:xfrm>
            <a:off x="10748772" y="3163824"/>
            <a:ext cx="1074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291</a:t>
            </a:r>
            <a:endParaRPr lang="en-US" sz="1400" dirty="0"/>
          </a:p>
        </p:txBody>
      </p:sp>
      <p:sp>
        <p:nvSpPr>
          <p:cNvPr id="178" name="Cum CORRESPONDENCE chip 2 label"/>
          <p:cNvSpPr txBox="1"/>
          <p:nvPr/>
        </p:nvSpPr>
        <p:spPr>
          <a:xfrm>
            <a:off x="10748772" y="3392424"/>
            <a:ext cx="10744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Incoming</a:t>
            </a:r>
            <a:endParaRPr lang="en-US" sz="800" dirty="0"/>
          </a:p>
        </p:txBody>
      </p:sp>
      <p:graphicFrame>
        <p:nvGraphicFramePr>
          <p:cNvPr id="179" name="Cum CORRESPONDENCE chart" descr=""/>
          <p:cNvGraphicFramePr/>
          <p:nvPr/>
        </p:nvGraphicFramePr>
        <p:xfrm>
          <a:off x="9994392" y="3621024"/>
          <a:ext cx="1463040" cy="76809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180" name="Review band"/>
          <p:cNvSpPr/>
          <p:nvPr/>
        </p:nvSpPr>
        <p:spPr>
          <a:xfrm>
            <a:off x="274320" y="4480560"/>
            <a:ext cx="274320" cy="1938528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1" name="Review band label"/>
          <p:cNvSpPr txBox="1"/>
          <p:nvPr/>
        </p:nvSpPr>
        <p:spPr>
          <a:xfrm>
            <a:off x="274320" y="4480560"/>
            <a:ext cx="27432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TILL DATE: APPROVAL &amp; REVIEW</a:t>
            </a:r>
            <a:endParaRPr lang="en-US" sz="1000" dirty="0"/>
          </a:p>
        </p:txBody>
      </p:sp>
      <p:sp>
        <p:nvSpPr>
          <p:cNvPr id="182" name="Approved revisions card"/>
          <p:cNvSpPr/>
          <p:nvPr/>
        </p:nvSpPr>
        <p:spPr>
          <a:xfrm>
            <a:off x="621792" y="4480560"/>
            <a:ext cx="3200400" cy="19385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83" name="Approved revisions header"/>
          <p:cNvSpPr/>
          <p:nvPr/>
        </p:nvSpPr>
        <p:spPr>
          <a:xfrm>
            <a:off x="621792" y="4480560"/>
            <a:ext cx="320040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4" name="Approved revisions title"/>
          <p:cNvSpPr txBox="1"/>
          <p:nvPr/>
        </p:nvSpPr>
        <p:spPr>
          <a:xfrm>
            <a:off x="621792" y="4480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APPROVED STATUS / % OF OVERALL CUM.</a:t>
            </a:r>
            <a:endParaRPr lang="en-US" sz="1100" dirty="0"/>
          </a:p>
        </p:txBody>
      </p:sp>
      <p:graphicFrame>
        <p:nvGraphicFramePr>
          <p:cNvPr id="185" name="Approved revisions chart" descr=""/>
          <p:cNvGraphicFramePr/>
          <p:nvPr/>
        </p:nvGraphicFramePr>
        <p:xfrm>
          <a:off x="713232" y="4754880"/>
          <a:ext cx="3017520" cy="1627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186" name="Under review by party card"/>
          <p:cNvSpPr/>
          <p:nvPr/>
        </p:nvSpPr>
        <p:spPr>
          <a:xfrm>
            <a:off x="3913632" y="4480560"/>
            <a:ext cx="2514600" cy="19385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87" name="Under review by party header"/>
          <p:cNvSpPr/>
          <p:nvPr/>
        </p:nvSpPr>
        <p:spPr>
          <a:xfrm>
            <a:off x="3913632" y="4480560"/>
            <a:ext cx="251460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8" name="Under review by party title"/>
          <p:cNvSpPr txBox="1"/>
          <p:nvPr/>
        </p:nvSpPr>
        <p:spPr>
          <a:xfrm>
            <a:off x="3913632" y="448056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OVERALL UNDER REVIEW</a:t>
            </a:r>
            <a:endParaRPr lang="en-US" sz="1100" dirty="0"/>
          </a:p>
        </p:txBody>
      </p:sp>
      <p:sp>
        <p:nvSpPr>
          <p:cNvPr id="189" name="Under review total chip 1"/>
          <p:cNvSpPr/>
          <p:nvPr/>
        </p:nvSpPr>
        <p:spPr>
          <a:xfrm>
            <a:off x="4005072" y="4764024"/>
            <a:ext cx="233172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0" name="Under review total chip 1 accent"/>
          <p:cNvSpPr/>
          <p:nvPr/>
        </p:nvSpPr>
        <p:spPr>
          <a:xfrm>
            <a:off x="4005072" y="4764024"/>
            <a:ext cx="2331720" cy="45720"/>
          </a:xfrm>
          <a:prstGeom prst="rect">
            <a:avLst/>
          </a:prstGeom>
          <a:solidFill>
            <a:srgbClr val="582C83"/>
          </a:solidFill>
          <a:ln w="12700">
            <a:solidFill>
              <a:srgbClr val="582C83"/>
            </a:solidFill>
            <a:prstDash val="solid"/>
          </a:ln>
        </p:spPr>
      </p:sp>
      <p:sp>
        <p:nvSpPr>
          <p:cNvPr id="191" name="Under review total chip 1 value"/>
          <p:cNvSpPr txBox="1"/>
          <p:nvPr/>
        </p:nvSpPr>
        <p:spPr>
          <a:xfrm>
            <a:off x="4005072" y="4828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186</a:t>
            </a:r>
            <a:endParaRPr lang="en-US" sz="1400" dirty="0"/>
          </a:p>
        </p:txBody>
      </p:sp>
      <p:sp>
        <p:nvSpPr>
          <p:cNvPr id="192" name="Under review total chip 1 label"/>
          <p:cNvSpPr txBox="1"/>
          <p:nvPr/>
        </p:nvSpPr>
        <p:spPr>
          <a:xfrm>
            <a:off x="4005072" y="5056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Under review (till date)</a:t>
            </a:r>
            <a:endParaRPr lang="en-US" sz="800" dirty="0"/>
          </a:p>
        </p:txBody>
      </p:sp>
      <p:graphicFrame>
        <p:nvGraphicFramePr>
          <p:cNvPr id="193" name="Under review chart" descr=""/>
          <p:cNvGraphicFramePr/>
          <p:nvPr/>
        </p:nvGraphicFramePr>
        <p:xfrm>
          <a:off x="4005072" y="5303520"/>
          <a:ext cx="2331720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194" name="Pending days card"/>
          <p:cNvSpPr/>
          <p:nvPr/>
        </p:nvSpPr>
        <p:spPr>
          <a:xfrm>
            <a:off x="6519672" y="4480560"/>
            <a:ext cx="3154680" cy="19385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95" name="Pending days header"/>
          <p:cNvSpPr/>
          <p:nvPr/>
        </p:nvSpPr>
        <p:spPr>
          <a:xfrm>
            <a:off x="6519672" y="4480560"/>
            <a:ext cx="315468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6" name="Pending days title"/>
          <p:cNvSpPr txBox="1"/>
          <p:nvPr/>
        </p:nvSpPr>
        <p:spPr>
          <a:xfrm>
            <a:off x="6519672" y="448056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SUBMISSIONS REVIEW (PENDING DAYS)</a:t>
            </a:r>
            <a:endParaRPr lang="en-US" sz="1100" dirty="0"/>
          </a:p>
        </p:txBody>
      </p:sp>
      <p:graphicFrame>
        <p:nvGraphicFramePr>
          <p:cNvPr id="2" name="Pending day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1112" y="4809744"/>
          <a:ext cx="29718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30352"/>
                <a:gridCol w="621792"/>
                <a:gridCol w="530352"/>
                <a:gridCol w="512064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Party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≤7 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A3A3B"/>
                          </a:solidFill>
                        </a:rPr>
                        <a:t>8–30 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B98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≥31 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Client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75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Algihaz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49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Supplier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All parties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31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264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</a:tr>
            </a:tbl>
          </a:graphicData>
        </a:graphic>
      </p:graphicFrame>
      <p:sp>
        <p:nvSpPr>
          <p:cNvPr id="198" name="Pending days note"/>
          <p:cNvSpPr txBox="1"/>
          <p:nvPr/>
        </p:nvSpPr>
        <p:spPr>
          <a:xfrm>
            <a:off x="6611112" y="61722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 = days · all review statuses combined</a:t>
            </a:r>
            <a:endParaRPr lang="en-US" sz="1000" dirty="0"/>
          </a:p>
        </p:txBody>
      </p:sp>
      <p:sp>
        <p:nvSpPr>
          <p:cNvPr id="199" name="Rejected card"/>
          <p:cNvSpPr/>
          <p:nvPr/>
        </p:nvSpPr>
        <p:spPr>
          <a:xfrm>
            <a:off x="9765792" y="4480560"/>
            <a:ext cx="2148840" cy="1938528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00" name="Rejected header"/>
          <p:cNvSpPr/>
          <p:nvPr/>
        </p:nvSpPr>
        <p:spPr>
          <a:xfrm>
            <a:off x="9765792" y="4480560"/>
            <a:ext cx="2148840" cy="2377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1" name="Rejected title"/>
          <p:cNvSpPr txBox="1"/>
          <p:nvPr/>
        </p:nvSpPr>
        <p:spPr>
          <a:xfrm>
            <a:off x="9765792" y="44805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TOTAL REJECTED SUBMISSION</a:t>
            </a:r>
            <a:endParaRPr lang="en-US" sz="1100" dirty="0"/>
          </a:p>
        </p:txBody>
      </p:sp>
      <p:sp>
        <p:nvSpPr>
          <p:cNvPr id="202" name="Rejected total chip 1"/>
          <p:cNvSpPr/>
          <p:nvPr/>
        </p:nvSpPr>
        <p:spPr>
          <a:xfrm>
            <a:off x="9857232" y="4764024"/>
            <a:ext cx="1965960" cy="502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3" name="Rejected total chip 1 accent"/>
          <p:cNvSpPr/>
          <p:nvPr/>
        </p:nvSpPr>
        <p:spPr>
          <a:xfrm>
            <a:off x="9857232" y="4764024"/>
            <a:ext cx="1965960" cy="45720"/>
          </a:xfrm>
          <a:prstGeom prst="rect">
            <a:avLst/>
          </a:prstGeom>
          <a:solidFill>
            <a:srgbClr val="A43C96"/>
          </a:solidFill>
          <a:ln w="12700">
            <a:solidFill>
              <a:srgbClr val="A43C96"/>
            </a:solidFill>
            <a:prstDash val="solid"/>
          </a:ln>
        </p:spPr>
      </p:sp>
      <p:sp>
        <p:nvSpPr>
          <p:cNvPr id="204" name="Rejected total chip 1 value"/>
          <p:cNvSpPr txBox="1"/>
          <p:nvPr/>
        </p:nvSpPr>
        <p:spPr>
          <a:xfrm>
            <a:off x="9857232" y="48280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47</a:t>
            </a:r>
            <a:endParaRPr lang="en-US" sz="1400" dirty="0"/>
          </a:p>
        </p:txBody>
      </p:sp>
      <p:sp>
        <p:nvSpPr>
          <p:cNvPr id="205" name="Rejected total chip 1 label"/>
          <p:cNvSpPr txBox="1"/>
          <p:nvPr/>
        </p:nvSpPr>
        <p:spPr>
          <a:xfrm>
            <a:off x="9857232" y="50566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+3 since yesterday</a:t>
            </a:r>
            <a:endParaRPr lang="en-US" sz="800" dirty="0"/>
          </a:p>
        </p:txBody>
      </p:sp>
      <p:graphicFrame>
        <p:nvGraphicFramePr>
          <p:cNvPr id="206" name="Rejected chart" descr=""/>
          <p:cNvGraphicFramePr/>
          <p:nvPr/>
        </p:nvGraphicFramePr>
        <p:xfrm>
          <a:off x="9857232" y="5303520"/>
          <a:ext cx="1965960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207" name="Report link"/>
          <p:cNvSpPr txBox="1"/>
          <p:nvPr/>
        </p:nvSpPr>
        <p:spPr>
          <a:xfrm>
            <a:off x="6766560" y="65105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Detailed report: </a:t>
            </a:r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[PDF report link]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57432" y="65105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Drawings &amp; submittals by discipline</a:t>
            </a:r>
            <a:endParaRPr lang="en-US" sz="2800" dirty="0"/>
          </a:p>
        </p:txBody>
      </p:sp>
      <p:sp>
        <p:nvSpPr>
          <p:cNvPr id="3" name="Project and date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Alpha District Development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18-10-2026</a:t>
            </a:r>
            <a:endParaRPr lang="en-US" sz="1400" dirty="0"/>
          </a:p>
        </p:txBody>
      </p:sp>
      <p:sp>
        <p:nvSpPr>
          <p:cNvPr id="4" name="Drawings card"/>
          <p:cNvSpPr/>
          <p:nvPr/>
        </p:nvSpPr>
        <p:spPr>
          <a:xfrm>
            <a:off x="457200" y="1005840"/>
            <a:ext cx="5545836" cy="5349240"/>
          </a:xfrm>
          <a:prstGeom prst="roundRect">
            <a:avLst>
              <a:gd name="adj" fmla="val 136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Drawings icon bg"/>
          <p:cNvSpPr/>
          <p:nvPr/>
        </p:nvSpPr>
        <p:spPr>
          <a:xfrm>
            <a:off x="640080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Drawing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234440"/>
            <a:ext cx="182880" cy="182880"/>
          </a:xfrm>
          <a:prstGeom prst="rect">
            <a:avLst/>
          </a:prstGeom>
        </p:spPr>
      </p:pic>
      <p:sp>
        <p:nvSpPr>
          <p:cNvPr id="7" name="Drawings title"/>
          <p:cNvSpPr txBox="1"/>
          <p:nvPr/>
        </p:nvSpPr>
        <p:spPr>
          <a:xfrm>
            <a:off x="1078992" y="1133856"/>
            <a:ext cx="476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Drawings  ·  583</a:t>
            </a:r>
            <a:endParaRPr lang="en-US" sz="1600" dirty="0"/>
          </a:p>
        </p:txBody>
      </p:sp>
      <p:sp>
        <p:nvSpPr>
          <p:cNvPr id="8" name="Drawings change"/>
          <p:cNvSpPr txBox="1"/>
          <p:nvPr/>
        </p:nvSpPr>
        <p:spPr>
          <a:xfrm>
            <a:off x="3717036" y="1152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▲ +32 since yesterday</a:t>
            </a:r>
            <a:endParaRPr lang="en-US" sz="1300" dirty="0"/>
          </a:p>
        </p:txBody>
      </p:sp>
      <p:graphicFrame>
        <p:nvGraphicFramePr>
          <p:cNvPr id="9" name="Drawings chart" descr=""/>
          <p:cNvGraphicFramePr/>
          <p:nvPr/>
        </p:nvGraphicFramePr>
        <p:xfrm>
          <a:off x="594360" y="1600200"/>
          <a:ext cx="5271516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Drawing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023360"/>
          <a:ext cx="508863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731520"/>
                <a:gridCol w="713232"/>
                <a:gridCol w="566928"/>
                <a:gridCol w="548640"/>
                <a:gridCol w="6858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Discipline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Resubmit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Rejected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Civil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193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Structural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Mechanical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67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Electrical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91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Instrumentation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373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27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583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▲+32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</a:tr>
            </a:tbl>
          </a:graphicData>
        </a:graphic>
      </p:graphicFrame>
      <p:sp>
        <p:nvSpPr>
          <p:cNvPr id="11" name="Submittals card"/>
          <p:cNvSpPr/>
          <p:nvPr/>
        </p:nvSpPr>
        <p:spPr>
          <a:xfrm>
            <a:off x="6185916" y="1005840"/>
            <a:ext cx="5545836" cy="5349240"/>
          </a:xfrm>
          <a:prstGeom prst="roundRect">
            <a:avLst>
              <a:gd name="adj" fmla="val 136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2" name="Submittals icon bg"/>
          <p:cNvSpPr/>
          <p:nvPr/>
        </p:nvSpPr>
        <p:spPr>
          <a:xfrm>
            <a:off x="6368796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Submittal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092" y="1234440"/>
            <a:ext cx="182880" cy="182880"/>
          </a:xfrm>
          <a:prstGeom prst="rect">
            <a:avLst/>
          </a:prstGeom>
        </p:spPr>
      </p:pic>
      <p:sp>
        <p:nvSpPr>
          <p:cNvPr id="14" name="Submittals title"/>
          <p:cNvSpPr txBox="1"/>
          <p:nvPr/>
        </p:nvSpPr>
        <p:spPr>
          <a:xfrm>
            <a:off x="6807708" y="1133856"/>
            <a:ext cx="4768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Submittals  ·  451</a:t>
            </a:r>
            <a:endParaRPr lang="en-US" sz="1600" dirty="0"/>
          </a:p>
        </p:txBody>
      </p:sp>
      <p:sp>
        <p:nvSpPr>
          <p:cNvPr id="15" name="Submittals change"/>
          <p:cNvSpPr txBox="1"/>
          <p:nvPr/>
        </p:nvSpPr>
        <p:spPr>
          <a:xfrm>
            <a:off x="9445752" y="11521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▲ +21 since yesterday</a:t>
            </a:r>
            <a:endParaRPr lang="en-US" sz="1300" dirty="0"/>
          </a:p>
        </p:txBody>
      </p:sp>
      <p:graphicFrame>
        <p:nvGraphicFramePr>
          <p:cNvPr id="16" name="Submittals chart" descr=""/>
          <p:cNvGraphicFramePr/>
          <p:nvPr/>
        </p:nvGraphicFramePr>
        <p:xfrm>
          <a:off x="6323076" y="1600200"/>
          <a:ext cx="5271516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5" name="Submitta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14516" y="4023360"/>
          <a:ext cx="508863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731520"/>
                <a:gridCol w="713232"/>
                <a:gridCol w="566928"/>
                <a:gridCol w="548640"/>
                <a:gridCol w="68580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Discipline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Approved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Resubmit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Rejected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2C8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Civil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Structural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54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Mechanical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22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118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Electrical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FF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Instrumentation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B"/>
                          </a:solidFill>
                        </a:rPr>
                        <a:t>▲+2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A3A3B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292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59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451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B"/>
                          </a:solidFill>
                        </a:rPr>
                        <a:t>▲+21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4DBEE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Document types &amp; approved revisions</a:t>
            </a:r>
            <a:endParaRPr lang="en-US" sz="2800" dirty="0"/>
          </a:p>
        </p:txBody>
      </p:sp>
      <p:sp>
        <p:nvSpPr>
          <p:cNvPr id="3" name="Project and date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Alpha District Development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18-10-2026</a:t>
            </a:r>
            <a:endParaRPr lang="en-US" sz="1400" dirty="0"/>
          </a:p>
        </p:txBody>
      </p:sp>
      <p:sp>
        <p:nvSpPr>
          <p:cNvPr id="4" name="Types card"/>
          <p:cNvSpPr/>
          <p:nvPr/>
        </p:nvSpPr>
        <p:spPr>
          <a:xfrm>
            <a:off x="457200" y="1005840"/>
            <a:ext cx="5669280" cy="5349240"/>
          </a:xfrm>
          <a:prstGeom prst="roundRect">
            <a:avLst>
              <a:gd name="adj" fmla="val 136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Types icon bg"/>
          <p:cNvSpPr/>
          <p:nvPr/>
        </p:nvSpPr>
        <p:spPr>
          <a:xfrm>
            <a:off x="640080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Typ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234440"/>
            <a:ext cx="182880" cy="182880"/>
          </a:xfrm>
          <a:prstGeom prst="rect">
            <a:avLst/>
          </a:prstGeom>
        </p:spPr>
      </p:pic>
      <p:sp>
        <p:nvSpPr>
          <p:cNvPr id="7" name="Types title"/>
          <p:cNvSpPr txBox="1"/>
          <p:nvPr/>
        </p:nvSpPr>
        <p:spPr>
          <a:xfrm>
            <a:off x="1078992" y="1133856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Documents by type (cumulative)</a:t>
            </a:r>
            <a:endParaRPr lang="en-US" sz="1600" dirty="0"/>
          </a:p>
        </p:txBody>
      </p:sp>
      <p:graphicFrame>
        <p:nvGraphicFramePr>
          <p:cNvPr id="8" name="Types chart" descr=""/>
          <p:cNvGraphicFramePr/>
          <p:nvPr/>
        </p:nvGraphicFramePr>
        <p:xfrm>
          <a:off x="594360" y="1600200"/>
          <a:ext cx="53949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ypes footnote"/>
          <p:cNvSpPr txBox="1"/>
          <p:nvPr/>
        </p:nvSpPr>
        <p:spPr>
          <a:xfrm>
            <a:off x="685800" y="5852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Arrow after the type = change since yesterday.</a:t>
            </a:r>
            <a:endParaRPr lang="en-US" sz="1100" dirty="0"/>
          </a:p>
        </p:txBody>
      </p:sp>
      <p:sp>
        <p:nvSpPr>
          <p:cNvPr id="10" name="Revision card"/>
          <p:cNvSpPr/>
          <p:nvPr/>
        </p:nvSpPr>
        <p:spPr>
          <a:xfrm>
            <a:off x="6309360" y="1005840"/>
            <a:ext cx="5422392" cy="5349240"/>
          </a:xfrm>
          <a:prstGeom prst="roundRect">
            <a:avLst>
              <a:gd name="adj" fmla="val 136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1" name="Revision icon bg"/>
          <p:cNvSpPr/>
          <p:nvPr/>
        </p:nvSpPr>
        <p:spPr>
          <a:xfrm>
            <a:off x="6492240" y="115214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Revision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234440"/>
            <a:ext cx="182880" cy="182880"/>
          </a:xfrm>
          <a:prstGeom prst="rect">
            <a:avLst/>
          </a:prstGeom>
        </p:spPr>
      </p:pic>
      <p:sp>
        <p:nvSpPr>
          <p:cNvPr id="13" name="Revision title"/>
          <p:cNvSpPr txBox="1"/>
          <p:nvPr/>
        </p:nvSpPr>
        <p:spPr>
          <a:xfrm>
            <a:off x="6931152" y="11338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Approved by revision (% of overall cum.)</a:t>
            </a:r>
            <a:endParaRPr lang="en-US" sz="1600" dirty="0"/>
          </a:p>
        </p:txBody>
      </p:sp>
      <p:graphicFrame>
        <p:nvGraphicFramePr>
          <p:cNvPr id="14" name="Revision chart" descr=""/>
          <p:cNvGraphicFramePr/>
          <p:nvPr/>
        </p:nvGraphicFramePr>
        <p:xfrm>
          <a:off x="6446520" y="1600200"/>
          <a:ext cx="5148072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Revision note"/>
          <p:cNvSpPr txBox="1"/>
          <p:nvPr/>
        </p:nvSpPr>
        <p:spPr>
          <a:xfrm>
            <a:off x="6537960" y="5212080"/>
            <a:ext cx="4965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Approved: 665 documents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 is measured against 1,034 cumulative documents (Drawings + Submittals).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Submission review: pending days</a:t>
            </a:r>
            <a:endParaRPr lang="en-US" sz="2800" dirty="0"/>
          </a:p>
        </p:txBody>
      </p:sp>
      <p:sp>
        <p:nvSpPr>
          <p:cNvPr id="3" name="Project and date"/>
          <p:cNvSpPr txBox="1"/>
          <p:nvPr/>
        </p:nvSpPr>
        <p:spPr>
          <a:xfrm>
            <a:off x="7498080" y="274320"/>
            <a:ext cx="4233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Alpha District Development</a:t>
            </a:r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·   18-10-2026</a:t>
            </a:r>
            <a:endParaRPr lang="en-US" sz="1400" dirty="0"/>
          </a:p>
        </p:txBody>
      </p:sp>
      <p:sp>
        <p:nvSpPr>
          <p:cNvPr id="4" name="KPI Client"/>
          <p:cNvSpPr/>
          <p:nvPr/>
        </p:nvSpPr>
        <p:spPr>
          <a:xfrm>
            <a:off x="457200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5" name="KPI Client label"/>
          <p:cNvSpPr txBox="1"/>
          <p:nvPr/>
        </p:nvSpPr>
        <p:spPr>
          <a:xfrm>
            <a:off x="640080" y="1133856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CLIENT · PENDING</a:t>
            </a:r>
            <a:endParaRPr lang="en-US" sz="1200" dirty="0"/>
          </a:p>
        </p:txBody>
      </p:sp>
      <p:sp>
        <p:nvSpPr>
          <p:cNvPr id="6" name="KPI Client value"/>
          <p:cNvSpPr txBox="1"/>
          <p:nvPr/>
        </p:nvSpPr>
        <p:spPr>
          <a:xfrm>
            <a:off x="640080" y="1408176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127</a:t>
            </a:r>
            <a:endParaRPr lang="en-US" sz="3200" dirty="0"/>
          </a:p>
        </p:txBody>
      </p:sp>
      <p:sp>
        <p:nvSpPr>
          <p:cNvPr id="7" name="KPI Client sub"/>
          <p:cNvSpPr txBox="1"/>
          <p:nvPr/>
        </p:nvSpPr>
        <p:spPr>
          <a:xfrm>
            <a:off x="640080" y="1965960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13 pending ≥ 31 days</a:t>
            </a:r>
            <a:endParaRPr lang="en-US" sz="1200" dirty="0"/>
          </a:p>
        </p:txBody>
      </p:sp>
      <p:sp>
        <p:nvSpPr>
          <p:cNvPr id="8" name="KPI Algihaz"/>
          <p:cNvSpPr/>
          <p:nvPr/>
        </p:nvSpPr>
        <p:spPr>
          <a:xfrm>
            <a:off x="3321558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9" name="KPI Algihaz label"/>
          <p:cNvSpPr txBox="1"/>
          <p:nvPr/>
        </p:nvSpPr>
        <p:spPr>
          <a:xfrm>
            <a:off x="3504438" y="1133856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ALGIHAZ · PENDING</a:t>
            </a:r>
            <a:endParaRPr lang="en-US" sz="1200" dirty="0"/>
          </a:p>
        </p:txBody>
      </p:sp>
      <p:sp>
        <p:nvSpPr>
          <p:cNvPr id="10" name="KPI Algihaz value"/>
          <p:cNvSpPr txBox="1"/>
          <p:nvPr/>
        </p:nvSpPr>
        <p:spPr>
          <a:xfrm>
            <a:off x="3504438" y="1408176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80</a:t>
            </a:r>
            <a:endParaRPr lang="en-US" sz="3200" dirty="0"/>
          </a:p>
        </p:txBody>
      </p:sp>
      <p:sp>
        <p:nvSpPr>
          <p:cNvPr id="11" name="KPI Algihaz sub"/>
          <p:cNvSpPr txBox="1"/>
          <p:nvPr/>
        </p:nvSpPr>
        <p:spPr>
          <a:xfrm>
            <a:off x="3504438" y="1965960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9 pending ≥ 31 days</a:t>
            </a:r>
            <a:endParaRPr lang="en-US" sz="1200" dirty="0"/>
          </a:p>
        </p:txBody>
      </p:sp>
      <p:sp>
        <p:nvSpPr>
          <p:cNvPr id="12" name="KPI Supplier"/>
          <p:cNvSpPr/>
          <p:nvPr/>
        </p:nvSpPr>
        <p:spPr>
          <a:xfrm>
            <a:off x="6185916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3" name="KPI Supplier label"/>
          <p:cNvSpPr txBox="1"/>
          <p:nvPr/>
        </p:nvSpPr>
        <p:spPr>
          <a:xfrm>
            <a:off x="6368796" y="1133856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SUPPLIER · PENDING</a:t>
            </a:r>
            <a:endParaRPr lang="en-US" sz="1200" dirty="0"/>
          </a:p>
        </p:txBody>
      </p:sp>
      <p:sp>
        <p:nvSpPr>
          <p:cNvPr id="14" name="KPI Supplier value"/>
          <p:cNvSpPr txBox="1"/>
          <p:nvPr/>
        </p:nvSpPr>
        <p:spPr>
          <a:xfrm>
            <a:off x="6368796" y="1408176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57</a:t>
            </a:r>
            <a:endParaRPr lang="en-US" sz="3200" dirty="0"/>
          </a:p>
        </p:txBody>
      </p:sp>
      <p:sp>
        <p:nvSpPr>
          <p:cNvPr id="15" name="KPI Supplier sub"/>
          <p:cNvSpPr txBox="1"/>
          <p:nvPr/>
        </p:nvSpPr>
        <p:spPr>
          <a:xfrm>
            <a:off x="6368796" y="1965960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9 pending ≥ 31 days</a:t>
            </a:r>
            <a:endParaRPr lang="en-US" sz="1200" dirty="0"/>
          </a:p>
        </p:txBody>
      </p:sp>
      <p:sp>
        <p:nvSpPr>
          <p:cNvPr id="16" name="KPI all aged"/>
          <p:cNvSpPr/>
          <p:nvPr/>
        </p:nvSpPr>
        <p:spPr>
          <a:xfrm>
            <a:off x="9050274" y="1005840"/>
            <a:ext cx="2681478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17" name="KPI all aged label"/>
          <p:cNvSpPr txBox="1"/>
          <p:nvPr/>
        </p:nvSpPr>
        <p:spPr>
          <a:xfrm>
            <a:off x="9233154" y="1133856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>
                    <a:alpha val="65000"/>
                  </a:schemeClr>
                </a:solidFill>
              </a:rPr>
              <a:t>ALL PARTIES · ≥ 31 DAYS</a:t>
            </a:r>
            <a:endParaRPr lang="en-US" sz="1200" dirty="0"/>
          </a:p>
        </p:txBody>
      </p:sp>
      <p:sp>
        <p:nvSpPr>
          <p:cNvPr id="18" name="KPI all aged value"/>
          <p:cNvSpPr txBox="1"/>
          <p:nvPr/>
        </p:nvSpPr>
        <p:spPr>
          <a:xfrm>
            <a:off x="9233154" y="1408176"/>
            <a:ext cx="23614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31</a:t>
            </a:r>
            <a:endParaRPr lang="en-US" sz="3200" dirty="0"/>
          </a:p>
        </p:txBody>
      </p:sp>
      <p:sp>
        <p:nvSpPr>
          <p:cNvPr id="19" name="KPI all aged sub"/>
          <p:cNvSpPr txBox="1"/>
          <p:nvPr/>
        </p:nvSpPr>
        <p:spPr>
          <a:xfrm>
            <a:off x="9233154" y="1965960"/>
            <a:ext cx="23614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of 264 pending</a:t>
            </a:r>
            <a:endParaRPr lang="en-US" sz="1200" dirty="0"/>
          </a:p>
        </p:txBody>
      </p:sp>
      <p:sp>
        <p:nvSpPr>
          <p:cNvPr id="20" name="Ageing mix card"/>
          <p:cNvSpPr/>
          <p:nvPr/>
        </p:nvSpPr>
        <p:spPr>
          <a:xfrm>
            <a:off x="457200" y="2514600"/>
            <a:ext cx="4754880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1" name="Ageing mix icon bg"/>
          <p:cNvSpPr/>
          <p:nvPr/>
        </p:nvSpPr>
        <p:spPr>
          <a:xfrm>
            <a:off x="64008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Ageing mix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743200"/>
            <a:ext cx="182880" cy="182880"/>
          </a:xfrm>
          <a:prstGeom prst="rect">
            <a:avLst/>
          </a:prstGeom>
        </p:spPr>
      </p:pic>
      <p:sp>
        <p:nvSpPr>
          <p:cNvPr id="23" name="Ageing mix title"/>
          <p:cNvSpPr txBox="1"/>
          <p:nvPr/>
        </p:nvSpPr>
        <p:spPr>
          <a:xfrm>
            <a:off x="1078992" y="26426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long items have been pending</a:t>
            </a:r>
            <a:endParaRPr lang="en-US" sz="1600" dirty="0"/>
          </a:p>
        </p:txBody>
      </p:sp>
      <p:graphicFrame>
        <p:nvGraphicFramePr>
          <p:cNvPr id="24" name="Ageing mix chart" descr=""/>
          <p:cNvGraphicFramePr/>
          <p:nvPr/>
        </p:nvGraphicFramePr>
        <p:xfrm>
          <a:off x="594360" y="3108960"/>
          <a:ext cx="44805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Aged items card"/>
          <p:cNvSpPr/>
          <p:nvPr/>
        </p:nvSpPr>
        <p:spPr>
          <a:xfrm>
            <a:off x="5394960" y="2514600"/>
            <a:ext cx="6336792" cy="3840480"/>
          </a:xfrm>
          <a:prstGeom prst="roundRect">
            <a:avLst>
              <a:gd name="adj" fmla="val 190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582C83">
                <a:alpha val="10000"/>
              </a:srgbClr>
            </a:outerShdw>
          </a:effectLst>
        </p:spPr>
      </p:sp>
      <p:sp>
        <p:nvSpPr>
          <p:cNvPr id="26" name="Aged items icon bg"/>
          <p:cNvSpPr/>
          <p:nvPr/>
        </p:nvSpPr>
        <p:spPr>
          <a:xfrm>
            <a:off x="5577840" y="2660904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Aged item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2743200"/>
            <a:ext cx="182880" cy="182880"/>
          </a:xfrm>
          <a:prstGeom prst="rect">
            <a:avLst/>
          </a:prstGeom>
        </p:spPr>
      </p:pic>
      <p:sp>
        <p:nvSpPr>
          <p:cNvPr id="28" name="Aged items title"/>
          <p:cNvSpPr txBox="1"/>
          <p:nvPr/>
        </p:nvSpPr>
        <p:spPr>
          <a:xfrm>
            <a:off x="6016752" y="2642616"/>
            <a:ext cx="5559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Items pending ≥ 31 days, by review status</a:t>
            </a:r>
            <a:endParaRPr lang="en-US" sz="1600" dirty="0"/>
          </a:p>
        </p:txBody>
      </p:sp>
      <p:graphicFrame>
        <p:nvGraphicFramePr>
          <p:cNvPr id="29" name="Aged items chart" descr=""/>
          <p:cNvGraphicFramePr/>
          <p:nvPr/>
        </p:nvGraphicFramePr>
        <p:xfrm>
          <a:off x="5532120" y="3108960"/>
          <a:ext cx="6062472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73952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gihaz Document Governance Dashboard">
  <a:themeElements>
    <a:clrScheme name="Algihaz Document Governance Dashboard">
      <a:dk1>
        <a:srgbClr val="3A3A3B"/>
      </a:dk1>
      <a:lt1>
        <a:srgbClr val="FFFFFF"/>
      </a:lt1>
      <a:dk2>
        <a:srgbClr val="582C83"/>
      </a:dk2>
      <a:lt2>
        <a:srgbClr val="F3EFF7"/>
      </a:lt2>
      <a:accent1>
        <a:srgbClr val="582C83"/>
      </a:accent1>
      <a:accent2>
        <a:srgbClr val="EB9823"/>
      </a:accent2>
      <a:accent3>
        <a:srgbClr val="06AEBB"/>
      </a:accent3>
      <a:accent4>
        <a:srgbClr val="A43C96"/>
      </a:accent4>
      <a:accent5>
        <a:srgbClr val="2E7D32"/>
      </a:accent5>
      <a:accent6>
        <a:srgbClr val="C0392B"/>
      </a:accent6>
      <a:hlink>
        <a:srgbClr val="582C83"/>
      </a:hlink>
      <a:folHlink>
        <a:srgbClr val="A43C96"/>
      </a:folHlink>
    </a:clrScheme>
    <a:fontScheme name="Algihaz Document Governance Dash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Document Governance Dashboard</dc:title>
  <dc:subject>PptxGenJS Presentation</dc:subject>
  <dc:creator>Algihaz QA/QC</dc:creator>
  <cp:lastModifiedBy>Algihaz QA/QC</cp:lastModifiedBy>
  <cp:revision>1</cp:revision>
  <dcterms:created xsi:type="dcterms:W3CDTF">2026-10-18T11:00:21Z</dcterms:created>
  <dcterms:modified xsi:type="dcterms:W3CDTF">2026-10-18T11:00:21Z</dcterms:modified>
</cp:coreProperties>
</file>