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75" r:id="rId6"/>
    <p:sldId id="276" r:id="rId25"/>
    <p:sldId id="277" r:id="rId26"/>
    <p:sldId id="278" r:id="rId27"/>
    <p:sldId id="279" r:id="rId28"/>
    <p:sldId id="262" r:id="rId7"/>
    <p:sldId id="263" r:id="rId8"/>
    <p:sldId id="264" r:id="rId9"/>
    <p:sldId id="265" r:id="rId10"/>
    <p:sldId id="266" r:id="rId11"/>
    <p:sldId id="267" r:id="rId12"/>
    <p:sldId id="280" r:id="rId29"/>
    <p:sldId id="281" r:id="rId30"/>
    <p:sldId id="268" r:id="rId13"/>
    <p:sldId id="269" r:id="rId14"/>
    <p:sldId id="282" r:id="rId31"/>
    <p:sldId id="283" r:id="rId32"/>
    <p:sldId id="270" r:id="rId15"/>
    <p:sldId id="271" r:id="rId16"/>
    <p:sldId id="273" r:id="rId18"/>
    <p:sldId id="274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23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No: QAM-IA-100265-RPT-26-0001  |  Audit Ref: QAM-IA/26-001</a:t>
            </a:r>
            <a:endParaRPr lang="en-US" sz="9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5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AuditPhoto0" Type="http://schemas.openxmlformats.org/officeDocument/2006/relationships/image" Target="../media/audit-photo-13-0.pn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2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AuditPhoto0" Type="http://schemas.openxmlformats.org/officeDocument/2006/relationships/image" Target="../media/audit-photo-13-0.png"/><Relationship Id="rIdAuditPhoto0" Type="http://schemas.openxmlformats.org/officeDocument/2006/relationships/image" Target="../media/audit-photo-25-0.png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AuditPhoto0" Type="http://schemas.openxmlformats.org/officeDocument/2006/relationships/image" Target="../media/audit-photo-13-0.png"/><Relationship Id="rIdAuditPhoto0" Type="http://schemas.openxmlformats.org/officeDocument/2006/relationships/image" Target="../media/audit-photo-26-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3291840"/>
            <a:ext cx="6766560" cy="67665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640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731520"/>
            <a:ext cx="1408176" cy="62179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057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46888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977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Process audits against ISO 9001:2015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01-01-2026 – 05-01-2026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5257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REVISION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55046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CONTROL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control and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PAGE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1627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information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title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1031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Audit Report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7432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no.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743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3832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023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40233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663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owner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46634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5303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194560" y="530352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quality internal audits conducted by Algihaz auditors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5778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50734"/>
              </p:ext>
            </p:extLst>
          </p:nvPr>
        </p:nvGraphicFramePr>
        <p:xfrm>
          <a:off x="5577840" y="1783080"/>
          <a:ext cx="6062472" cy="2066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and title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Noura Alharbi / QC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5778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history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677852"/>
              </p:ext>
            </p:extLst>
          </p:nvPr>
        </p:nvGraphicFramePr>
        <p:xfrm>
          <a:off x="5577840" y="4434840"/>
          <a:ext cx="6062472" cy="1737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of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L="73152" marR="73152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 and project profile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6276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details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title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697480" y="2103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Audit - 1 - Project 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reference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type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3108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Internal Product Audit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01-01-2026 – 05-01-2026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14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department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4114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617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 Alharbi / QC Manager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20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9748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Mishra, Sara Al-Dosari, Noura Al-Qahtani / QA/QC Manager, Test User 1 / Line Engineer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623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representatives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5623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Mishra, Ajay Mishra, Ajay Mishra, Subbu Sankar, Sara Al-Dosari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463040"/>
            <a:ext cx="4416552" cy="4754880"/>
          </a:xfrm>
          <a:prstGeom prst="roundRect">
            <a:avLst>
              <a:gd name="adj" fmla="val 248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16276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profile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32688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6700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191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/ project no.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326880" y="3191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No 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3712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signed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32688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12-05-2024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423367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period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423367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754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326880" y="4754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15-05-2024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527608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326880" y="52760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20-05-2024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5760720"/>
            <a:ext cx="16780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3</a:t>
            </a:r>
            <a:endParaRPr lang="en-US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710C952D-D831-EA31-A5D2-F34DE5BBA519}"/>
              </a:ext>
            </a:extLst>
          </p:cNvPr>
          <p:cNvSpPr txBox="1"/>
          <p:nvPr/>
        </p:nvSpPr>
        <p:spPr>
          <a:xfrm>
            <a:off x="9326880" y="572903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25-05-2024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scope, criteria and method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81051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to control the floodings. To create awareness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286664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scope: System and Process audits against ISO 9001:2015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 / not audited, and why: To be mapped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and sample covered: Screenshot 2026-10-18 231543.png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2026-09-06 101611.png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clock.png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AFIF PV- 1_BiWeekly Report Summary  (16-JUNE-2026 to 30-JUNE-2026)_page-0001.jpg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fast-time.png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audit-plan-4804f2c3-ed3e-417b-ab43-2bc6c3acb948 (2).pdf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phases covered: Project management and organization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engineering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and documentation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material control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and site works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commissioning</a:t>
            </a: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288536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17136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0580" y="2866644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111496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criteria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4517136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— All clauses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28432" y="2560320"/>
            <a:ext cx="3611880" cy="36576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3DD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257032" y="274320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476" y="2866644"/>
            <a:ext cx="210312" cy="21031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851392" y="28163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57032" y="338328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To be mapped</a:t>
            </a:r>
            <a:endParaRPr lang="en-US" sz="14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basis: To be mapped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4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(01-01-2026 – 05-01-2026)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1 Jan 2026, 10:05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Opening Meeting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Introduction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Plan for the Internal Audit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1 Jan 2026, 10:05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 scope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Resources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Auditing /Reporting methods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1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1 Jan 2026, 10:05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Type of Audit Finding / Grading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To be mapped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Jan 2026, 12:05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Cost Control Department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Review of Process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Department Organization Chart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Jan 2026, 12:05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Cost Control Objectives achievements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KPI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Implementation Review of Cost Control 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Mishra, Sara Al-Dosari, Noura </a:t>
            </a:r>
            <a:endParaRPr lang="en-US" sz="1100"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Al-Qahtani / QA/QC Manager, Test User 1 </a:t>
            </a:r>
            <a:endParaRPr lang="en-US" sz="1100" dirty="0"/>
          </a:p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Line Engineer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 Manager</a:t>
            </a:r>
            <a:endParaRPr lang="en-US" sz="1100" dirty="0"/>
          </a:p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Lead / Auditor</a:t>
            </a:r>
            <a:endParaRPr lang="en-US" sz="1100" dirty="0"/>
          </a:p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Communication</a:t>
            </a:r>
            <a:endParaRPr lang="en-US" sz="1100" dirty="0"/>
          </a:p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Product Owner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results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087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788920" cy="1325880"/>
          </a:xfrm>
          <a:prstGeom prst="roundRect">
            <a:avLst>
              <a:gd name="adj" fmla="val 827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3794760" y="15087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8288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56032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380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2971800"/>
            <a:ext cx="178308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9050">
            <a:solidFill>
              <a:srgbClr val="5877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301752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87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7033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4873752" cy="2651760"/>
          </a:xfrm>
          <a:prstGeom prst="roundRect">
            <a:avLst>
              <a:gd name="adj" fmla="val 41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040880" y="16276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RATING: Effective with improvements required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9933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0" y="2276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met; improvements only.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6791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with improvements required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9626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needed on non-conformities.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3649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effective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36484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or systemic failures of the system or controls.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343400"/>
            <a:ext cx="5806440" cy="1874520"/>
          </a:xfrm>
          <a:prstGeom prst="roundRect">
            <a:avLst>
              <a:gd name="adj" fmla="val 5854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22960" y="4498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4773168"/>
            <a:ext cx="5257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0" y="4343400"/>
            <a:ext cx="5056632" cy="1874520"/>
          </a:xfrm>
          <a:prstGeom prst="roundRect">
            <a:avLst>
              <a:gd name="adj" fmla="val 585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858000" y="44988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MESSAGES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773168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okau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10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summary by audit area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040880" cy="45720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and organization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3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and material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5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commissioning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0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5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5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2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4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16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00" dirty="0"/>
                        <a:t>To be mapped</a:t>
                      </a:r>
                    </a:p>
                  </a:txBody>
                  <a:tcPr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must equal the number of findings in the register.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863840" y="1463040"/>
            <a:ext cx="3776472" cy="4754880"/>
          </a:xfrm>
          <a:prstGeom prst="roundRect">
            <a:avLst>
              <a:gd name="adj" fmla="val 290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09244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THEMES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20116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6"/>
          <p:cNvSpPr txBox="1"/>
          <p:nvPr/>
        </p:nvSpPr>
        <p:spPr>
          <a:xfrm>
            <a:off x="80924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23317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 · okay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92440" y="33832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8092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3703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92440" y="4754880"/>
            <a:ext cx="457200" cy="457200"/>
          </a:xfrm>
          <a:prstGeom prst="ellipse">
            <a:avLst/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0924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6868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50" b="1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686800" y="50749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11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project progress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772400" cy="4279392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Preparation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4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3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-1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2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&amp; Design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25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15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-10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5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 &amp; Material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10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5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-5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3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Commissioning &amp; Energization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Close-out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0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250" dirty="0"/>
                        <a:t>To be mapped</a:t>
                      </a: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3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at: To be mapped    Source: To be mapped</a:t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1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595360" y="1463040"/>
            <a:ext cx="3044952" cy="2103120"/>
          </a:xfrm>
          <a:prstGeom prst="roundRect">
            <a:avLst>
              <a:gd name="adj" fmla="val 521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823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</a:t>
            </a:r>
            <a:endParaRPr lang="en-US" sz="1300" dirty="0"/>
          </a:p>
        </p:txBody>
      </p:sp>
      <p:sp>
        <p:nvSpPr>
          <p:cNvPr id="6" name="Text 7"/>
          <p:cNvSpPr txBox="1"/>
          <p:nvPr/>
        </p:nvSpPr>
        <p:spPr>
          <a:xfrm>
            <a:off x="8823960" y="192024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= Actual − Plan, in percentage points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must total 100%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= Σ (weight × phase progress)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595360" y="3749040"/>
            <a:ext cx="3044952" cy="2468880"/>
          </a:xfrm>
          <a:prstGeom prst="roundRect">
            <a:avLst>
              <a:gd name="adj" fmla="val 4444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8823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comment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823960" y="420624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12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procurement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01000" y="310896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C8A02A"/>
          </a:solidFill>
          <a:ln w="12700">
            <a:solidFill>
              <a:srgbClr val="C8A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001000" y="310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99632" y="1463040"/>
            <a:ext cx="5440680" cy="4754880"/>
          </a:xfrm>
          <a:prstGeom prst="roundRect">
            <a:avLst>
              <a:gd name="adj" fmla="val 230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submittals (DTS)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65960"/>
          <a:ext cx="4983480" cy="226771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16.34%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16.34%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14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9.15%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14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9.15%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Review(U/R)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16.34%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32.68%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submittals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153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777240" y="43434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Check: sum of statuses equals total submittals</a:t>
            </a:r>
            <a:endParaRPr lang="en-US" sz="1150" dirty="0"/>
          </a:p>
        </p:txBody>
      </p:sp>
      <p:sp>
        <p:nvSpPr>
          <p:cNvPr id="9" name="Shape 8"/>
          <p:cNvSpPr/>
          <p:nvPr/>
        </p:nvSpPr>
        <p:spPr>
          <a:xfrm>
            <a:off x="777240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914400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ok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965960"/>
          <a:ext cx="4983480" cy="25511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items tracked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order issued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manufacturing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14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completed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 pending / report under 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56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Shipped / in transit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25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Received at 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14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>
                      <a:norm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planned receipt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50" dirty="0"/>
                        <a:t>20</a:t>
                      </a:r>
                    </a:p>
                  </a:txBody>
                  <a:tcPr marL="73152" marR="73152" marT="18288" marB="1828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428232" y="4709160"/>
            <a:ext cx="49834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565392" y="4818888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Comment: ok</a:t>
            </a: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13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CONFORMING AREAS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verified as conforming and good practices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312724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/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verified and found conforming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/ evidence 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Co-ordination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4632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77240" y="50749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5223053"/>
            <a:ext cx="252374" cy="25237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4983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practices and positive observations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54480" y="5321808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· Co-ordination · To be mapped · ok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14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REGISTER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and organization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2026-10-18 231543.png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and organization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engineering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2026-09-06 101611.png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Inspected materials have defects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fast-time.png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for improvement (OFI)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Opportunities for improvement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and material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and material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commissioning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commissioning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OFI does not require a formal corrective action response; the auditee decides and records its response.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18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AuditPhoto0"/>
          <a:stretch>
            <a:fillRect/>
          </a:stretch>
        </p:blipFill>
        <p:spPr>
          <a:xfrm>
            <a:off x="548640" y="1463040"/>
            <a:ext cx="544068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2026-10-18 231543.png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B.1.1   Grade: Moderate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Chennai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Test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1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To be mapped   Grade: To be mapped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19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AND RESPONSE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grades and response requirements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 root-cause analysis and CAPA plan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07208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990088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reviews and accepts plan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65776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248656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248656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implemented with evidence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24344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7507224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507224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 verified by auditors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82912" y="1463040"/>
            <a:ext cx="2057400" cy="1188720"/>
          </a:xfrm>
          <a:prstGeom prst="roundRect">
            <a:avLst>
              <a:gd name="adj" fmla="val 9231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765792" y="157276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9765792" y="201168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closed in tracker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1672" cy="285292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9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requirement (days from report issue)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27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of a required control, or a condition that could compromise the integrity, safety or performance of the works or the system.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containment. CAPA plan within 7 days; closure within 30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800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departure from a specified requirement that could affect quality if left uncorrected.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45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77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lapse or documentation gap with low immediate impact.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 plan within 14 days; closure within 60 days.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suggestion; not a breach of a requirement.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Auditee decides and records its response; reviewed at the next audit.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and response windows are proposed for approval of this standard.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22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 action tracker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352544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Correction and corrective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  <a:r>
                        <a:rPr lang="en-US" sz="1100" dirty="0"/>
                        <a:t>To be mapped</a:t>
                      </a: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Open, In progress, Implemented, Verified, Closed. Use the same reference numbers as the register.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23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priority actions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C0273B"/>
          </a:solidFill>
          <a:ln w="12700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 the risk 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88536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17136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E3800B"/>
          </a:solidFill>
          <a:ln w="12700">
            <a:solidFill>
              <a:srgbClr val="E380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517136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and close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17136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28432" y="146304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57032" y="1664208"/>
            <a:ext cx="3154680" cy="365760"/>
          </a:xfrm>
          <a:prstGeom prst="roundRect">
            <a:avLst>
              <a:gd name="adj" fmla="val 50000"/>
            </a:avLst>
          </a:prstGeom>
          <a:solidFill>
            <a:srgbClr val="47237F"/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57032" y="16642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recurrence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57032" y="228600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  <a:p>
            <a:pPr marL="177800" indent="-177800">
              <a:spcAft>
                <a:spcPts val="1600"/>
              </a:spcAft>
              <a:buSzPct val="100000"/>
              <a:buChar char="•"/>
            </a:pPr>
            <a:r>
              <a:rPr lang="en-US" sz="14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[Action]  ([NC ref])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11091672" cy="457200"/>
          </a:xfrm>
          <a:prstGeom prst="roundRect">
            <a:avLst>
              <a:gd name="adj" fmla="val 24000"/>
            </a:avLst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requires a documented root cause and corrective action plan; Major findings are actioned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2B1257"/>
          </a:solidFill>
          <a:ln w="12700">
            <a:solidFill>
              <a:srgbClr val="2B12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480560"/>
            <a:ext cx="4572000" cy="4572000"/>
          </a:xfrm>
          <a:prstGeom prst="ellipse">
            <a:avLst/>
          </a:prstGeom>
          <a:solidFill>
            <a:srgbClr val="47237F">
              <a:alpha val="6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685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058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Conclusion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029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okay</a:t>
            </a: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audit: 2026-05-05 · Usual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 date: To be mapped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CD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To be mapped</a:t>
            </a:r>
            <a:r>
              <a:rPr lang="en-US" sz="1250" i="1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548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1234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auditor: Noura Alharbi / QC Manager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9202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3" name="Shape 11"/>
          <p:cNvSpPr/>
          <p:nvPr/>
        </p:nvSpPr>
        <p:spPr>
          <a:xfrm>
            <a:off x="10058400" y="19202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766560" y="19568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1956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2331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by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2606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2918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19" name="Shape 17"/>
          <p:cNvSpPr/>
          <p:nvPr/>
        </p:nvSpPr>
        <p:spPr>
          <a:xfrm>
            <a:off x="10058400" y="32918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0" name="Text 18"/>
          <p:cNvSpPr txBox="1"/>
          <p:nvPr/>
        </p:nvSpPr>
        <p:spPr>
          <a:xfrm>
            <a:off x="6766560" y="3328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33284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703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766560" y="46634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5" name="Shape 23"/>
          <p:cNvSpPr/>
          <p:nvPr/>
        </p:nvSpPr>
        <p:spPr>
          <a:xfrm>
            <a:off x="10058400" y="46634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6766560" y="47000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0" y="4700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0749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Acknowledged by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766560" y="5349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766560" y="6035040"/>
            <a:ext cx="29260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31" name="Shape 29"/>
          <p:cNvSpPr/>
          <p:nvPr/>
        </p:nvSpPr>
        <p:spPr>
          <a:xfrm>
            <a:off x="10058400" y="6035040"/>
            <a:ext cx="1554480" cy="0"/>
          </a:xfrm>
          <a:prstGeom prst="line">
            <a:avLst/>
          </a:prstGeom>
          <a:noFill/>
          <a:ln w="9525">
            <a:solidFill>
              <a:srgbClr val="6A6480"/>
            </a:solidFill>
            <a:prstDash val="solid"/>
          </a:ln>
        </p:spPr>
        <p:txBody>
          <a:bodyPr>
            <a:normAutofit/>
          </a:bodyPr>
          <a:lstStyle/>
          <a:p>
            <a:endParaRPr lang="en-US"/>
            <a:r>
              <a:rPr lang="en-US"/>
              <a:t>To be mapped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6766560" y="6071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0" y="60716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2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926080"/>
            <a:ext cx="6035040" cy="6035040"/>
          </a:xfrm>
          <a:prstGeom prst="ellipse">
            <a:avLst/>
          </a:prstGeom>
          <a:solidFill>
            <a:srgbClr val="47237F">
              <a:alpha val="4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377440" y="4206240"/>
            <a:ext cx="5852160" cy="5852160"/>
          </a:xfrm>
          <a:prstGeom prst="ellipse">
            <a:avLst/>
          </a:prstGeom>
          <a:solidFill>
            <a:srgbClr val="47237F">
              <a:alpha val="75000"/>
            </a:srgbClr>
          </a:solidFill>
          <a:ln w="12700">
            <a:solidFill>
              <a:srgbClr val="4723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097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Report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8A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 (TICK THOSE INCLUDED)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 / programme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926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attendance sheet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checklists and working notes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35661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566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forms and CAPA responses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2062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CD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206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records and reports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92640" y="56692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2" y="5760720"/>
            <a:ext cx="1408176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(01-01-2026 – 05-01-2026)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Jan 2026, 12:05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SOPs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Review of All Algihaz projects documents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 Cost Control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Jan 2026, 12:05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Verify close out of previous audit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its effective implementation.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Records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Jan 2026, 12:05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Controls of Document System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Suggestions and Improvements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2 Jan 2026, 12:05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To be mapped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 Jan 2026, 15:05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Procurement Department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List of Approved SEC Suppliers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Procurement Process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(01-01-2026 – 05-01-2026)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 Jan 2026, 15:05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Supplier Evaluation/Approval Status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Procurement Key Milestones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 Jan 2026, 15:05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Achievements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Material Receiving Inspection Process\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Records of Material Receiving at site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3 Jan 2026, 09:05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3 Jan 2026, 15:05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Records of Procurement Non- Conformities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To be mapped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5 Jan 2026, 10:05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5 Jan 2026, 14:05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Design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1. List of Approved Project 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Companies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5 Jan 2026, 10:05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5 Jan 2026, 14:05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 Consultant Approval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Design Process Procedure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Design Schedule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(01-01-2026 – 05-01-2026)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5 Jan 2026, 10:05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5 Jan 2026, 14:05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Design Schedule Approval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Design Engineer’s Approval Status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Key Milestones /Achievements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5 Jan 2026, 10:05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5 Jan 2026, 14:05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List of overall Drawings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Record of Design Modifications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Record of Technical Queries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5 Jan 2026, 10:05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5 Jan 2026, 14:05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To be mapped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01-01-2026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Opening meeting (recorded)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Test Minutes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Audit Program Manager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01-01-2026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Lead / Auditor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Communication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Product Owner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programme and participation</a:t>
            </a:r>
            <a:endParaRPr lang="en-US" sz="2800" dirty="0"/>
          </a:p>
        </p:txBody>
      </p:sp>
      <p:pic>
        <p:nvPicPr>
          <p:cNvPr id="4" name="Image 0" descr="/home/claude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310896"/>
            <a:ext cx="1051560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QAM-IA/26-001 | Project A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55680" y="647395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programme (01-01-2026 – 05-01-2026)</a:t>
            </a:r>
            <a:r>
              <a:rPr lang="en-US" sz="1500" b="1" dirty="0" err="1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41832" y="2057400"/>
            <a:ext cx="0" cy="3429000"/>
          </a:xfrm>
          <a:prstGeom prst="line">
            <a:avLst/>
          </a:prstGeom>
          <a:noFill/>
          <a:ln w="254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95528" y="205740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325880" y="189280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05-01-2026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25300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Closing meeting (recorded)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Remarks: ok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Auditee: Audit Program Manager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5528" y="292608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1325880" y="276148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05-01-2026</a:t>
            </a:r>
            <a:endParaRPr lang="en-US" sz="1100" dirty="0"/>
          </a:p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To be mapped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12168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 Lead / Auditor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Communication</a:t>
            </a:r>
            <a:endParaRPr lang="en-US" sz="1050" dirty="0"/>
          </a:p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/ Product Owner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95528" y="3794760"/>
            <a:ext cx="292608" cy="292608"/>
          </a:xfrm>
          <a:prstGeom prst="ellipse">
            <a:avLst/>
          </a:prstGeom>
          <a:solidFill>
            <a:srgbClr val="DCD2E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325880" y="363016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325880" y="399036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95528" y="466344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25880" y="485904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95528" y="5532120"/>
            <a:ext cx="292608" cy="292608"/>
          </a:xfrm>
          <a:prstGeom prst="ellipse">
            <a:avLst/>
          </a:prstGeom>
          <a:solidFill>
            <a:srgbClr val="47237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1325880" y="5367528"/>
            <a:ext cx="448056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5727728"/>
            <a:ext cx="4480560" cy="48000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1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400800" y="1463040"/>
            <a:ext cx="5239512" cy="1417320"/>
          </a:xfrm>
          <a:prstGeom prst="roundRect">
            <a:avLst>
              <a:gd name="adj" fmla="val 7742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629400" y="16459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844" y="1769364"/>
            <a:ext cx="210312" cy="21031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2694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7269480" y="1993392"/>
            <a:ext cx="420624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400800" y="3063240"/>
            <a:ext cx="5239512" cy="1600200"/>
          </a:xfrm>
          <a:prstGeom prst="roundRect">
            <a:avLst>
              <a:gd name="adj" fmla="val 685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6629400" y="3246120"/>
            <a:ext cx="457200" cy="457200"/>
          </a:xfrm>
          <a:prstGeom prst="ellipse">
            <a:avLst/>
          </a:prstGeom>
          <a:solidFill>
            <a:srgbClr val="DCD2EF"/>
          </a:solidFill>
          <a:ln w="12700">
            <a:solidFill>
              <a:srgbClr val="DCD2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844" y="3369564"/>
            <a:ext cx="210312" cy="210312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26948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Auditees present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7269480" y="3593592"/>
            <a:ext cx="4206240" cy="10058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6400800" y="4846320"/>
            <a:ext cx="523951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27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6629400" y="5029200"/>
            <a:ext cx="457200" cy="457200"/>
          </a:xfrm>
          <a:prstGeom prst="ellipse">
            <a:avLst/>
          </a:prstGeom>
          <a:solidFill>
            <a:srgbClr val="FBE4E7"/>
          </a:solidFill>
          <a:ln w="12700">
            <a:solidFill>
              <a:srgbClr val="FBE4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844" y="5152644"/>
            <a:ext cx="210312" cy="210312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7269480" y="5010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C027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represented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7269480" y="5349240"/>
            <a:ext cx="4206240" cy="777240"/>
          </a:xfrm>
          <a:prstGeom prst="rect">
            <a:avLst/>
          </a:prstGeom>
          <a:noFill/>
          <a:ln/>
        </p:spPr>
        <p:txBody>
          <a:bodyPr wrap="none" lIns="0" tIns="0" rIns="0" bIns="0" rtlCol="0" anchor="t" vertOverflow="clip" horzOverflow="clip">
            <a:noAutofit/>
          </a:bodyPr>
          <a:lstStyle/>
          <a:p>
            <a:pPr marL="0" indent="0">
              <a:buNone/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REGISTER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commissioning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 and commissioning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Construction and site works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QMS and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16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NON-CONFORMITY REGISTER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Non-conformities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151376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 evidence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723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 gridSpan="5"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Non-conformities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tc hMerge="1">
                  <a:txBody>
                    <a:bodyPr>
                      <a:normAutofit/>
                    </a:bodyPr>
                    <a:lstStyle/>
                    <a:p>
                      <a:endParaRPr lang="en-US"/>
                      <a:r>
                        <a:rPr lang="en-US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and organization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 and organization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engineering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and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4723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D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indent="0" algn="ctr">
                        <a:buNone/>
                      </a:pPr>
                      <a:r>
                        <a:rPr lang="en-US" sz="1100" b="1" i="1" dirty="0">
                          <a:solidFill>
                            <a:srgbClr val="6E5F9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mapped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254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7220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 i="1" dirty="0">
                <a:solidFill>
                  <a:srgbClr val="6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17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AuditPhoto0"/>
          <a:stretch>
            <a:fillRect/>
          </a:stretch>
        </p:blipFill>
        <p:spPr>
          <a:xfrm>
            <a:off x="548640" y="1463040"/>
            <a:ext cx="544068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2026-09-06 101611.png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B.2.1   Grade: Major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Chennai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Test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2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To be mapped   Grade: To be mapped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20</a:t>
            </a:r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365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4723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3" hasCustomPrompt="1"/>
          </p:nvPr>
        </p:nvSpPr>
        <p:spPr>
          <a:xfrm>
            <a:off x="548640" y="62179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Photographic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AuditPhoto0"/>
          <a:stretch>
            <a:fillRect/>
          </a:stretch>
        </p:blipFill>
        <p:spPr>
          <a:xfrm>
            <a:off x="548640" y="1463040"/>
            <a:ext cx="5440680" cy="3017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fast-time.png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B.3.1   Grade: Moderate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Chennai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Inspected materials have defects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5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9632" y="1463040"/>
            <a:ext cx="5440680" cy="3017520"/>
          </a:xfrm>
          <a:prstGeom prst="rect">
            <a:avLst/>
          </a:prstGeom>
          <a:solidFill>
            <a:srgbClr val="F3EEFA"/>
          </a:solidFill>
          <a:ln w="15875">
            <a:solidFill>
              <a:srgbClr val="A99BC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2" y="2331720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30175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199632" y="3310128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mapped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199632" y="461772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To be mapped   Grade: To be mapped   Date: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199632" y="493776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6199632" y="525780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199632" y="580644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24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To be mapped</a:t>
            </a:r>
            <a:r>
              <a:rPr lang="en-US" sz="1250" i="1" dirty="0">
                <a:solidFill>
                  <a:srgbClr val="6E5F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48463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>
            <a:normAutofit/>
          </a:bodyPr>
          <a:lstStyle>
            <a:lvl1pPr>
              <a:defRPr sz="900">
                <a:solidFill>
                  <a:srgbClr val="6A64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b="0"/>
              <a:t>21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2330</Words>
  <Application>Microsoft Office PowerPoint</Application>
  <PresentationFormat>Widescreen</PresentationFormat>
  <Paragraphs>489</Paragraphs>
  <Slides>25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Document control and approval</vt:lpstr>
      <vt:lpstr>Audit details and project profile</vt:lpstr>
      <vt:lpstr>Objective, scope, criteria and method</vt:lpstr>
      <vt:lpstr>PowerPoint Presentation</vt:lpstr>
      <vt:lpstr>Audit results at a glance</vt:lpstr>
      <vt:lpstr>Findings summary by audit area</vt:lpstr>
      <vt:lpstr>Overall project progress</vt:lpstr>
      <vt:lpstr>Design and procurement status</vt:lpstr>
      <vt:lpstr>Areas verified as conforming and good practices</vt:lpstr>
      <vt:lpstr>Non-conformities</vt:lpstr>
      <vt:lpstr>Opportunities for improvement (OFI)</vt:lpstr>
      <vt:lpstr>Photographic evidence</vt:lpstr>
      <vt:lpstr>Finding grades and response requirements</vt:lpstr>
      <vt:lpstr>Corrective action tracker</vt:lpstr>
      <vt:lpstr>Recommended priority actions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Internal Audit Report - Standard Format</dc:title>
  <dc:subject>PptxGenJS Presentation</dc:subject>
  <dc:creator>Algihaz Holding - Quality Assurance</dc:creator>
  <cp:lastModifiedBy>Abdulkarim Alanazi</cp:lastModifiedBy>
  <cp:revision>2</cp:revision>
  <dcterms:created xsi:type="dcterms:W3CDTF">2026-09-21T08:33:37Z</dcterms:created>
  <dcterms:modified xsi:type="dcterms:W3CDTF">2026-09-21T09:19:38Z</dcterms:modified>
</cp:coreProperties>
</file>