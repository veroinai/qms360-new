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9" r:id="rId4"/>
    <p:sldId id="260" r:id="rId5"/>
    <p:sldId id="275" r:id="rId6"/>
    <p:sldId id="276" r:id="rId25"/>
    <p:sldId id="277" r:id="rId26"/>
    <p:sldId id="262" r:id="rId7"/>
    <p:sldId id="263" r:id="rId8"/>
    <p:sldId id="264" r:id="rId9"/>
    <p:sldId id="265" r:id="rId10"/>
    <p:sldId id="278" r:id="rId27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17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742315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img/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7040" y="310896"/>
            <a:ext cx="1051560" cy="46268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647395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Internal Audit Report  |  [Audit Ref]  |  [Project / process name]</a:t>
            </a:r>
            <a:endParaRPr lang="en-US" sz="900" dirty="0"/>
          </a:p>
        </p:txBody>
      </p:sp>
      <p:sp>
        <p:nvSpPr>
          <p:cNvPr id="4" name="Text 1"/>
          <p:cNvSpPr>
            <a:spLocks noGrp="1"/>
          </p:cNvSpPr>
          <p:nvPr>
            <p:ph type="body" idx="102" hasCustomPrompt="1"/>
          </p:nvPr>
        </p:nvSpPr>
        <p:spPr>
          <a:xfrm>
            <a:off x="548640" y="365760"/>
            <a:ext cx="6858000" cy="2286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100" b="1" kern="0" spc="200" dirty="0">
                <a:solidFill>
                  <a:srgbClr val="472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marL="0" indent="0" algn="l">
              <a:buNone/>
            </a:pPr>
            <a:endParaRPr lang="en-US" sz="1100" dirty="0"/>
          </a:p>
        </p:txBody>
      </p:sp>
      <p:sp>
        <p:nvSpPr>
          <p:cNvPr id="5" name="Text 1"/>
          <p:cNvSpPr>
            <a:spLocks noGrp="1"/>
          </p:cNvSpPr>
          <p:nvPr>
            <p:ph type="title" idx="103" hasCustomPrompt="1"/>
          </p:nvPr>
        </p:nvSpPr>
        <p:spPr>
          <a:xfrm>
            <a:off x="548640" y="621792"/>
            <a:ext cx="978408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800" b="1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marL="0" indent="0" algn="l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484632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A64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484632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A64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
<Relationships xmlns="http://schemas.openxmlformats.org/package/2006/relationships"><Relationship Id="rId3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20.xml.rels><?xml version="1.0" encoding="UTF-8" standalone="yes"?>
<Relationships xmlns="http://schemas.openxmlformats.org/package/2006/relationships"><Relationship Id="rId3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B125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377440" y="3291840"/>
            <a:ext cx="6766560" cy="6766560"/>
          </a:xfrm>
          <a:prstGeom prst="ellipse">
            <a:avLst/>
          </a:prstGeom>
          <a:solidFill>
            <a:srgbClr val="47237F">
              <a:alpha val="75000"/>
            </a:srgbClr>
          </a:solidFill>
          <a:ln w="12700">
            <a:solidFill>
              <a:srgbClr val="47237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503920" y="-2926080"/>
            <a:ext cx="6035040" cy="6035040"/>
          </a:xfrm>
          <a:prstGeom prst="ellipse">
            <a:avLst/>
          </a:prstGeom>
          <a:solidFill>
            <a:srgbClr val="47237F">
              <a:alpha val="45000"/>
            </a:srgbClr>
          </a:solidFill>
          <a:ln w="12700">
            <a:solidFill>
              <a:srgbClr val="47237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31520" y="640080"/>
            <a:ext cx="1737360" cy="82296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/home/claude/img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" y="731520"/>
            <a:ext cx="1408176" cy="62179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31520" y="20574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CDB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INTERNAL AUDIT REPORT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2468880"/>
            <a:ext cx="9601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A</a:t>
            </a:r>
            <a:endParaRPr lang="en-US" sz="40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397764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600" i="1" dirty="0">
                <a:solidFill>
                  <a:srgbClr val="CDB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and Process audits against ISO 9001:2015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731520" y="525780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C8A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REFERENCE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731520" y="550468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QAM-IA/26-001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3474720" y="525780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C8A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DATES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3474720" y="550468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01-09-2026 – 10-09-2026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6217920" y="525780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C8A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/ PROJECT NO.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6217920" y="550468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15" name="Text 12"/>
          <p:cNvSpPr txBox="1"/>
          <p:nvPr/>
        </p:nvSpPr>
        <p:spPr>
          <a:xfrm>
            <a:off x="8961120" y="525780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C8A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REVISION</a:t>
            </a:r>
            <a:endParaRPr lang="en-US" sz="1000" dirty="0"/>
          </a:p>
        </p:txBody>
      </p:sp>
      <p:sp>
        <p:nvSpPr>
          <p:cNvPr id="16" name="Text 13"/>
          <p:cNvSpPr txBox="1"/>
          <p:nvPr/>
        </p:nvSpPr>
        <p:spPr>
          <a:xfrm>
            <a:off x="8961120" y="550468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be mapped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body" idx="102" hasCustomPrompt="1"/>
          </p:nvPr>
        </p:nvSpPr>
        <p:spPr>
          <a:xfrm>
            <a:off x="548640" y="36576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472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CONTROL</a:t>
            </a:r>
            <a:endParaRPr lang="en-US" sz="1100" dirty="0"/>
          </a:p>
        </p:txBody>
      </p:sp>
      <p:sp>
        <p:nvSpPr>
          <p:cNvPr id="3" name="Text 1"/>
          <p:cNvSpPr>
            <a:spLocks noGrp="1"/>
          </p:cNvSpPr>
          <p:nvPr>
            <p:ph type="title" idx="103" hasCustomPrompt="1"/>
          </p:nvPr>
        </p:nvSpPr>
        <p:spPr>
          <a:xfrm>
            <a:off x="548640" y="621792"/>
            <a:ext cx="9784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control and approval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001000" y="310896"/>
            <a:ext cx="2377440" cy="274320"/>
          </a:xfrm>
          <a:prstGeom prst="roundRect">
            <a:avLst>
              <a:gd name="adj" fmla="val 50000"/>
            </a:avLst>
          </a:prstGeom>
          <a:solidFill>
            <a:srgbClr val="C8A02A"/>
          </a:solidFill>
          <a:ln w="12700">
            <a:solidFill>
              <a:srgbClr val="C8A0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8001000" y="31089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PAGE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4754880" cy="4754880"/>
          </a:xfrm>
          <a:prstGeom prst="roundRect">
            <a:avLst>
              <a:gd name="adj" fmla="val 2308"/>
            </a:avLst>
          </a:prstGeom>
          <a:solidFill>
            <a:srgbClr val="F3EEFA"/>
          </a:solidFill>
          <a:ln w="12700">
            <a:solidFill>
              <a:srgbClr val="F3EE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777240" y="162763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472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information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1031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6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title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2194560" y="210312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Internal Audit Report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27432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6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no.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2194560" y="274320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300" i="1" dirty="0">
                <a:solidFill>
                  <a:srgbClr val="6E5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be mapped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777240" y="33832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6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Revision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2194560" y="338328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300" i="1" dirty="0">
                <a:solidFill>
                  <a:srgbClr val="6E5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be mapped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777240" y="40233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6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Effective date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2194560" y="402336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300" i="1" dirty="0">
                <a:solidFill>
                  <a:srgbClr val="6E5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be mapped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777240" y="46634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6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owner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2194560" y="466344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300" i="1" dirty="0">
                <a:solidFill>
                  <a:srgbClr val="6E5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be mapped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777240" y="53035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6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Applies to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2194560" y="530352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be mapped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5577840" y="1463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472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</a:t>
            </a:r>
            <a:endParaRPr lang="en-US" sz="15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450734"/>
              </p:ext>
            </p:extLst>
          </p:nvPr>
        </p:nvGraphicFramePr>
        <p:xfrm>
          <a:off x="5577840" y="1783080"/>
          <a:ext cx="6062472" cy="2066544"/>
        </p:xfrm>
        <a:graphic>
          <a:graphicData uri="http://schemas.openxmlformats.org/drawingml/2006/table">
            <a:tbl>
              <a:tblPr/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361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7237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 and title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7237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Signature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7237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723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>
                      <a:normAutofit/>
                    </a:bodyPr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mapped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>
                        <a:buNone/>
                      </a:pPr>
                      <a:r>
                        <a:rPr lang="en-US" sz="1200" i="1" dirty="0">
                          <a:solidFill>
                            <a:srgbClr val="6E5F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mapped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200" dirty="0"/>
                        <a:t>To be mapped</a:t>
                      </a:r>
                    </a:p>
                  </a:txBody>
                  <a:tcPr marL="73152" marR="73152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200" dirty="0"/>
                        <a:t>To be mapped</a:t>
                      </a:r>
                    </a:p>
                  </a:txBody>
                  <a:tcPr marL="73152" marR="73152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>
                      <a:normAutofit/>
                    </a:bodyPr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mapped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>
                        <a:buNone/>
                      </a:pPr>
                      <a:r>
                        <a:rPr lang="en-US" sz="1200" i="1" dirty="0">
                          <a:solidFill>
                            <a:srgbClr val="6E5F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mapped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200" dirty="0"/>
                        <a:t>To be mapped</a:t>
                      </a:r>
                    </a:p>
                  </a:txBody>
                  <a:tcPr marL="73152" marR="73152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200" dirty="0"/>
                        <a:t>To be mapped</a:t>
                      </a:r>
                    </a:p>
                  </a:txBody>
                  <a:tcPr marL="73152" marR="73152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>
                      <a:normAutofit/>
                    </a:bodyPr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mapped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>
                        <a:buNone/>
                      </a:pPr>
                      <a:r>
                        <a:rPr lang="en-US" sz="1200" i="1" dirty="0">
                          <a:solidFill>
                            <a:srgbClr val="6E5F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mapped</a:t>
                      </a: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200" dirty="0"/>
                        <a:t>To be mapped</a:t>
                      </a:r>
                    </a:p>
                  </a:txBody>
                  <a:tcPr marL="73152" marR="73152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200" dirty="0"/>
                        <a:t>To be mapped</a:t>
                      </a:r>
                    </a:p>
                  </a:txBody>
                  <a:tcPr marL="73152" marR="73152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2" name="Text 19"/>
          <p:cNvSpPr txBox="1"/>
          <p:nvPr/>
        </p:nvSpPr>
        <p:spPr>
          <a:xfrm>
            <a:off x="5577840" y="4114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472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Revision history</a:t>
            </a:r>
            <a:endParaRPr lang="en-US" sz="1500" dirty="0"/>
          </a:p>
        </p:txBody>
      </p:sp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0677852"/>
              </p:ext>
            </p:extLst>
          </p:nvPr>
        </p:nvGraphicFramePr>
        <p:xfrm>
          <a:off x="5577840" y="4434840"/>
          <a:ext cx="6062472" cy="1737360"/>
        </p:xfrm>
        <a:graphic>
          <a:graphicData uri="http://schemas.openxmlformats.org/drawingml/2006/table">
            <a:tbl>
              <a:tblPr/>
              <a:tblGrid>
                <a:gridCol w="640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418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7237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7237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 of change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7237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723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>
                      <a:normAutofit/>
                    </a:bodyPr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mapped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>
                        <a:buNone/>
                      </a:pPr>
                      <a:r>
                        <a:rPr lang="en-US" sz="1200" i="1" dirty="0">
                          <a:solidFill>
                            <a:srgbClr val="6E5F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mapped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mapped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>
                        <a:buNone/>
                      </a:pPr>
                      <a:r>
                        <a:rPr lang="en-US" sz="1200" i="1" dirty="0">
                          <a:solidFill>
                            <a:srgbClr val="6E5F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mapped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>
                      <a:normAutofit/>
                    </a:bodyPr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200" dirty="0"/>
                        <a:t>To be mapped</a:t>
                      </a:r>
                    </a:p>
                  </a:txBody>
                  <a:tcPr marL="73152" marR="73152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200" dirty="0"/>
                        <a:t>To be mapped</a:t>
                      </a:r>
                    </a:p>
                  </a:txBody>
                  <a:tcPr marL="73152" marR="73152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200" dirty="0"/>
                        <a:t>To be mapped</a:t>
                      </a:r>
                    </a:p>
                  </a:txBody>
                  <a:tcPr marL="73152" marR="73152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200" dirty="0"/>
                        <a:t>To be mapped</a:t>
                      </a:r>
                    </a:p>
                  </a:txBody>
                  <a:tcPr marL="73152" marR="73152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>
                      <a:normAutofit/>
                    </a:bodyPr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200" dirty="0"/>
                        <a:t>To be mapped</a:t>
                      </a:r>
                    </a:p>
                  </a:txBody>
                  <a:tcPr marL="73152" marR="73152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200" dirty="0"/>
                        <a:t>To be mapped</a:t>
                      </a:r>
                    </a:p>
                  </a:txBody>
                  <a:tcPr marL="73152" marR="73152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200" dirty="0"/>
                        <a:t>To be mapped</a:t>
                      </a:r>
                    </a:p>
                  </a:txBody>
                  <a:tcPr marL="73152" marR="73152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200" dirty="0"/>
                        <a:t>To be mapped</a:t>
                      </a:r>
                    </a:p>
                  </a:txBody>
                  <a:tcPr marL="73152" marR="73152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484632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>
            <a:normAutofit/>
          </a:bodyPr>
          <a:lstStyle>
            <a:lvl1pPr>
              <a:defRPr sz="900">
                <a:solidFill>
                  <a:srgbClr val="6A64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r>
              <a:rPr lang="en-US" b="0"/>
              <a:t>2</a:t>
            </a:r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body" idx="102" hasCustomPrompt="1"/>
          </p:nvPr>
        </p:nvSpPr>
        <p:spPr>
          <a:xfrm>
            <a:off x="548640" y="36576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472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OVERVIEW</a:t>
            </a:r>
            <a:endParaRPr lang="en-US" sz="1100" dirty="0"/>
          </a:p>
        </p:txBody>
      </p:sp>
      <p:sp>
        <p:nvSpPr>
          <p:cNvPr id="3" name="Text 1"/>
          <p:cNvSpPr>
            <a:spLocks noGrp="1"/>
          </p:cNvSpPr>
          <p:nvPr>
            <p:ph type="title" idx="103" hasCustomPrompt="1"/>
          </p:nvPr>
        </p:nvSpPr>
        <p:spPr>
          <a:xfrm>
            <a:off x="548640" y="621792"/>
            <a:ext cx="9784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details and project profile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6400800" cy="4754880"/>
          </a:xfrm>
          <a:prstGeom prst="roundRect">
            <a:avLst>
              <a:gd name="adj" fmla="val 2308"/>
            </a:avLst>
          </a:prstGeom>
          <a:solidFill>
            <a:srgbClr val="F3EEFA"/>
          </a:solidFill>
          <a:ln w="12700">
            <a:solidFill>
              <a:srgbClr val="F3EE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822960" y="162763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472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details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1031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6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title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2697480" y="210312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300" i="1" dirty="0">
                <a:solidFill>
                  <a:srgbClr val="6E5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Audit - 1 - Project A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6060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6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reference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2697480" y="260604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300" i="1" dirty="0">
                <a:solidFill>
                  <a:srgbClr val="6E5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QAM-IA/26-001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310896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6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type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2697480" y="31089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Internal Product Audit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36118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6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dates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2697480" y="361188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300" i="1" dirty="0">
                <a:solidFill>
                  <a:srgbClr val="6E5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01-09-2026 – 10-09-2026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411480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6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 / department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2697480" y="411480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300" i="1" dirty="0">
                <a:solidFill>
                  <a:srgbClr val="6E5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Chennai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822960" y="46177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6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auditor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2697480" y="461772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300" i="1" dirty="0">
                <a:solidFill>
                  <a:srgbClr val="6E5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Subbu Sankar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51206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6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team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2697480" y="512064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300" i="1" dirty="0">
                <a:solidFill>
                  <a:srgbClr val="6E5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Noura Alharbi / QC Manager, Ajay Mishra, Test User 1 / Line Engineer, Fahad Al-Mutairi, Ajay Mishra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822960" y="562356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6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Auditee representatives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2697480" y="56235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300" i="1" dirty="0">
                <a:solidFill>
                  <a:srgbClr val="6E5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Ajay Mishra, Subbu Sankar, Sara Al-Dosari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7223760" y="1463040"/>
            <a:ext cx="4416552" cy="4754880"/>
          </a:xfrm>
          <a:prstGeom prst="roundRect">
            <a:avLst>
              <a:gd name="adj" fmla="val 2484"/>
            </a:avLst>
          </a:prstGeom>
          <a:solidFill>
            <a:srgbClr val="2B1257"/>
          </a:solidFill>
          <a:ln w="12700">
            <a:solidFill>
              <a:srgbClr val="2B1257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3" name="Text 21"/>
          <p:cNvSpPr txBox="1"/>
          <p:nvPr/>
        </p:nvSpPr>
        <p:spPr>
          <a:xfrm>
            <a:off x="7498080" y="162763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CDB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profile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7498080" y="21488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CDB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9326880" y="21488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300" i="1" dirty="0">
                <a:solidFill>
                  <a:srgbClr val="CDB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be mapped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7498080" y="267004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CDB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Contractor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9326880" y="267004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300" i="1" dirty="0">
                <a:solidFill>
                  <a:srgbClr val="CDB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be mapped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7498080" y="3191256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CDB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/ project no.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9326880" y="3191256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300" i="1" dirty="0">
                <a:solidFill>
                  <a:srgbClr val="CDB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7498080" y="3712464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CDB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signed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9326880" y="3712464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300" i="1" dirty="0">
                <a:solidFill>
                  <a:srgbClr val="CDB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be mapped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7498080" y="423367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CDB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period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9326880" y="423367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300" i="1" dirty="0">
                <a:solidFill>
                  <a:srgbClr val="CDB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be mapped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7498080" y="47548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CDB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TCC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9326880" y="47548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300" i="1" dirty="0">
                <a:solidFill>
                  <a:srgbClr val="CDB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be mapped</a:t>
            </a:r>
            <a:endParaRPr lang="en-US" sz="1300" dirty="0"/>
          </a:p>
        </p:txBody>
      </p:sp>
      <p:sp>
        <p:nvSpPr>
          <p:cNvPr id="36" name="Text 34"/>
          <p:cNvSpPr txBox="1"/>
          <p:nvPr/>
        </p:nvSpPr>
        <p:spPr>
          <a:xfrm>
            <a:off x="7498080" y="527608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CDB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9326880" y="527608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300" i="1" dirty="0">
                <a:solidFill>
                  <a:srgbClr val="CDB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be mapped</a:t>
            </a:r>
            <a:endParaRPr lang="en-US" sz="1300" dirty="0"/>
          </a:p>
        </p:txBody>
      </p:sp>
      <p:sp>
        <p:nvSpPr>
          <p:cNvPr id="38" name="Text 36"/>
          <p:cNvSpPr txBox="1"/>
          <p:nvPr/>
        </p:nvSpPr>
        <p:spPr>
          <a:xfrm>
            <a:off x="7498080" y="5760720"/>
            <a:ext cx="16780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00" b="1" dirty="0">
                <a:solidFill>
                  <a:srgbClr val="CDB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</a:t>
            </a:r>
          </a:p>
          <a:p>
            <a:pPr marL="0" indent="0">
              <a:buNone/>
            </a:pPr>
            <a:endParaRPr lang="en-US" sz="1000" dirty="0"/>
          </a:p>
        </p:txBody>
      </p:sp>
      <p:sp>
        <p:nvSpPr>
          <p:cNvPr id="3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484632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>
            <a:normAutofit/>
          </a:bodyPr>
          <a:lstStyle>
            <a:lvl1pPr>
              <a:defRPr sz="900">
                <a:solidFill>
                  <a:srgbClr val="6A64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r>
              <a:rPr lang="en-US" b="0"/>
              <a:t>3</a:t>
            </a:r>
            <a:endParaRPr lang="en-US"/>
          </a:p>
        </p:txBody>
      </p:sp>
      <p:sp>
        <p:nvSpPr>
          <p:cNvPr id="41" name="Text 35">
            <a:extLst>
              <a:ext uri="{FF2B5EF4-FFF2-40B4-BE49-F238E27FC236}">
                <a16:creationId xmlns:a16="http://schemas.microsoft.com/office/drawing/2014/main" id="{710C952D-D831-EA31-A5D2-F34DE5BBA519}"/>
              </a:ext>
            </a:extLst>
          </p:cNvPr>
          <p:cNvSpPr txBox="1"/>
          <p:nvPr/>
        </p:nvSpPr>
        <p:spPr>
          <a:xfrm>
            <a:off x="9326880" y="5729037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300" i="1" dirty="0">
                <a:solidFill>
                  <a:srgbClr val="CDB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be mapped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body" idx="102" hasCustomPrompt="1"/>
          </p:nvPr>
        </p:nvSpPr>
        <p:spPr>
          <a:xfrm>
            <a:off x="548640" y="36576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472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OVERVIEW</a:t>
            </a:r>
            <a:endParaRPr lang="en-US" sz="1100" dirty="0"/>
          </a:p>
        </p:txBody>
      </p:sp>
      <p:sp>
        <p:nvSpPr>
          <p:cNvPr id="3" name="Text 1"/>
          <p:cNvSpPr>
            <a:spLocks noGrp="1"/>
          </p:cNvSpPr>
          <p:nvPr>
            <p:ph type="title" idx="103" hasCustomPrompt="1"/>
          </p:nvPr>
        </p:nvSpPr>
        <p:spPr>
          <a:xfrm>
            <a:off x="548640" y="621792"/>
            <a:ext cx="9784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Objective, scope, criteria and method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3EEFA"/>
          </a:solidFill>
          <a:ln w="12700">
            <a:solidFill>
              <a:srgbClr val="F3EE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822960" y="157276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472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1810512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350" i="1" dirty="0">
                <a:solidFill>
                  <a:srgbClr val="6E5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be mapped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2560320"/>
            <a:ext cx="3611880" cy="3657600"/>
          </a:xfrm>
          <a:prstGeom prst="roundRect">
            <a:avLst>
              <a:gd name="adj" fmla="val 3038"/>
            </a:avLst>
          </a:prstGeom>
          <a:solidFill>
            <a:srgbClr val="FFFFFF"/>
          </a:solidFill>
          <a:ln w="12700">
            <a:solidFill>
              <a:srgbClr val="E3DD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777240" y="2743200"/>
            <a:ext cx="457200" cy="457200"/>
          </a:xfrm>
          <a:prstGeom prst="ellipse">
            <a:avLst/>
          </a:prstGeom>
          <a:solidFill>
            <a:srgbClr val="DCD2EF"/>
          </a:solidFill>
          <a:ln w="12700">
            <a:solidFill>
              <a:srgbClr val="DCD2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0684" y="2866644"/>
            <a:ext cx="210312" cy="210312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371600" y="2816352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72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777240" y="3383280"/>
            <a:ext cx="32004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spcAft>
                <a:spcPts val="900"/>
              </a:spcAft>
              <a:buNone/>
            </a:pPr>
            <a:r>
              <a:rPr lang="en-US" sz="1400" b="1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scope: System and Process audits against ISO 9001:2015</a:t>
            </a:r>
            <a:r>
              <a:rPr lang="en-US" sz="1400" i="1" dirty="0">
                <a:solidFill>
                  <a:srgbClr val="6E5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4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400" b="1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in scope / not audited, and why: To be mapped</a:t>
            </a:r>
            <a:r>
              <a:rPr lang="en-US" sz="1400" i="1" dirty="0">
                <a:solidFill>
                  <a:srgbClr val="6E5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4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400" b="1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 and sample covered: To be mapped</a:t>
            </a:r>
            <a:r>
              <a:rPr lang="en-US" sz="1400" i="1" dirty="0">
                <a:solidFill>
                  <a:srgbClr val="6E5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4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400" b="1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phases covered: To be mapped</a:t>
            </a:r>
            <a:r>
              <a:rPr lang="en-US" sz="1400" i="1" dirty="0">
                <a:solidFill>
                  <a:srgbClr val="6E5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4288536" y="2560320"/>
            <a:ext cx="3611880" cy="3657600"/>
          </a:xfrm>
          <a:prstGeom prst="roundRect">
            <a:avLst>
              <a:gd name="adj" fmla="val 3038"/>
            </a:avLst>
          </a:prstGeom>
          <a:solidFill>
            <a:srgbClr val="FFFFFF"/>
          </a:solidFill>
          <a:ln w="12700">
            <a:solidFill>
              <a:srgbClr val="E3DD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4517136" y="2743200"/>
            <a:ext cx="457200" cy="457200"/>
          </a:xfrm>
          <a:prstGeom prst="ellipse">
            <a:avLst/>
          </a:prstGeom>
          <a:solidFill>
            <a:srgbClr val="DCD2EF"/>
          </a:solidFill>
          <a:ln w="12700">
            <a:solidFill>
              <a:srgbClr val="DCD2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0580" y="2866644"/>
            <a:ext cx="210312" cy="210312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5111496" y="2816352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72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criteria</a:t>
            </a:r>
            <a:endParaRPr lang="en-US" sz="1600" dirty="0"/>
          </a:p>
        </p:txBody>
      </p:sp>
      <p:sp>
        <p:nvSpPr>
          <p:cNvPr id="16" name="Text 12"/>
          <p:cNvSpPr txBox="1"/>
          <p:nvPr/>
        </p:nvSpPr>
        <p:spPr>
          <a:xfrm>
            <a:off x="4517136" y="3383280"/>
            <a:ext cx="32004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spcAft>
                <a:spcPts val="900"/>
              </a:spcAft>
              <a:buNone/>
            </a:pPr>
            <a:r>
              <a:rPr lang="en-US" sz="1400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9001 — All clauses</a:t>
            </a:r>
            <a:endParaRPr lang="en-US" sz="1400" dirty="0"/>
          </a:p>
        </p:txBody>
      </p:sp>
      <p:sp>
        <p:nvSpPr>
          <p:cNvPr id="17" name="Shape 13"/>
          <p:cNvSpPr/>
          <p:nvPr/>
        </p:nvSpPr>
        <p:spPr>
          <a:xfrm>
            <a:off x="8028432" y="2560320"/>
            <a:ext cx="3611880" cy="3657600"/>
          </a:xfrm>
          <a:prstGeom prst="roundRect">
            <a:avLst>
              <a:gd name="adj" fmla="val 3038"/>
            </a:avLst>
          </a:prstGeom>
          <a:solidFill>
            <a:srgbClr val="FFFFFF"/>
          </a:solidFill>
          <a:ln w="12700">
            <a:solidFill>
              <a:srgbClr val="E3DD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4"/>
          <p:cNvSpPr/>
          <p:nvPr/>
        </p:nvSpPr>
        <p:spPr>
          <a:xfrm>
            <a:off x="8257032" y="2743200"/>
            <a:ext cx="457200" cy="457200"/>
          </a:xfrm>
          <a:prstGeom prst="ellipse">
            <a:avLst/>
          </a:prstGeom>
          <a:solidFill>
            <a:srgbClr val="DCD2EF"/>
          </a:solidFill>
          <a:ln w="12700">
            <a:solidFill>
              <a:srgbClr val="DCD2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0476" y="2866644"/>
            <a:ext cx="210312" cy="210312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8851392" y="2816352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72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</a:t>
            </a:r>
            <a:endParaRPr lang="en-US" sz="1600" dirty="0"/>
          </a:p>
        </p:txBody>
      </p:sp>
      <p:sp>
        <p:nvSpPr>
          <p:cNvPr id="21" name="Text 16"/>
          <p:cNvSpPr txBox="1"/>
          <p:nvPr/>
        </p:nvSpPr>
        <p:spPr>
          <a:xfrm>
            <a:off x="8257032" y="3383280"/>
            <a:ext cx="32004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spcAft>
                <a:spcPts val="900"/>
              </a:spcAft>
              <a:buNone/>
            </a:pPr>
            <a:r>
              <a:rPr lang="en-US" sz="1400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Method: To be mapped</a:t>
            </a:r>
            <a:endParaRPr lang="en-US" sz="14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400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Sampling basis: To be mapped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484632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>
            <a:normAutofit/>
          </a:bodyPr>
          <a:lstStyle>
            <a:lvl1pPr>
              <a:defRPr sz="900">
                <a:solidFill>
                  <a:srgbClr val="6A64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r>
              <a:rPr lang="en-US" b="0"/>
              <a:t>4</a:t>
            </a:r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472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OVERVIEW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9784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programme and participation</a:t>
            </a:r>
            <a:endParaRPr lang="en-US" sz="2800" dirty="0"/>
          </a:p>
        </p:txBody>
      </p:sp>
      <p:pic>
        <p:nvPicPr>
          <p:cNvPr id="4" name="Image 0" descr="/home/claude/img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07040" y="310896"/>
            <a:ext cx="1051560" cy="46268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7395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6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QAM-IA/26-001 | Project A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1155680" y="6473952"/>
            <a:ext cx="4846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6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463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472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programme (01-09-2026 – 10-09-2026)</a:t>
            </a:r>
            <a:r>
              <a:rPr lang="en-US" sz="1500" b="1" dirty="0" err="1">
                <a:solidFill>
                  <a:srgbClr val="472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r>
              <a:rPr lang="en-US" sz="1500" b="1" dirty="0">
                <a:solidFill>
                  <a:srgbClr val="472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941832" y="2057400"/>
            <a:ext cx="0" cy="3429000"/>
          </a:xfrm>
          <a:prstGeom prst="line">
            <a:avLst/>
          </a:prstGeom>
          <a:noFill/>
          <a:ln w="25400">
            <a:solidFill>
              <a:srgbClr val="DCD2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795528" y="2057400"/>
            <a:ext cx="292608" cy="292608"/>
          </a:xfrm>
          <a:prstGeom prst="ellipse">
            <a:avLst/>
          </a:prstGeom>
          <a:solidFill>
            <a:srgbClr val="47237F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 txBox="1"/>
          <p:nvPr/>
        </p:nvSpPr>
        <p:spPr>
          <a:xfrm>
            <a:off x="1325880" y="1892808"/>
            <a:ext cx="448056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 vertOverflow="clip" horzOverflow="clip">
            <a:noAutofit/>
          </a:bodyPr>
          <a:lstStyle/>
          <a:p>
            <a:pPr marL="0" indent="0">
              <a:buNone/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00" b="1" dirty="0">
                <a:solidFill>
                  <a:srgbClr val="472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Start: 1 Sep 2026, 14:51</a:t>
            </a:r>
            <a:endParaRPr lang="en-US" sz="1100" dirty="0"/>
          </a:p>
          <a:p>
            <a:pPr marL="0" indent="0">
              <a:buNone/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00" b="1" dirty="0">
                <a:solidFill>
                  <a:srgbClr val="472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End: 2 Sep 2026, 14:51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1325880" y="2253008"/>
            <a:ext cx="4480560" cy="480000"/>
          </a:xfrm>
          <a:prstGeom prst="rect">
            <a:avLst/>
          </a:prstGeom>
          <a:noFill/>
          <a:ln/>
        </p:spPr>
        <p:txBody>
          <a:bodyPr wrap="none" lIns="0" tIns="0" rIns="0" bIns="0" rtlCol="0" anchor="t" vertOverflow="clip" horzOverflow="clip">
            <a:noAutofit/>
          </a:bodyPr>
          <a:lstStyle/>
          <a:p>
            <a:pPr marL="0" indent="0">
              <a:buNone/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50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Activity: opening_meeting</a:t>
            </a:r>
            <a:endParaRPr lang="en-US" sz="1050" dirty="0"/>
          </a:p>
          <a:p>
            <a:pPr marL="0" indent="0">
              <a:buNone/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50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Remarks: 1. Introduction</a:t>
            </a:r>
            <a:endParaRPr lang="en-US" sz="1050" dirty="0"/>
          </a:p>
          <a:p>
            <a:pPr marL="0" indent="0">
              <a:buNone/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50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Plan for the Internal Audit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795528" y="2926080"/>
            <a:ext cx="292608" cy="292608"/>
          </a:xfrm>
          <a:prstGeom prst="ellipse">
            <a:avLst/>
          </a:prstGeom>
          <a:solidFill>
            <a:srgbClr val="47237F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 txBox="1"/>
          <p:nvPr/>
        </p:nvSpPr>
        <p:spPr>
          <a:xfrm>
            <a:off x="1325880" y="2761488"/>
            <a:ext cx="448056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 vertOverflow="clip" horzOverflow="clip">
            <a:noAutofit/>
          </a:bodyPr>
          <a:lstStyle/>
          <a:p>
            <a:pPr marL="0" indent="0">
              <a:buNone/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00" b="1" dirty="0">
                <a:solidFill>
                  <a:srgbClr val="472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Start: 1 Sep 2026, 14:51</a:t>
            </a:r>
            <a:endParaRPr lang="en-US" sz="1100" dirty="0"/>
          </a:p>
          <a:p>
            <a:pPr marL="0" indent="0">
              <a:buNone/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00" b="1" dirty="0">
                <a:solidFill>
                  <a:srgbClr val="472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End: 2 Sep 2026, 14:51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1325880" y="3121688"/>
            <a:ext cx="4480560" cy="480000"/>
          </a:xfrm>
          <a:prstGeom prst="rect">
            <a:avLst/>
          </a:prstGeom>
          <a:noFill/>
          <a:ln/>
        </p:spPr>
        <p:txBody>
          <a:bodyPr wrap="none" lIns="0" tIns="0" rIns="0" bIns="0" rtlCol="0" anchor="t" vertOverflow="clip" horzOverflow="clip">
            <a:noAutofit/>
          </a:bodyPr>
          <a:lstStyle/>
          <a:p>
            <a:pPr marL="0" indent="0">
              <a:buNone/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50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Work scope</a:t>
            </a:r>
            <a:endParaRPr lang="en-US" sz="1050" dirty="0"/>
          </a:p>
          <a:p>
            <a:pPr marL="0" indent="0">
              <a:buNone/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50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Resources</a:t>
            </a:r>
            <a:endParaRPr lang="en-US" sz="1050" dirty="0"/>
          </a:p>
          <a:p>
            <a:pPr marL="0" indent="0">
              <a:buNone/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50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Auditing /Reporting methods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795528" y="3794760"/>
            <a:ext cx="292608" cy="292608"/>
          </a:xfrm>
          <a:prstGeom prst="ellipse">
            <a:avLst/>
          </a:prstGeom>
          <a:solidFill>
            <a:srgbClr val="DCD2EF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 txBox="1"/>
          <p:nvPr/>
        </p:nvSpPr>
        <p:spPr>
          <a:xfrm>
            <a:off x="1325880" y="3630168"/>
            <a:ext cx="448056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 vertOverflow="clip" horzOverflow="clip">
            <a:noAutofit/>
          </a:bodyPr>
          <a:lstStyle/>
          <a:p>
            <a:pPr marL="0" indent="0">
              <a:buNone/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00" b="1" dirty="0">
                <a:solidFill>
                  <a:srgbClr val="472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Start: 1 Sep 2026, 14:51</a:t>
            </a:r>
            <a:endParaRPr lang="en-US" sz="1100" dirty="0"/>
          </a:p>
          <a:p>
            <a:pPr marL="0" indent="0">
              <a:buNone/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00" b="1" dirty="0">
                <a:solidFill>
                  <a:srgbClr val="472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End: 2 Sep 2026, 14:51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325880" y="3990368"/>
            <a:ext cx="4480560" cy="480000"/>
          </a:xfrm>
          <a:prstGeom prst="rect">
            <a:avLst/>
          </a:prstGeom>
          <a:noFill/>
          <a:ln/>
        </p:spPr>
        <p:txBody>
          <a:bodyPr wrap="none" lIns="0" tIns="0" rIns="0" bIns="0" rtlCol="0" anchor="t" vertOverflow="clip" horzOverflow="clip">
            <a:noAutofit/>
          </a:bodyPr>
          <a:lstStyle/>
          <a:p>
            <a:pPr marL="0" indent="0">
              <a:buNone/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50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Type of Audit Finding / Grading</a:t>
            </a:r>
            <a:endParaRPr lang="en-US" sz="1050" dirty="0"/>
          </a:p>
          <a:p>
            <a:pPr marL="0" indent="0">
              <a:buNone/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50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Auditee: Fahad Al-Mutairi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795528" y="4663440"/>
            <a:ext cx="292608" cy="292608"/>
          </a:xfrm>
          <a:prstGeom prst="ellipse">
            <a:avLst/>
          </a:prstGeom>
          <a:solidFill>
            <a:srgbClr val="47237F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 txBox="1"/>
          <p:nvPr/>
        </p:nvSpPr>
        <p:spPr>
          <a:xfrm>
            <a:off x="1325880" y="4498848"/>
            <a:ext cx="448056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 vertOverflow="clip" horzOverflow="clip">
            <a:noAutofit/>
          </a:bodyPr>
          <a:lstStyle/>
          <a:p>
            <a:pPr marL="0" indent="0">
              <a:buNone/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00" b="1" dirty="0">
                <a:solidFill>
                  <a:srgbClr val="472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Start: 3 Sep 2026, 14:51</a:t>
            </a:r>
            <a:endParaRPr lang="en-US" sz="1100" dirty="0"/>
          </a:p>
          <a:p>
            <a:pPr marL="0" indent="0">
              <a:buNone/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00" b="1" dirty="0">
                <a:solidFill>
                  <a:srgbClr val="472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End: 4 Sep 2026, 14:51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1325880" y="4859048"/>
            <a:ext cx="4480560" cy="480000"/>
          </a:xfrm>
          <a:prstGeom prst="rect">
            <a:avLst/>
          </a:prstGeom>
          <a:noFill/>
          <a:ln/>
        </p:spPr>
        <p:txBody>
          <a:bodyPr wrap="none" lIns="0" tIns="0" rIns="0" bIns="0" rtlCol="0" anchor="t" vertOverflow="clip" horzOverflow="clip">
            <a:noAutofit/>
          </a:bodyPr>
          <a:lstStyle/>
          <a:p>
            <a:pPr marL="0" indent="0">
              <a:buNone/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50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Activity: procurement</a:t>
            </a:r>
            <a:endParaRPr lang="en-US" sz="1050" dirty="0"/>
          </a:p>
          <a:p>
            <a:pPr marL="0" indent="0">
              <a:buNone/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50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Remarks: 1. List of Approved SEC Suppliers</a:t>
            </a:r>
            <a:endParaRPr lang="en-US" sz="1050" dirty="0"/>
          </a:p>
          <a:p>
            <a:pPr marL="0" indent="0">
              <a:buNone/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50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Procurement Process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795528" y="5532120"/>
            <a:ext cx="292608" cy="292608"/>
          </a:xfrm>
          <a:prstGeom prst="ellipse">
            <a:avLst/>
          </a:prstGeom>
          <a:solidFill>
            <a:srgbClr val="47237F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 txBox="1"/>
          <p:nvPr/>
        </p:nvSpPr>
        <p:spPr>
          <a:xfrm>
            <a:off x="1325880" y="5367528"/>
            <a:ext cx="448056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 vertOverflow="clip" horzOverflow="clip">
            <a:noAutofit/>
          </a:bodyPr>
          <a:lstStyle/>
          <a:p>
            <a:pPr marL="0" indent="0">
              <a:buNone/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00" b="1" dirty="0">
                <a:solidFill>
                  <a:srgbClr val="472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Start: 3 Sep 2026, 14:51</a:t>
            </a:r>
            <a:endParaRPr lang="en-US" sz="1100" dirty="0"/>
          </a:p>
          <a:p>
            <a:pPr marL="0" indent="0">
              <a:buNone/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00" b="1" dirty="0">
                <a:solidFill>
                  <a:srgbClr val="472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End: 4 Sep 2026, 14:51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325880" y="5727728"/>
            <a:ext cx="4480560" cy="480000"/>
          </a:xfrm>
          <a:prstGeom prst="rect">
            <a:avLst/>
          </a:prstGeom>
          <a:noFill/>
          <a:ln/>
        </p:spPr>
        <p:txBody>
          <a:bodyPr wrap="none" lIns="0" tIns="0" rIns="0" bIns="0" rtlCol="0" anchor="t" vertOverflow="clip" horzOverflow="clip">
            <a:noAutofit/>
          </a:bodyPr>
          <a:lstStyle/>
          <a:p>
            <a:pPr marL="0" indent="0">
              <a:buNone/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50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Supplier Evaluation/Approval Status </a:t>
            </a:r>
            <a:endParaRPr lang="en-US" sz="1050" dirty="0"/>
          </a:p>
          <a:p>
            <a:pPr marL="0" indent="0">
              <a:buNone/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50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</a:t>
            </a:r>
            <a:endParaRPr lang="en-US" sz="1050" dirty="0"/>
          </a:p>
          <a:p>
            <a:pPr marL="0" indent="0">
              <a:buNone/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50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Procurement Key Milestones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6400800" y="1463040"/>
            <a:ext cx="5239512" cy="1417320"/>
          </a:xfrm>
          <a:prstGeom prst="roundRect">
            <a:avLst>
              <a:gd name="adj" fmla="val 7742"/>
            </a:avLst>
          </a:prstGeom>
          <a:solidFill>
            <a:srgbClr val="F3EEFA"/>
          </a:solidFill>
          <a:ln w="12700">
            <a:solidFill>
              <a:srgbClr val="F3EE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2"/>
          <p:cNvSpPr/>
          <p:nvPr/>
        </p:nvSpPr>
        <p:spPr>
          <a:xfrm>
            <a:off x="6629400" y="1645920"/>
            <a:ext cx="457200" cy="457200"/>
          </a:xfrm>
          <a:prstGeom prst="ellipse">
            <a:avLst/>
          </a:prstGeom>
          <a:solidFill>
            <a:srgbClr val="DCD2EF"/>
          </a:solidFill>
          <a:ln w="12700">
            <a:solidFill>
              <a:srgbClr val="DCD2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52844" y="1769364"/>
            <a:ext cx="210312" cy="210312"/>
          </a:xfrm>
          <a:prstGeom prst="rect">
            <a:avLst/>
          </a:prstGeom>
        </p:spPr>
      </p:pic>
      <p:sp>
        <p:nvSpPr>
          <p:cNvPr id="27" name="Text 23"/>
          <p:cNvSpPr txBox="1"/>
          <p:nvPr/>
        </p:nvSpPr>
        <p:spPr>
          <a:xfrm>
            <a:off x="7269480" y="16276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472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team</a:t>
            </a:r>
            <a:endParaRPr lang="en-US" sz="1500" dirty="0"/>
          </a:p>
        </p:txBody>
      </p:sp>
      <p:sp>
        <p:nvSpPr>
          <p:cNvPr id="28" name="Text 24"/>
          <p:cNvSpPr txBox="1"/>
          <p:nvPr/>
        </p:nvSpPr>
        <p:spPr>
          <a:xfrm>
            <a:off x="7269480" y="1993392"/>
            <a:ext cx="4206240" cy="731520"/>
          </a:xfrm>
          <a:prstGeom prst="rect">
            <a:avLst/>
          </a:prstGeom>
          <a:noFill/>
          <a:ln/>
        </p:spPr>
        <p:txBody>
          <a:bodyPr wrap="none" lIns="0" tIns="0" rIns="0" bIns="0" rtlCol="0" anchor="t" vertOverflow="clip" horzOverflow="clip">
            <a:noAutofit/>
          </a:bodyPr>
          <a:lstStyle/>
          <a:p>
            <a:pPr>
              <a:lnSpc>
                <a:spcPts val="125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00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Noura Alharbi / QC Manager, Ajay </a:t>
            </a:r>
            <a:endParaRPr lang="en-US" sz="1100" dirty="0"/>
          </a:p>
          <a:p>
            <a:pPr>
              <a:lnSpc>
                <a:spcPts val="125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00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Mishra, Test User 1 / Line Engineer, </a:t>
            </a:r>
            <a:endParaRPr lang="en-US" sz="1100" dirty="0"/>
          </a:p>
          <a:p>
            <a:pPr>
              <a:lnSpc>
                <a:spcPts val="125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00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Fahad Al-Mutairi, Ajay Mishra</a:t>
            </a:r>
            <a:endParaRPr lang="en-US" sz="1100" dirty="0"/>
          </a:p>
        </p:txBody>
      </p:sp>
      <p:sp>
        <p:nvSpPr>
          <p:cNvPr id="29" name="Shape 25"/>
          <p:cNvSpPr/>
          <p:nvPr/>
        </p:nvSpPr>
        <p:spPr>
          <a:xfrm>
            <a:off x="6400800" y="3063240"/>
            <a:ext cx="5239512" cy="1600200"/>
          </a:xfrm>
          <a:prstGeom prst="roundRect">
            <a:avLst>
              <a:gd name="adj" fmla="val 6857"/>
            </a:avLst>
          </a:prstGeom>
          <a:solidFill>
            <a:srgbClr val="F3EEFA"/>
          </a:solidFill>
          <a:ln w="12700">
            <a:solidFill>
              <a:srgbClr val="F3EE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6"/>
          <p:cNvSpPr/>
          <p:nvPr/>
        </p:nvSpPr>
        <p:spPr>
          <a:xfrm>
            <a:off x="6629400" y="3246120"/>
            <a:ext cx="457200" cy="457200"/>
          </a:xfrm>
          <a:prstGeom prst="ellipse">
            <a:avLst/>
          </a:prstGeom>
          <a:solidFill>
            <a:srgbClr val="DCD2EF"/>
          </a:solidFill>
          <a:ln w="12700">
            <a:solidFill>
              <a:srgbClr val="DCD2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52844" y="3369564"/>
            <a:ext cx="210312" cy="210312"/>
          </a:xfrm>
          <a:prstGeom prst="rect">
            <a:avLst/>
          </a:prstGeom>
        </p:spPr>
      </p:pic>
      <p:sp>
        <p:nvSpPr>
          <p:cNvPr id="32" name="Text 27"/>
          <p:cNvSpPr txBox="1"/>
          <p:nvPr/>
        </p:nvSpPr>
        <p:spPr>
          <a:xfrm>
            <a:off x="7269480" y="32278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472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Auditees present</a:t>
            </a:r>
            <a:endParaRPr lang="en-US" sz="1500" dirty="0"/>
          </a:p>
        </p:txBody>
      </p:sp>
      <p:sp>
        <p:nvSpPr>
          <p:cNvPr id="33" name="Text 28"/>
          <p:cNvSpPr txBox="1"/>
          <p:nvPr/>
        </p:nvSpPr>
        <p:spPr>
          <a:xfrm>
            <a:off x="7269480" y="3593592"/>
            <a:ext cx="4206240" cy="1005840"/>
          </a:xfrm>
          <a:prstGeom prst="rect">
            <a:avLst/>
          </a:prstGeom>
          <a:noFill/>
          <a:ln/>
        </p:spPr>
        <p:txBody>
          <a:bodyPr wrap="none" lIns="0" tIns="0" rIns="0" bIns="0" rtlCol="0" anchor="t" vertOverflow="clip" horzOverflow="clip">
            <a:noAutofit/>
          </a:bodyPr>
          <a:lstStyle/>
          <a:p>
            <a:pPr marL="0" indent="0">
              <a:buNone/>
              <a:lnSpc>
                <a:spcPts val="125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00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Ajay Mishra, Subbu Sankar, Sara </a:t>
            </a:r>
            <a:endParaRPr lang="en-US" sz="1100" dirty="0"/>
          </a:p>
          <a:p>
            <a:pPr marL="0" indent="0">
              <a:buNone/>
              <a:lnSpc>
                <a:spcPts val="125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00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Al-Dosari</a:t>
            </a:r>
            <a:endParaRPr lang="en-US" sz="1100" dirty="0"/>
          </a:p>
        </p:txBody>
      </p:sp>
      <p:sp>
        <p:nvSpPr>
          <p:cNvPr id="34" name="Shape 29"/>
          <p:cNvSpPr/>
          <p:nvPr/>
        </p:nvSpPr>
        <p:spPr>
          <a:xfrm>
            <a:off x="6400800" y="4846320"/>
            <a:ext cx="5239512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027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0"/>
          <p:cNvSpPr/>
          <p:nvPr/>
        </p:nvSpPr>
        <p:spPr>
          <a:xfrm>
            <a:off x="6629400" y="5029200"/>
            <a:ext cx="457200" cy="457200"/>
          </a:xfrm>
          <a:prstGeom prst="ellipse">
            <a:avLst/>
          </a:prstGeom>
          <a:solidFill>
            <a:srgbClr val="FBE4E7"/>
          </a:solidFill>
          <a:ln w="12700">
            <a:solidFill>
              <a:srgbClr val="FBE4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52844" y="5152644"/>
            <a:ext cx="210312" cy="210312"/>
          </a:xfrm>
          <a:prstGeom prst="rect">
            <a:avLst/>
          </a:prstGeom>
        </p:spPr>
      </p:pic>
      <p:sp>
        <p:nvSpPr>
          <p:cNvPr id="37" name="Text 31"/>
          <p:cNvSpPr txBox="1"/>
          <p:nvPr/>
        </p:nvSpPr>
        <p:spPr>
          <a:xfrm>
            <a:off x="7269480" y="501091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C027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represented</a:t>
            </a:r>
            <a:endParaRPr lang="en-US" sz="1500" dirty="0"/>
          </a:p>
        </p:txBody>
      </p:sp>
      <p:sp>
        <p:nvSpPr>
          <p:cNvPr id="38" name="Text 32"/>
          <p:cNvSpPr txBox="1"/>
          <p:nvPr/>
        </p:nvSpPr>
        <p:spPr>
          <a:xfrm>
            <a:off x="7269480" y="5349240"/>
            <a:ext cx="4206240" cy="777240"/>
          </a:xfrm>
          <a:prstGeom prst="rect">
            <a:avLst/>
          </a:prstGeom>
          <a:noFill/>
          <a:ln/>
        </p:spPr>
        <p:txBody>
          <a:bodyPr wrap="none" lIns="0" tIns="0" rIns="0" bIns="0" rtlCol="0" anchor="t" vertOverflow="clip" horzOverflow="clip">
            <a:noAutofit/>
          </a:bodyPr>
          <a:lstStyle/>
          <a:p>
            <a:pPr marL="0" indent="0">
              <a:buNone/>
              <a:lnSpc>
                <a:spcPts val="125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00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be mapped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body" idx="102" hasCustomPrompt="1"/>
          </p:nvPr>
        </p:nvSpPr>
        <p:spPr>
          <a:xfrm>
            <a:off x="548640" y="36576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472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1100" dirty="0"/>
          </a:p>
        </p:txBody>
      </p:sp>
      <p:sp>
        <p:nvSpPr>
          <p:cNvPr id="3" name="Text 1"/>
          <p:cNvSpPr>
            <a:spLocks noGrp="1"/>
          </p:cNvSpPr>
          <p:nvPr>
            <p:ph type="title" idx="103" hasCustomPrompt="1"/>
          </p:nvPr>
        </p:nvSpPr>
        <p:spPr>
          <a:xfrm>
            <a:off x="548640" y="621792"/>
            <a:ext cx="9784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results at a glance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2788920" cy="1325880"/>
          </a:xfrm>
          <a:prstGeom prst="roundRect">
            <a:avLst>
              <a:gd name="adj" fmla="val 8276"/>
            </a:avLst>
          </a:prstGeom>
          <a:solidFill>
            <a:srgbClr val="47237F"/>
          </a:solidFill>
          <a:ln w="12700">
            <a:solidFill>
              <a:srgbClr val="47237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777240" y="150876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6000" dirty="0"/>
          </a:p>
        </p:txBody>
      </p:sp>
      <p:sp>
        <p:nvSpPr>
          <p:cNvPr id="6" name="Text 4"/>
          <p:cNvSpPr txBox="1"/>
          <p:nvPr/>
        </p:nvSpPr>
        <p:spPr>
          <a:xfrm>
            <a:off x="2057400" y="182880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CD2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Non-conformities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566160" y="1463040"/>
            <a:ext cx="2788920" cy="1325880"/>
          </a:xfrm>
          <a:prstGeom prst="roundRect">
            <a:avLst>
              <a:gd name="adj" fmla="val 8276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3794760" y="150876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6000" dirty="0"/>
          </a:p>
        </p:txBody>
      </p:sp>
      <p:sp>
        <p:nvSpPr>
          <p:cNvPr id="9" name="Text 7"/>
          <p:cNvSpPr txBox="1"/>
          <p:nvPr/>
        </p:nvSpPr>
        <p:spPr>
          <a:xfrm>
            <a:off x="5029200" y="182880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Opportunities for improvement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2971800"/>
            <a:ext cx="1783080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19050">
            <a:solidFill>
              <a:srgbClr val="C027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548640" y="3017520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C027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40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370332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560320" y="2971800"/>
            <a:ext cx="1783080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19050">
            <a:solidFill>
              <a:srgbClr val="E380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2560320" y="3017520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E380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4000" dirty="0"/>
          </a:p>
        </p:txBody>
      </p:sp>
      <p:sp>
        <p:nvSpPr>
          <p:cNvPr id="15" name="Text 13"/>
          <p:cNvSpPr txBox="1"/>
          <p:nvPr/>
        </p:nvSpPr>
        <p:spPr>
          <a:xfrm>
            <a:off x="2560320" y="370332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0" y="2971800"/>
            <a:ext cx="1783080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19050">
            <a:solidFill>
              <a:srgbClr val="5877B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4572000" y="3017520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587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40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0" y="370332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Minor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766560" y="1463040"/>
            <a:ext cx="4873752" cy="2651760"/>
          </a:xfrm>
          <a:prstGeom prst="roundRect">
            <a:avLst>
              <a:gd name="adj" fmla="val 4138"/>
            </a:avLst>
          </a:prstGeom>
          <a:solidFill>
            <a:srgbClr val="F3EEFA"/>
          </a:solidFill>
          <a:ln w="12700">
            <a:solidFill>
              <a:srgbClr val="F3EE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 txBox="1"/>
          <p:nvPr/>
        </p:nvSpPr>
        <p:spPr>
          <a:xfrm>
            <a:off x="7040880" y="1627632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472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RATING: To be mapped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7040880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dirty="0">
                <a:solidFill>
                  <a:srgbClr val="472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</a:t>
            </a:r>
            <a:endParaRPr lang="en-US" sz="2200" dirty="0"/>
          </a:p>
        </p:txBody>
      </p:sp>
      <p:sp>
        <p:nvSpPr>
          <p:cNvPr id="22" name="Text 20"/>
          <p:cNvSpPr txBox="1"/>
          <p:nvPr/>
        </p:nvSpPr>
        <p:spPr>
          <a:xfrm>
            <a:off x="7498080" y="199339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Effective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7498080" y="227685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are met; improvements only.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7040880" y="2697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dirty="0">
                <a:solidFill>
                  <a:srgbClr val="472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</a:t>
            </a:r>
            <a:endParaRPr lang="en-US" sz="2200" dirty="0"/>
          </a:p>
        </p:txBody>
      </p:sp>
      <p:sp>
        <p:nvSpPr>
          <p:cNvPr id="25" name="Text 23"/>
          <p:cNvSpPr txBox="1"/>
          <p:nvPr/>
        </p:nvSpPr>
        <p:spPr>
          <a:xfrm>
            <a:off x="7498080" y="267919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Effective with improvements required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7498080" y="296265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Corrective action needed on non-conformities.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7040880" y="3383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dirty="0">
                <a:solidFill>
                  <a:srgbClr val="472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</a:t>
            </a:r>
            <a:endParaRPr lang="en-US" sz="2200" dirty="0"/>
          </a:p>
        </p:txBody>
      </p:sp>
      <p:sp>
        <p:nvSpPr>
          <p:cNvPr id="28" name="Text 26"/>
          <p:cNvSpPr txBox="1"/>
          <p:nvPr/>
        </p:nvSpPr>
        <p:spPr>
          <a:xfrm>
            <a:off x="7498080" y="336499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effective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7498080" y="364845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 or systemic failures of the system or controls.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548640" y="4343400"/>
            <a:ext cx="5806440" cy="1874520"/>
          </a:xfrm>
          <a:prstGeom prst="roundRect">
            <a:avLst>
              <a:gd name="adj" fmla="val 5854"/>
            </a:avLst>
          </a:prstGeom>
          <a:solidFill>
            <a:srgbClr val="2B1257"/>
          </a:solidFill>
          <a:ln w="12700">
            <a:solidFill>
              <a:srgbClr val="2B12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 txBox="1"/>
          <p:nvPr/>
        </p:nvSpPr>
        <p:spPr>
          <a:xfrm>
            <a:off x="822960" y="4498848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8A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CONCLUSION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822960" y="4773168"/>
            <a:ext cx="5257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00" i="1" dirty="0">
                <a:solidFill>
                  <a:srgbClr val="CDB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be mapped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6583680" y="4343400"/>
            <a:ext cx="5056632" cy="1874520"/>
          </a:xfrm>
          <a:prstGeom prst="roundRect">
            <a:avLst>
              <a:gd name="adj" fmla="val 5854"/>
            </a:avLst>
          </a:prstGeom>
          <a:solidFill>
            <a:srgbClr val="F3EEFA"/>
          </a:solidFill>
          <a:ln w="12700">
            <a:solidFill>
              <a:srgbClr val="F3EE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 txBox="1"/>
          <p:nvPr/>
        </p:nvSpPr>
        <p:spPr>
          <a:xfrm>
            <a:off x="6858000" y="449884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472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MESSAGES</a:t>
            </a:r>
            <a:endParaRPr lang="en-US" sz="1100" dirty="0"/>
          </a:p>
        </p:txBody>
      </p:sp>
      <p:sp>
        <p:nvSpPr>
          <p:cNvPr id="35" name="Text 33"/>
          <p:cNvSpPr txBox="1"/>
          <p:nvPr/>
        </p:nvSpPr>
        <p:spPr>
          <a:xfrm>
            <a:off x="6858000" y="4773168"/>
            <a:ext cx="4617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i="1" dirty="0">
                <a:solidFill>
                  <a:srgbClr val="6E5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be mapped</a:t>
            </a:r>
            <a:endParaRPr lang="en-US" sz="1300" dirty="0"/>
          </a:p>
        </p:txBody>
      </p:sp>
      <p:sp>
        <p:nvSpPr>
          <p:cNvPr id="3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484632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>
            <a:normAutofit/>
          </a:bodyPr>
          <a:lstStyle>
            <a:lvl1pPr>
              <a:defRPr sz="900">
                <a:solidFill>
                  <a:srgbClr val="6A64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r>
              <a:rPr lang="en-US" b="0"/>
              <a:t>8</a:t>
            </a:r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body" idx="102" hasCustomPrompt="1"/>
          </p:nvPr>
        </p:nvSpPr>
        <p:spPr>
          <a:xfrm>
            <a:off x="548640" y="36576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472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</a:t>
            </a:r>
            <a:endParaRPr lang="en-US" sz="1100" dirty="0"/>
          </a:p>
        </p:txBody>
      </p:sp>
      <p:sp>
        <p:nvSpPr>
          <p:cNvPr id="3" name="Text 1"/>
          <p:cNvSpPr>
            <a:spLocks noGrp="1"/>
          </p:cNvSpPr>
          <p:nvPr>
            <p:ph type="title" idx="103" hasCustomPrompt="1"/>
          </p:nvPr>
        </p:nvSpPr>
        <p:spPr>
          <a:xfrm>
            <a:off x="548640" y="621792"/>
            <a:ext cx="9784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 summary by audit area</a:t>
            </a:r>
            <a:endParaRPr lang="en-US" sz="28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7040880" cy="4572000"/>
        </p:xfrm>
        <a:graphic>
          <a:graphicData uri="http://schemas.openxmlformats.org/drawingml/2006/table">
            <a:tbl>
              <a:tblPr/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Audit area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7237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Major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C027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Moderate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3800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Minor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5877B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OFI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A9D8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723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>
                      <a:normAutofit/>
                    </a:bodyPr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4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pmo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27432" marB="27432" anchor="ctr">
                    <a:lnL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200" dirty="0"/>
                        <a:t>0</a:t>
                      </a:r>
                    </a:p>
                  </a:txBody>
                  <a:tcPr marT="27432" marB="27432" anchor="ctr">
                    <a:lnL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200" dirty="0"/>
                        <a:t>1</a:t>
                      </a:r>
                    </a:p>
                  </a:txBody>
                  <a:tcPr marT="27432" marB="27432" anchor="ctr">
                    <a:lnL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200" dirty="0"/>
                        <a:t>0</a:t>
                      </a:r>
                    </a:p>
                  </a:txBody>
                  <a:tcPr marT="27432" marB="27432" anchor="ctr">
                    <a:lnL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200" dirty="0"/>
                        <a:t>1</a:t>
                      </a:r>
                    </a:p>
                  </a:txBody>
                  <a:tcPr marT="27432" marB="27432" anchor="ctr">
                    <a:lnL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200" dirty="0"/>
                        <a:t>2</a:t>
                      </a:r>
                    </a:p>
                  </a:txBody>
                  <a:tcPr marT="27432" marB="27432" anchor="ctr">
                    <a:lnL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>
                      <a:normAutofit/>
                    </a:bodyPr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4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design_engg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27432" marB="27432" anchor="ctr">
                    <a:lnL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200" dirty="0"/>
                        <a:t>0</a:t>
                      </a:r>
                    </a:p>
                  </a:txBody>
                  <a:tcPr marT="27432" marB="27432" anchor="ctr">
                    <a:lnL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200" dirty="0"/>
                        <a:t>2</a:t>
                      </a:r>
                    </a:p>
                  </a:txBody>
                  <a:tcPr marT="27432" marB="27432" anchor="ctr">
                    <a:lnL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200" dirty="0"/>
                        <a:t>0</a:t>
                      </a:r>
                    </a:p>
                  </a:txBody>
                  <a:tcPr marT="27432" marB="27432" anchor="ctr">
                    <a:lnL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200" dirty="0"/>
                        <a:t>0</a:t>
                      </a:r>
                    </a:p>
                  </a:txBody>
                  <a:tcPr marT="27432" marB="27432" anchor="ctr">
                    <a:lnL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200" dirty="0"/>
                        <a:t>2</a:t>
                      </a:r>
                    </a:p>
                  </a:txBody>
                  <a:tcPr marT="27432" marB="27432" anchor="ctr">
                    <a:lnL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>
                      <a:normAutofit/>
                    </a:bodyPr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4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27432" marB="27432" anchor="ctr">
                    <a:lnL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200" dirty="0"/>
                        <a:t>0</a:t>
                      </a:r>
                    </a:p>
                  </a:txBody>
                  <a:tcPr marT="27432" marB="27432" anchor="ctr">
                    <a:lnL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200" dirty="0"/>
                        <a:t>3</a:t>
                      </a:r>
                    </a:p>
                  </a:txBody>
                  <a:tcPr marT="27432" marB="27432" anchor="ctr">
                    <a:lnL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200" dirty="0"/>
                        <a:t>0</a:t>
                      </a:r>
                    </a:p>
                  </a:txBody>
                  <a:tcPr marT="27432" marB="27432" anchor="ctr">
                    <a:lnL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200" dirty="0"/>
                        <a:t>1</a:t>
                      </a:r>
                    </a:p>
                  </a:txBody>
                  <a:tcPr marT="27432" marB="27432" anchor="ctr">
                    <a:lnL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200" dirty="0"/>
                        <a:t>4</a:t>
                      </a:r>
                    </a:p>
                  </a:txBody>
                  <a:tcPr marT="27432" marB="27432" anchor="ctr">
                    <a:lnL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>
                      <a:normAutofit/>
                    </a:bodyPr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4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mapped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27432" marB="27432" anchor="ctr">
                    <a:lnL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200" dirty="0"/>
                        <a:t>To be mapped</a:t>
                      </a:r>
                    </a:p>
                  </a:txBody>
                  <a:tcPr marT="27432" marB="27432" anchor="ctr">
                    <a:lnL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200" dirty="0"/>
                        <a:t>To be mapped</a:t>
                      </a:r>
                    </a:p>
                  </a:txBody>
                  <a:tcPr marT="27432" marB="27432" anchor="ctr">
                    <a:lnL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200" dirty="0"/>
                        <a:t>To be mapped</a:t>
                      </a:r>
                    </a:p>
                  </a:txBody>
                  <a:tcPr marT="27432" marB="27432" anchor="ctr">
                    <a:lnL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200" dirty="0"/>
                        <a:t>To be mapped</a:t>
                      </a:r>
                    </a:p>
                  </a:txBody>
                  <a:tcPr marT="27432" marB="27432" anchor="ctr">
                    <a:lnL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200" dirty="0"/>
                        <a:t>To be mapped</a:t>
                      </a:r>
                    </a:p>
                  </a:txBody>
                  <a:tcPr marT="27432" marB="27432" anchor="ctr">
                    <a:lnL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>
                      <a:normAutofit/>
                    </a:bodyPr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4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mapped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27432" marB="27432" anchor="ctr">
                    <a:lnL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200" dirty="0"/>
                        <a:t>To be mapped</a:t>
                      </a:r>
                    </a:p>
                  </a:txBody>
                  <a:tcPr marT="27432" marB="27432" anchor="ctr">
                    <a:lnL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200" dirty="0"/>
                        <a:t>To be mapped</a:t>
                      </a:r>
                    </a:p>
                  </a:txBody>
                  <a:tcPr marT="27432" marB="27432" anchor="ctr">
                    <a:lnL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200" dirty="0"/>
                        <a:t>To be mapped</a:t>
                      </a:r>
                    </a:p>
                  </a:txBody>
                  <a:tcPr marT="27432" marB="27432" anchor="ctr">
                    <a:lnL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200" dirty="0"/>
                        <a:t>To be mapped</a:t>
                      </a:r>
                    </a:p>
                  </a:txBody>
                  <a:tcPr marT="27432" marB="27432" anchor="ctr">
                    <a:lnL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200" dirty="0"/>
                        <a:t>To be mapped</a:t>
                      </a:r>
                    </a:p>
                  </a:txBody>
                  <a:tcPr marT="27432" marB="27432" anchor="ctr">
                    <a:lnL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>
                      <a:normAutofit/>
                    </a:bodyPr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4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mapped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27432" marB="27432" anchor="ctr">
                    <a:lnL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200" dirty="0"/>
                        <a:t>To be mapped</a:t>
                      </a:r>
                    </a:p>
                  </a:txBody>
                  <a:tcPr marT="27432" marB="27432" anchor="ctr">
                    <a:lnL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200" dirty="0"/>
                        <a:t>To be mapped</a:t>
                      </a:r>
                    </a:p>
                  </a:txBody>
                  <a:tcPr marT="27432" marB="27432" anchor="ctr">
                    <a:lnL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200" dirty="0"/>
                        <a:t>To be mapped</a:t>
                      </a:r>
                    </a:p>
                  </a:txBody>
                  <a:tcPr marT="27432" marB="27432" anchor="ctr">
                    <a:lnL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200" dirty="0"/>
                        <a:t>To be mapped</a:t>
                      </a:r>
                    </a:p>
                  </a:txBody>
                  <a:tcPr marT="27432" marB="27432" anchor="ctr">
                    <a:lnL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200" dirty="0"/>
                        <a:t>To be mapped</a:t>
                      </a:r>
                    </a:p>
                  </a:txBody>
                  <a:tcPr marT="27432" marB="27432" anchor="ctr">
                    <a:lnL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>
                      <a:normAutofit/>
                    </a:bodyPr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4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mapped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27432" marB="27432" anchor="ctr">
                    <a:lnL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200" dirty="0"/>
                        <a:t>To be mapped</a:t>
                      </a:r>
                    </a:p>
                  </a:txBody>
                  <a:tcPr marT="27432" marB="27432" anchor="ctr">
                    <a:lnL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200" dirty="0"/>
                        <a:t>To be mapped</a:t>
                      </a:r>
                    </a:p>
                  </a:txBody>
                  <a:tcPr marT="27432" marB="27432" anchor="ctr">
                    <a:lnL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200" dirty="0"/>
                        <a:t>To be mapped</a:t>
                      </a:r>
                    </a:p>
                  </a:txBody>
                  <a:tcPr marT="27432" marB="27432" anchor="ctr">
                    <a:lnL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200" dirty="0"/>
                        <a:t>To be mapped</a:t>
                      </a:r>
                    </a:p>
                  </a:txBody>
                  <a:tcPr marT="27432" marB="27432" anchor="ctr">
                    <a:lnL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200" dirty="0"/>
                        <a:t>To be mapped</a:t>
                      </a:r>
                    </a:p>
                  </a:txBody>
                  <a:tcPr marT="27432" marB="27432" anchor="ctr">
                    <a:lnL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7200">
                <a:tc>
                  <a:txBody>
                    <a:bodyPr>
                      <a:normAutofit/>
                    </a:bodyPr>
                    <a:lstStyle/>
                    <a:p>
                      <a:pPr marL="0" indent="0" algn="l">
                        <a:buNone/>
                      </a:pPr>
                      <a:r>
                        <a:rPr lang="en-US" sz="1200" i="1" dirty="0">
                          <a:solidFill>
                            <a:srgbClr val="6E5F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mapped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27432" marB="27432" anchor="ctr">
                    <a:lnL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200" dirty="0"/>
                        <a:t>To be mapped</a:t>
                      </a:r>
                    </a:p>
                  </a:txBody>
                  <a:tcPr marT="27432" marB="27432" anchor="ctr">
                    <a:lnL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200" dirty="0"/>
                        <a:t>To be mapped</a:t>
                      </a:r>
                    </a:p>
                  </a:txBody>
                  <a:tcPr marT="27432" marB="27432" anchor="ctr">
                    <a:lnL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200" dirty="0"/>
                        <a:t>To be mapped</a:t>
                      </a:r>
                    </a:p>
                  </a:txBody>
                  <a:tcPr marT="27432" marB="27432" anchor="ctr">
                    <a:lnL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200" dirty="0"/>
                        <a:t>To be mapped</a:t>
                      </a:r>
                    </a:p>
                  </a:txBody>
                  <a:tcPr marT="27432" marB="27432" anchor="ctr">
                    <a:lnL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200" dirty="0"/>
                        <a:t>To be mapped</a:t>
                      </a:r>
                    </a:p>
                  </a:txBody>
                  <a:tcPr marT="27432" marB="27432" anchor="ctr">
                    <a:lnL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57200">
                <a:tc>
                  <a:txBody>
                    <a:bodyPr>
                      <a:normAutofit/>
                    </a:bodyPr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mapped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27432" marB="27432" anchor="ctr">
                    <a:lnL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200" dirty="0"/>
                        <a:t>To be mapped</a:t>
                      </a:r>
                    </a:p>
                  </a:txBody>
                  <a:tcPr marT="27432" marB="27432" anchor="ctr">
                    <a:lnL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200" dirty="0"/>
                        <a:t>To be mapped</a:t>
                      </a:r>
                    </a:p>
                  </a:txBody>
                  <a:tcPr marT="27432" marB="27432" anchor="ctr">
                    <a:lnL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200" dirty="0"/>
                        <a:t>To be mapped</a:t>
                      </a:r>
                    </a:p>
                  </a:txBody>
                  <a:tcPr marT="27432" marB="27432" anchor="ctr">
                    <a:lnL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200" dirty="0"/>
                        <a:t>To be mapped</a:t>
                      </a:r>
                    </a:p>
                  </a:txBody>
                  <a:tcPr marT="27432" marB="27432" anchor="ctr">
                    <a:lnL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200" dirty="0"/>
                        <a:t>To be mapped</a:t>
                      </a:r>
                    </a:p>
                  </a:txBody>
                  <a:tcPr marT="27432" marB="27432" anchor="ctr">
                    <a:lnL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6035040"/>
            <a:ext cx="7040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6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Totals must equal the number of findings in the register.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7863840" y="1463040"/>
            <a:ext cx="3776472" cy="4754880"/>
          </a:xfrm>
          <a:prstGeom prst="roundRect">
            <a:avLst>
              <a:gd name="adj" fmla="val 2906"/>
            </a:avLst>
          </a:prstGeom>
          <a:solidFill>
            <a:srgbClr val="F3EEFA"/>
          </a:solidFill>
          <a:ln w="12700">
            <a:solidFill>
              <a:srgbClr val="F3EE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 txBox="1"/>
          <p:nvPr/>
        </p:nvSpPr>
        <p:spPr>
          <a:xfrm>
            <a:off x="8092440" y="1627632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472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RECURRING THEMES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8092440" y="2011680"/>
            <a:ext cx="457200" cy="457200"/>
          </a:xfrm>
          <a:prstGeom prst="ellipse">
            <a:avLst/>
          </a:prstGeom>
          <a:solidFill>
            <a:srgbClr val="47237F"/>
          </a:solidFill>
          <a:ln w="12700">
            <a:solidFill>
              <a:srgbClr val="47237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6"/>
          <p:cNvSpPr txBox="1"/>
          <p:nvPr/>
        </p:nvSpPr>
        <p:spPr>
          <a:xfrm>
            <a:off x="8092440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8686800" y="20116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350" b="1" i="1" dirty="0">
                <a:solidFill>
                  <a:srgbClr val="6E5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be mapped</a:t>
            </a:r>
            <a:endParaRPr lang="en-US" sz="1350" dirty="0"/>
          </a:p>
        </p:txBody>
      </p:sp>
      <p:sp>
        <p:nvSpPr>
          <p:cNvPr id="11" name="Text 8"/>
          <p:cNvSpPr txBox="1"/>
          <p:nvPr/>
        </p:nvSpPr>
        <p:spPr>
          <a:xfrm>
            <a:off x="8686800" y="233172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i="1" dirty="0">
                <a:solidFill>
                  <a:srgbClr val="6E5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be mapped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8092440" y="3383280"/>
            <a:ext cx="457200" cy="457200"/>
          </a:xfrm>
          <a:prstGeom prst="ellipse">
            <a:avLst/>
          </a:prstGeom>
          <a:solidFill>
            <a:srgbClr val="47237F"/>
          </a:solidFill>
          <a:ln w="12700">
            <a:solidFill>
              <a:srgbClr val="47237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 txBox="1"/>
          <p:nvPr/>
        </p:nvSpPr>
        <p:spPr>
          <a:xfrm>
            <a:off x="8092440" y="3383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8686800" y="33832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350" b="1" i="1" dirty="0">
                <a:solidFill>
                  <a:srgbClr val="6E5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be mapped</a:t>
            </a:r>
            <a:endParaRPr lang="en-US" sz="1350" dirty="0"/>
          </a:p>
        </p:txBody>
      </p:sp>
      <p:sp>
        <p:nvSpPr>
          <p:cNvPr id="15" name="Text 12"/>
          <p:cNvSpPr txBox="1"/>
          <p:nvPr/>
        </p:nvSpPr>
        <p:spPr>
          <a:xfrm>
            <a:off x="8686800" y="370332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i="1" dirty="0">
                <a:solidFill>
                  <a:srgbClr val="6E5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be mapped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8092440" y="4754880"/>
            <a:ext cx="457200" cy="457200"/>
          </a:xfrm>
          <a:prstGeom prst="ellipse">
            <a:avLst/>
          </a:prstGeom>
          <a:solidFill>
            <a:srgbClr val="47237F"/>
          </a:solidFill>
          <a:ln w="12700">
            <a:solidFill>
              <a:srgbClr val="47237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 txBox="1"/>
          <p:nvPr/>
        </p:nvSpPr>
        <p:spPr>
          <a:xfrm>
            <a:off x="8092440" y="4754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8686800" y="47548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350" b="1" i="1" dirty="0">
                <a:solidFill>
                  <a:srgbClr val="6E5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be mapped</a:t>
            </a:r>
            <a:endParaRPr lang="en-US" sz="1350" dirty="0"/>
          </a:p>
        </p:txBody>
      </p:sp>
      <p:sp>
        <p:nvSpPr>
          <p:cNvPr id="19" name="Text 16"/>
          <p:cNvSpPr txBox="1"/>
          <p:nvPr/>
        </p:nvSpPr>
        <p:spPr>
          <a:xfrm>
            <a:off x="8686800" y="507492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i="1" dirty="0">
                <a:solidFill>
                  <a:srgbClr val="6E5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be mapped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484632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>
            <a:normAutofit/>
          </a:bodyPr>
          <a:lstStyle>
            <a:lvl1pPr>
              <a:defRPr sz="900">
                <a:solidFill>
                  <a:srgbClr val="6A64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r>
              <a:rPr lang="en-US" b="0"/>
              <a:t>9</a:t>
            </a:r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body" idx="102" hasCustomPrompt="1"/>
          </p:nvPr>
        </p:nvSpPr>
        <p:spPr>
          <a:xfrm>
            <a:off x="548640" y="36576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472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STATUS</a:t>
            </a:r>
            <a:endParaRPr lang="en-US" sz="1100" dirty="0"/>
          </a:p>
        </p:txBody>
      </p:sp>
      <p:sp>
        <p:nvSpPr>
          <p:cNvPr id="3" name="Text 1"/>
          <p:cNvSpPr>
            <a:spLocks noGrp="1"/>
          </p:cNvSpPr>
          <p:nvPr>
            <p:ph type="title" idx="103" hasCustomPrompt="1"/>
          </p:nvPr>
        </p:nvSpPr>
        <p:spPr>
          <a:xfrm>
            <a:off x="548640" y="621792"/>
            <a:ext cx="9784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project progress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001000" y="310896"/>
            <a:ext cx="2377440" cy="274320"/>
          </a:xfrm>
          <a:prstGeom prst="roundRect">
            <a:avLst>
              <a:gd name="adj" fmla="val 50000"/>
            </a:avLst>
          </a:prstGeom>
          <a:solidFill>
            <a:srgbClr val="C8A02A"/>
          </a:solidFill>
          <a:ln w="12700">
            <a:solidFill>
              <a:srgbClr val="C8A0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8001000" y="31089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7772400" cy="4279392"/>
        </p:xfrm>
        <a:graphic>
          <a:graphicData uri="http://schemas.openxmlformats.org/drawingml/2006/table">
            <a:tbl>
              <a:tblPr/>
              <a:tblGrid>
                <a:gridCol w="2834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7237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Weight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7237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7237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Actual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7237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Variance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7237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 period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723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>
                      <a:normAutofit/>
                    </a:bodyPr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mapped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r>
                        <a:rPr lang="en-US" sz="1250" i="1" dirty="0">
                          <a:solidFill>
                            <a:srgbClr val="6E5F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mapped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250" dirty="0"/>
                        <a:t>To be mapped</a:t>
                      </a:r>
                    </a:p>
                  </a:txBody>
                  <a:tcPr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250" dirty="0"/>
                        <a:t>To be mapped</a:t>
                      </a:r>
                    </a:p>
                  </a:txBody>
                  <a:tcPr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250" dirty="0"/>
                        <a:t>To be mapped</a:t>
                      </a:r>
                    </a:p>
                  </a:txBody>
                  <a:tcPr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250" dirty="0"/>
                        <a:t>To be mapped</a:t>
                      </a:r>
                    </a:p>
                  </a:txBody>
                  <a:tcPr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>
                      <a:normAutofit/>
                    </a:bodyPr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mapped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r>
                        <a:rPr lang="en-US" sz="1250" i="1" dirty="0">
                          <a:solidFill>
                            <a:srgbClr val="6E5F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mapped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250" dirty="0"/>
                        <a:t>To be mapped</a:t>
                      </a:r>
                    </a:p>
                  </a:txBody>
                  <a:tcPr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250" dirty="0"/>
                        <a:t>To be mapped</a:t>
                      </a:r>
                    </a:p>
                  </a:txBody>
                  <a:tcPr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250" dirty="0"/>
                        <a:t>To be mapped</a:t>
                      </a:r>
                    </a:p>
                  </a:txBody>
                  <a:tcPr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250" dirty="0"/>
                        <a:t>To be mapped</a:t>
                      </a:r>
                    </a:p>
                  </a:txBody>
                  <a:tcPr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>
                      <a:normAutofit/>
                    </a:bodyPr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mapped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r>
                        <a:rPr lang="en-US" sz="1250" i="1" dirty="0">
                          <a:solidFill>
                            <a:srgbClr val="6E5F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mapped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250" dirty="0"/>
                        <a:t>To be mapped</a:t>
                      </a:r>
                    </a:p>
                  </a:txBody>
                  <a:tcPr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250" dirty="0"/>
                        <a:t>To be mapped</a:t>
                      </a:r>
                    </a:p>
                  </a:txBody>
                  <a:tcPr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250" dirty="0"/>
                        <a:t>To be mapped</a:t>
                      </a:r>
                    </a:p>
                  </a:txBody>
                  <a:tcPr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250" dirty="0"/>
                        <a:t>To be mapped</a:t>
                      </a:r>
                    </a:p>
                  </a:txBody>
                  <a:tcPr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>
                      <a:normAutofit/>
                    </a:bodyPr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mapped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r>
                        <a:rPr lang="en-US" sz="1250" i="1" dirty="0">
                          <a:solidFill>
                            <a:srgbClr val="6E5F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mapped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250" dirty="0"/>
                        <a:t>To be mapped</a:t>
                      </a:r>
                    </a:p>
                  </a:txBody>
                  <a:tcPr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250" dirty="0"/>
                        <a:t>To be mapped</a:t>
                      </a:r>
                    </a:p>
                  </a:txBody>
                  <a:tcPr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250" dirty="0"/>
                        <a:t>To be mapped</a:t>
                      </a:r>
                    </a:p>
                  </a:txBody>
                  <a:tcPr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250" dirty="0"/>
                        <a:t>To be mapped</a:t>
                      </a:r>
                    </a:p>
                  </a:txBody>
                  <a:tcPr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488">
                <a:tc>
                  <a:txBody>
                    <a:bodyPr>
                      <a:normAutofit/>
                    </a:bodyPr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mapped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r>
                        <a:rPr lang="en-US" sz="1250" i="1" dirty="0">
                          <a:solidFill>
                            <a:srgbClr val="6E5F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mapped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250" dirty="0"/>
                        <a:t>To be mapped</a:t>
                      </a:r>
                    </a:p>
                  </a:txBody>
                  <a:tcPr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250" dirty="0"/>
                        <a:t>To be mapped</a:t>
                      </a:r>
                    </a:p>
                  </a:txBody>
                  <a:tcPr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250" dirty="0"/>
                        <a:t>To be mapped</a:t>
                      </a:r>
                    </a:p>
                  </a:txBody>
                  <a:tcPr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250" dirty="0"/>
                        <a:t>To be mapped</a:t>
                      </a:r>
                    </a:p>
                  </a:txBody>
                  <a:tcPr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5488">
                <a:tc>
                  <a:txBody>
                    <a:bodyPr>
                      <a:normAutofit/>
                    </a:bodyPr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mapped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r>
                        <a:rPr lang="en-US" sz="1250" i="1" dirty="0">
                          <a:solidFill>
                            <a:srgbClr val="6E5F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mapped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250" dirty="0"/>
                        <a:t>To be mapped</a:t>
                      </a:r>
                    </a:p>
                  </a:txBody>
                  <a:tcPr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250" dirty="0"/>
                        <a:t>To be mapped</a:t>
                      </a:r>
                    </a:p>
                  </a:txBody>
                  <a:tcPr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250" dirty="0"/>
                        <a:t>To be mapped</a:t>
                      </a:r>
                    </a:p>
                  </a:txBody>
                  <a:tcPr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250" dirty="0"/>
                        <a:t>To be mapped</a:t>
                      </a:r>
                    </a:p>
                  </a:txBody>
                  <a:tcPr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5488">
                <a:tc>
                  <a:txBody>
                    <a:bodyPr>
                      <a:normAutofit/>
                    </a:bodyPr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mapped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r>
                        <a:rPr lang="en-US" sz="1250" i="1" dirty="0">
                          <a:solidFill>
                            <a:srgbClr val="6E5F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mapped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250" dirty="0"/>
                        <a:t>To be mapped</a:t>
                      </a:r>
                    </a:p>
                  </a:txBody>
                  <a:tcPr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250" dirty="0"/>
                        <a:t>To be mapped</a:t>
                      </a:r>
                    </a:p>
                  </a:txBody>
                  <a:tcPr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250" dirty="0"/>
                        <a:t>To be mapped</a:t>
                      </a:r>
                    </a:p>
                  </a:txBody>
                  <a:tcPr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250" dirty="0"/>
                        <a:t>To be mapped</a:t>
                      </a:r>
                    </a:p>
                  </a:txBody>
                  <a:tcPr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75488">
                <a:tc>
                  <a:txBody>
                    <a:bodyPr>
                      <a:normAutofit/>
                    </a:bodyPr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47237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mapped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3EEFA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47237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mapped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3EEFA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250" dirty="0"/>
                        <a:t>To be mapped</a:t>
                      </a:r>
                    </a:p>
                  </a:txBody>
                  <a:tcPr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3EEFA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250" dirty="0"/>
                        <a:t>To be mapped</a:t>
                      </a:r>
                    </a:p>
                  </a:txBody>
                  <a:tcPr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3EEFA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250" dirty="0"/>
                        <a:t>To be mapped</a:t>
                      </a:r>
                    </a:p>
                  </a:txBody>
                  <a:tcPr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3EEFA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250" dirty="0"/>
                        <a:t>To be mapped</a:t>
                      </a:r>
                    </a:p>
                  </a:txBody>
                  <a:tcPr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3EE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548640" y="594360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as at: To be mapped    Source: To be mapped</a:t>
            </a:r>
            <a:r>
              <a:rPr lang="en-US" sz="1150" i="1" dirty="0">
                <a:solidFill>
                  <a:srgbClr val="6E5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r>
              <a:rPr lang="en-US" sz="1150" b="1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r>
              <a:rPr lang="en-US" sz="1150" i="1" dirty="0">
                <a:solidFill>
                  <a:srgbClr val="6E5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8595360" y="1463040"/>
            <a:ext cx="3044952" cy="2103120"/>
          </a:xfrm>
          <a:prstGeom prst="roundRect">
            <a:avLst>
              <a:gd name="adj" fmla="val 5217"/>
            </a:avLst>
          </a:prstGeom>
          <a:solidFill>
            <a:srgbClr val="F3EEFA"/>
          </a:solidFill>
          <a:ln w="12700">
            <a:solidFill>
              <a:srgbClr val="F3EE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 txBox="1"/>
          <p:nvPr/>
        </p:nvSpPr>
        <p:spPr>
          <a:xfrm>
            <a:off x="8823960" y="16002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472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read</a:t>
            </a:r>
            <a:endParaRPr lang="en-US" sz="1300" dirty="0"/>
          </a:p>
        </p:txBody>
      </p:sp>
      <p:sp>
        <p:nvSpPr>
          <p:cNvPr id="6" name="Text 7"/>
          <p:cNvSpPr txBox="1"/>
          <p:nvPr/>
        </p:nvSpPr>
        <p:spPr>
          <a:xfrm>
            <a:off x="8823960" y="1920240"/>
            <a:ext cx="26517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 = Actual − Plan, in percentage points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Weights must total 100%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= Σ (weight × phase progress)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8595360" y="3749040"/>
            <a:ext cx="3044952" cy="2468880"/>
          </a:xfrm>
          <a:prstGeom prst="roundRect">
            <a:avLst>
              <a:gd name="adj" fmla="val 4444"/>
            </a:avLst>
          </a:prstGeom>
          <a:solidFill>
            <a:srgbClr val="F3EEFA"/>
          </a:solidFill>
          <a:ln w="12700">
            <a:solidFill>
              <a:srgbClr val="F3EE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 txBox="1"/>
          <p:nvPr/>
        </p:nvSpPr>
        <p:spPr>
          <a:xfrm>
            <a:off x="8823960" y="38862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472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 comment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8823960" y="4206240"/>
            <a:ext cx="26517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i="1" dirty="0">
                <a:solidFill>
                  <a:srgbClr val="6E5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be mapped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484632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>
            <a:normAutofit/>
          </a:bodyPr>
          <a:lstStyle>
            <a:lvl1pPr>
              <a:defRPr sz="900">
                <a:solidFill>
                  <a:srgbClr val="6A64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r>
              <a:rPr lang="en-US" b="0"/>
              <a:t>10</a:t>
            </a:r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body" idx="102" hasCustomPrompt="1"/>
          </p:nvPr>
        </p:nvSpPr>
        <p:spPr>
          <a:xfrm>
            <a:off x="548640" y="36576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472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STATUS</a:t>
            </a:r>
            <a:endParaRPr lang="en-US" sz="1100" dirty="0"/>
          </a:p>
        </p:txBody>
      </p:sp>
      <p:sp>
        <p:nvSpPr>
          <p:cNvPr id="3" name="Text 1"/>
          <p:cNvSpPr>
            <a:spLocks noGrp="1"/>
          </p:cNvSpPr>
          <p:nvPr>
            <p:ph type="title" idx="103" hasCustomPrompt="1"/>
          </p:nvPr>
        </p:nvSpPr>
        <p:spPr>
          <a:xfrm>
            <a:off x="548640" y="621792"/>
            <a:ext cx="9784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and procurement status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001000" y="310896"/>
            <a:ext cx="2377440" cy="274320"/>
          </a:xfrm>
          <a:prstGeom prst="roundRect">
            <a:avLst>
              <a:gd name="adj" fmla="val 50000"/>
            </a:avLst>
          </a:prstGeom>
          <a:solidFill>
            <a:srgbClr val="C8A02A"/>
          </a:solidFill>
          <a:ln w="12700">
            <a:solidFill>
              <a:srgbClr val="C8A0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8001000" y="31089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5440680" cy="4754880"/>
          </a:xfrm>
          <a:prstGeom prst="roundRect">
            <a:avLst>
              <a:gd name="adj" fmla="val 2308"/>
            </a:avLst>
          </a:prstGeom>
          <a:solidFill>
            <a:srgbClr val="F3EEFA"/>
          </a:solidFill>
          <a:ln w="12700">
            <a:solidFill>
              <a:srgbClr val="F3EE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199632" y="1463040"/>
            <a:ext cx="5440680" cy="4754880"/>
          </a:xfrm>
          <a:prstGeom prst="roundRect">
            <a:avLst>
              <a:gd name="adj" fmla="val 2308"/>
            </a:avLst>
          </a:prstGeom>
          <a:solidFill>
            <a:srgbClr val="F3EEFA"/>
          </a:solidFill>
          <a:ln w="12700">
            <a:solidFill>
              <a:srgbClr val="F3EE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777240" y="1600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472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submittals (DTS)</a:t>
            </a:r>
            <a:endParaRPr lang="en-US" sz="15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965960"/>
          <a:ext cx="4983480" cy="2267712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34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7237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7237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723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3464">
                <a:tc>
                  <a:txBody>
                    <a:bodyPr>
                      <a:normAutofit/>
                    </a:bodyPr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 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150" dirty="0"/>
                        <a:t>25</a:t>
                      </a: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150" dirty="0"/>
                        <a:t>16.67%</a:t>
                      </a: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3464">
                <a:tc>
                  <a:txBody>
                    <a:bodyPr>
                      <a:normAutofit/>
                    </a:bodyPr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 B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150" dirty="0"/>
                        <a:t>35</a:t>
                      </a: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150" dirty="0"/>
                        <a:t>23.33%</a:t>
                      </a: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3464">
                <a:tc>
                  <a:txBody>
                    <a:bodyPr>
                      <a:normAutofit/>
                    </a:bodyPr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 C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150" dirty="0"/>
                        <a:t>45</a:t>
                      </a: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150" dirty="0"/>
                        <a:t>30.00%</a:t>
                      </a: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3464">
                <a:tc>
                  <a:txBody>
                    <a:bodyPr>
                      <a:normAutofit/>
                    </a:bodyPr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 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150" dirty="0"/>
                        <a:t>15</a:t>
                      </a: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150" dirty="0"/>
                        <a:t>10.00%</a:t>
                      </a: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3464">
                <a:tc>
                  <a:txBody>
                    <a:bodyPr>
                      <a:normAutofit/>
                    </a:bodyPr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Under Review(U/R)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150" dirty="0"/>
                        <a:t>20</a:t>
                      </a: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150" dirty="0"/>
                        <a:t>13.33%</a:t>
                      </a: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3464">
                <a:tc>
                  <a:txBody>
                    <a:bodyPr>
                      <a:normAutofit/>
                    </a:bodyPr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Cancelled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150" dirty="0"/>
                        <a:t>5</a:t>
                      </a: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150" dirty="0"/>
                        <a:t>3.33%</a:t>
                      </a: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3464">
                <a:tc>
                  <a:txBody>
                    <a:bodyPr>
                      <a:normAutofit/>
                    </a:bodyPr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 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150" dirty="0"/>
                        <a:t>5</a:t>
                      </a: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3.33%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0" name="Text 7"/>
          <p:cNvSpPr txBox="1"/>
          <p:nvPr/>
        </p:nvSpPr>
        <p:spPr>
          <a:xfrm>
            <a:off x="777240" y="4343400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472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Check: sum of statuses equals total submittals</a:t>
            </a:r>
            <a:endParaRPr lang="en-US" sz="1150" dirty="0"/>
          </a:p>
        </p:txBody>
      </p:sp>
      <p:sp>
        <p:nvSpPr>
          <p:cNvPr id="9" name="Shape 8"/>
          <p:cNvSpPr/>
          <p:nvPr/>
        </p:nvSpPr>
        <p:spPr>
          <a:xfrm>
            <a:off x="777240" y="4709160"/>
            <a:ext cx="498348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 txBox="1"/>
          <p:nvPr/>
        </p:nvSpPr>
        <p:spPr>
          <a:xfrm>
            <a:off x="914400" y="4818888"/>
            <a:ext cx="4709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Comment: To be mapped</a:t>
            </a:r>
            <a:r>
              <a:rPr lang="en-US" sz="1200" i="1" dirty="0">
                <a:solidFill>
                  <a:srgbClr val="6E5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6428232" y="1600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472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Procurement</a:t>
            </a:r>
            <a:endParaRPr lang="en-US" sz="1500" dirty="0"/>
          </a:p>
        </p:txBody>
      </p:sp>
      <p:graphicFrame>
        <p:nvGraphicFramePr>
          <p:cNvPr id="2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28232" y="1965960"/>
          <a:ext cx="4983480" cy="2551176"/>
        </p:xfrm>
        <a:graphic>
          <a:graphicData uri="http://schemas.openxmlformats.org/drawingml/2006/table">
            <a:tbl>
              <a:tblPr/>
              <a:tblGrid>
                <a:gridCol w="3840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34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7237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723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3464">
                <a:tc>
                  <a:txBody>
                    <a:bodyPr>
                      <a:normAutofit/>
                    </a:bodyPr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items tracked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150" dirty="0"/>
                        <a:t>20</a:t>
                      </a: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3464">
                <a:tc>
                  <a:txBody>
                    <a:bodyPr>
                      <a:normAutofit/>
                    </a:bodyPr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Purchase order issued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150" dirty="0"/>
                        <a:t>2</a:t>
                      </a: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3464">
                <a:tc>
                  <a:txBody>
                    <a:bodyPr>
                      <a:normAutofit/>
                    </a:bodyPr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 manufacturing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150" dirty="0"/>
                        <a:t>15</a:t>
                      </a: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3464">
                <a:tc>
                  <a:txBody>
                    <a:bodyPr>
                      <a:normAutofit/>
                    </a:bodyPr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FAT completed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150" dirty="0"/>
                        <a:t>46</a:t>
                      </a: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3464">
                <a:tc>
                  <a:txBody>
                    <a:bodyPr>
                      <a:normAutofit/>
                    </a:bodyPr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FAT pending / report under approval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150" dirty="0"/>
                        <a:t>25</a:t>
                      </a: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3464">
                <a:tc>
                  <a:txBody>
                    <a:bodyPr>
                      <a:normAutofit/>
                    </a:bodyPr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Shipped / in transit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150" dirty="0"/>
                        <a:t>2</a:t>
                      </a: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3464">
                <a:tc>
                  <a:txBody>
                    <a:bodyPr>
                      <a:normAutofit/>
                    </a:bodyPr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Received at site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150" dirty="0"/>
                        <a:t>5</a:t>
                      </a: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3464">
                <a:tc>
                  <a:txBody>
                    <a:bodyPr>
                      <a:normAutofit/>
                    </a:bodyPr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Past planned receipt date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150" dirty="0"/>
                        <a:t>5</a:t>
                      </a: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5" name="Shape 11"/>
          <p:cNvSpPr/>
          <p:nvPr/>
        </p:nvSpPr>
        <p:spPr>
          <a:xfrm>
            <a:off x="6428232" y="4709160"/>
            <a:ext cx="498348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2"/>
          <p:cNvSpPr txBox="1"/>
          <p:nvPr/>
        </p:nvSpPr>
        <p:spPr>
          <a:xfrm>
            <a:off x="6565392" y="4818888"/>
            <a:ext cx="4709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Comment: To be mapped</a:t>
            </a:r>
            <a:r>
              <a:rPr lang="en-US" sz="1200" i="1" dirty="0">
                <a:solidFill>
                  <a:srgbClr val="6E5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484632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>
            <a:normAutofit/>
          </a:bodyPr>
          <a:lstStyle>
            <a:lvl1pPr>
              <a:defRPr sz="900">
                <a:solidFill>
                  <a:srgbClr val="6A64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r>
              <a:rPr lang="en-US" b="0"/>
              <a:t>11</a:t>
            </a:r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body" idx="102" hasCustomPrompt="1"/>
          </p:nvPr>
        </p:nvSpPr>
        <p:spPr>
          <a:xfrm>
            <a:off x="548640" y="36576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472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CONFORMING AREAS</a:t>
            </a:r>
            <a:endParaRPr lang="en-US" sz="1100" dirty="0"/>
          </a:p>
        </p:txBody>
      </p:sp>
      <p:sp>
        <p:nvSpPr>
          <p:cNvPr id="3" name="Text 1"/>
          <p:cNvSpPr>
            <a:spLocks noGrp="1"/>
          </p:cNvSpPr>
          <p:nvPr>
            <p:ph type="title" idx="103" hasCustomPrompt="1"/>
          </p:nvPr>
        </p:nvSpPr>
        <p:spPr>
          <a:xfrm>
            <a:off x="548640" y="621792"/>
            <a:ext cx="9784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Areas verified as conforming and good practices</a:t>
            </a:r>
            <a:endParaRPr lang="en-US" sz="28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1672" cy="3127248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052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Area / process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7237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was verified and found conforming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7237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Record / evidence reference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723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>
                      <a:normAutofit/>
                    </a:bodyPr>
                    <a:lstStyle/>
                    <a:p>
                      <a:pPr marL="0" indent="0">
                        <a:buNone/>
                      </a:pPr>
                      <a:r>
                        <a:rPr lang="en-US" sz="1200" i="1" dirty="0">
                          <a:solidFill>
                            <a:srgbClr val="6E5F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mapped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>
                        <a:buNone/>
                      </a:pPr>
                      <a:r>
                        <a:rPr lang="en-US" sz="1200" i="1" dirty="0">
                          <a:solidFill>
                            <a:srgbClr val="6E5F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mapped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>
                        <a:buNone/>
                      </a:pPr>
                      <a:r>
                        <a:rPr lang="en-US" sz="1200" i="1" dirty="0">
                          <a:solidFill>
                            <a:srgbClr val="6E5F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mapped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>
                      <a:normAutofit/>
                    </a:bodyPr>
                    <a:lstStyle/>
                    <a:p>
                      <a:pPr marL="0" indent="0">
                        <a:buNone/>
                      </a:pPr>
                      <a:r>
                        <a:rPr lang="en-US" sz="1200" i="1" dirty="0">
                          <a:solidFill>
                            <a:srgbClr val="6E5F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mapped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>
                        <a:buNone/>
                      </a:pPr>
                      <a:r>
                        <a:rPr lang="en-US" sz="1200" i="1" dirty="0">
                          <a:solidFill>
                            <a:srgbClr val="6E5F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mapped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>
                        <a:buNone/>
                      </a:pPr>
                      <a:r>
                        <a:rPr lang="en-US" sz="1200" i="1" dirty="0">
                          <a:solidFill>
                            <a:srgbClr val="6E5F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mapped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>
                      <a:normAutofit/>
                    </a:bodyPr>
                    <a:lstStyle/>
                    <a:p>
                      <a:pPr marL="0" indent="0">
                        <a:buNone/>
                      </a:pPr>
                      <a:r>
                        <a:rPr lang="en-US" sz="1200" i="1" dirty="0">
                          <a:solidFill>
                            <a:srgbClr val="6E5F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mapped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>
                        <a:buNone/>
                      </a:pPr>
                      <a:r>
                        <a:rPr lang="en-US" sz="1200" i="1" dirty="0">
                          <a:solidFill>
                            <a:srgbClr val="6E5F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mapped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>
                        <a:buNone/>
                      </a:pPr>
                      <a:r>
                        <a:rPr lang="en-US" sz="1200" i="1" dirty="0">
                          <a:solidFill>
                            <a:srgbClr val="6E5F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mapped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>
                      <a:normAutofit/>
                    </a:bodyPr>
                    <a:lstStyle/>
                    <a:p>
                      <a:pPr marL="0" indent="0">
                        <a:buNone/>
                      </a:pPr>
                      <a:r>
                        <a:rPr lang="en-US" sz="1200" i="1" dirty="0">
                          <a:solidFill>
                            <a:srgbClr val="6E5F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mapped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>
                        <a:buNone/>
                      </a:pPr>
                      <a:r>
                        <a:rPr lang="en-US" sz="1200" i="1" dirty="0">
                          <a:solidFill>
                            <a:srgbClr val="6E5F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mapped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>
                        <a:buNone/>
                      </a:pPr>
                      <a:r>
                        <a:rPr lang="en-US" sz="1200" i="1" dirty="0">
                          <a:solidFill>
                            <a:srgbClr val="6E5F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mapped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>
                      <a:normAutofit/>
                    </a:bodyPr>
                    <a:lstStyle/>
                    <a:p>
                      <a:pPr marL="0" indent="0">
                        <a:buNone/>
                      </a:pPr>
                      <a:r>
                        <a:rPr lang="en-US" sz="1200" i="1" dirty="0">
                          <a:solidFill>
                            <a:srgbClr val="6E5F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mapped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>
                        <a:buNone/>
                      </a:pPr>
                      <a:r>
                        <a:rPr lang="en-US" sz="1200" i="1" dirty="0">
                          <a:solidFill>
                            <a:srgbClr val="6E5F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mapped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>
                        <a:buNone/>
                      </a:pPr>
                      <a:r>
                        <a:rPr lang="en-US" sz="1200" i="1" dirty="0">
                          <a:solidFill>
                            <a:srgbClr val="6E5F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mapped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4846320"/>
            <a:ext cx="11091672" cy="1371600"/>
          </a:xfrm>
          <a:prstGeom prst="roundRect">
            <a:avLst>
              <a:gd name="adj" fmla="val 8000"/>
            </a:avLst>
          </a:prstGeom>
          <a:solidFill>
            <a:srgbClr val="F3EEFA"/>
          </a:solidFill>
          <a:ln w="12700">
            <a:solidFill>
              <a:srgbClr val="F3EE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777240" y="5074920"/>
            <a:ext cx="548640" cy="548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5373" y="5223053"/>
            <a:ext cx="252374" cy="252374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554480" y="4983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472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practices and positive observations</a:t>
            </a:r>
            <a:endParaRPr lang="en-US" sz="1400" dirty="0"/>
          </a:p>
        </p:txBody>
      </p:sp>
      <p:sp>
        <p:nvSpPr>
          <p:cNvPr id="9" name="Text 5"/>
          <p:cNvSpPr txBox="1"/>
          <p:nvPr/>
        </p:nvSpPr>
        <p:spPr>
          <a:xfrm>
            <a:off x="1554480" y="5321808"/>
            <a:ext cx="9784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50" i="1" dirty="0">
                <a:solidFill>
                  <a:srgbClr val="6E5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· Test · Record 1 · Test 1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484632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>
            <a:normAutofit/>
          </a:bodyPr>
          <a:lstStyle>
            <a:lvl1pPr>
              <a:defRPr sz="900">
                <a:solidFill>
                  <a:srgbClr val="6A64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r>
              <a:rPr lang="en-US" b="0"/>
              <a:t>13</a:t>
            </a:r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body" idx="102" hasCustomPrompt="1"/>
          </p:nvPr>
        </p:nvSpPr>
        <p:spPr>
          <a:xfrm>
            <a:off x="548640" y="36576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472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NON-CONFORMITY REGISTER</a:t>
            </a:r>
            <a:endParaRPr lang="en-US" sz="1100" dirty="0"/>
          </a:p>
        </p:txBody>
      </p:sp>
      <p:sp>
        <p:nvSpPr>
          <p:cNvPr id="3" name="Text 1"/>
          <p:cNvSpPr>
            <a:spLocks noGrp="1"/>
          </p:cNvSpPr>
          <p:nvPr>
            <p:ph type="title" idx="103" hasCustomPrompt="1"/>
          </p:nvPr>
        </p:nvSpPr>
        <p:spPr>
          <a:xfrm>
            <a:off x="548640" y="621792"/>
            <a:ext cx="9784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Non-conformities</a:t>
            </a:r>
            <a:endParaRPr lang="en-US" sz="28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1672" cy="4151376"/>
        </p:xfrm>
        <a:graphic>
          <a:graphicData uri="http://schemas.openxmlformats.org/drawingml/2006/table">
            <a:tbl>
              <a:tblPr/>
              <a:tblGrid>
                <a:gridCol w="731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4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06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9611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7237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Finding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7237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Objective evidence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7237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Requirement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7237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723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 gridSpan="5">
                  <a:txBody>
                    <a:bodyPr>
                      <a:normAutofit/>
                    </a:bodyPr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47237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Non-conformities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  <a:tc hMerge="1">
                  <a:txBody>
                    <a:bodyPr>
                      <a:normAutofit/>
                    </a:bodyPr>
                    <a:lstStyle/>
                    <a:p>
                      <a:endParaRPr lang="en-US"/>
                      <a:r>
                        <a:rPr lang="en-US"/>
                        <a:t/>
                      </a:r>
                    </a:p>
                  </a:txBody>
                  <a:tcPr/>
                </a:tc>
                <a:tc hMerge="1">
                  <a:txBody>
                    <a:bodyPr>
                      <a:normAutofit/>
                    </a:bodyPr>
                    <a:lstStyle/>
                    <a:p>
                      <a:endParaRPr lang="en-US"/>
                      <a:r>
                        <a:rPr lang="en-US"/>
                        <a:t/>
                      </a:r>
                    </a:p>
                  </a:txBody>
                  <a:tcPr/>
                </a:tc>
                <a:tc hMerge="1">
                  <a:txBody>
                    <a:bodyPr>
                      <a:normAutofit/>
                    </a:bodyPr>
                    <a:lstStyle/>
                    <a:p>
                      <a:endParaRPr lang="en-US"/>
                      <a:r>
                        <a:rPr lang="en-US"/>
                        <a:t/>
                      </a:r>
                    </a:p>
                  </a:txBody>
                  <a:tcPr/>
                </a:tc>
                <a:tc hMerge="1">
                  <a:txBody>
                    <a:bodyPr>
                      <a:normAutofit/>
                    </a:bodyPr>
                    <a:lstStyle/>
                    <a:p>
                      <a:endParaRPr lang="en-US"/>
                      <a:r>
                        <a:rPr lang="en-US"/>
                        <a:t/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6656">
                <a:tc>
                  <a:txBody>
                    <a:bodyPr>
                      <a:normAutofit/>
                    </a:bodyPr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47237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B.1.1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>
                        <a:buNone/>
                      </a:pPr>
                      <a:r>
                        <a:rPr lang="en-US" sz="1150" i="1" dirty="0">
                          <a:solidFill>
                            <a:srgbClr val="6E5F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pmo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50" i="1" dirty="0">
                          <a:solidFill>
                            <a:srgbClr val="6E5F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>
                        <a:buNone/>
                      </a:pPr>
                      <a:r>
                        <a:rPr lang="en-US" sz="1050" i="1" dirty="0">
                          <a:solidFill>
                            <a:srgbClr val="6E5F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mapped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>
                        <a:buNone/>
                      </a:pPr>
                      <a:r>
                        <a:rPr lang="en-US" sz="1050" i="1" dirty="0">
                          <a:solidFill>
                            <a:srgbClr val="6E5F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r>
                        <a:rPr lang="en-US" sz="1100" b="1" i="1" dirty="0">
                          <a:solidFill>
                            <a:srgbClr val="6E5F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254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D2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6656">
                <a:tc>
                  <a:txBody>
                    <a:bodyPr>
                      <a:normAutofit/>
                    </a:bodyPr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47237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B.2.1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>
                        <a:buNone/>
                      </a:pPr>
                      <a:r>
                        <a:rPr lang="en-US" sz="1150" i="1" dirty="0">
                          <a:solidFill>
                            <a:srgbClr val="6E5F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design_engg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50" i="1" dirty="0">
                          <a:solidFill>
                            <a:srgbClr val="6E5F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>
                        <a:buNone/>
                      </a:pPr>
                      <a:r>
                        <a:rPr lang="en-US" sz="1050" i="1" dirty="0">
                          <a:solidFill>
                            <a:srgbClr val="6E5F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audit-plan-862c2062-318d-48d5-9121-917946fdc112 (2).pdf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>
                        <a:buNone/>
                      </a:pPr>
                      <a:r>
                        <a:rPr lang="en-US" sz="1050" i="1" dirty="0">
                          <a:solidFill>
                            <a:srgbClr val="6E5F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r>
                        <a:rPr lang="en-US" sz="1100" b="1" i="1" dirty="0">
                          <a:solidFill>
                            <a:srgbClr val="6E5F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254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D2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76656">
                <a:tc>
                  <a:txBody>
                    <a:bodyPr>
                      <a:normAutofit/>
                    </a:bodyPr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47237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B.2.2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>
                        <a:buNone/>
                      </a:pPr>
                      <a:r>
                        <a:rPr lang="en-US" sz="1150" i="1" dirty="0">
                          <a:solidFill>
                            <a:srgbClr val="6E5F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design_engg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50" i="1" dirty="0">
                          <a:solidFill>
                            <a:srgbClr val="6E5F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>
                        <a:buNone/>
                      </a:pPr>
                      <a:r>
                        <a:rPr lang="en-US" sz="1050" i="1" dirty="0">
                          <a:solidFill>
                            <a:srgbClr val="6E5F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audit-checklist-template (7).xlsx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>
                        <a:buNone/>
                      </a:pPr>
                      <a:r>
                        <a:rPr lang="en-US" sz="1050" i="1" dirty="0">
                          <a:solidFill>
                            <a:srgbClr val="6E5F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r>
                        <a:rPr lang="en-US" sz="1100" b="1" i="1" dirty="0">
                          <a:solidFill>
                            <a:srgbClr val="6E5F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254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D2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76656">
                <a:tc>
                  <a:txBody>
                    <a:bodyPr>
                      <a:normAutofit/>
                    </a:bodyPr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47237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mapped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>
                        <a:buNone/>
                      </a:pPr>
                      <a:r>
                        <a:rPr lang="en-US" sz="1150" i="1" dirty="0">
                          <a:solidFill>
                            <a:srgbClr val="6E5F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mapped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>
                        <a:buNone/>
                      </a:pPr>
                      <a:r>
                        <a:rPr lang="en-US" sz="1050" i="1" dirty="0">
                          <a:solidFill>
                            <a:srgbClr val="6E5F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mapped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>
                        <a:buNone/>
                      </a:pPr>
                      <a:r>
                        <a:rPr lang="en-US" sz="1050" i="1" dirty="0">
                          <a:solidFill>
                            <a:srgbClr val="6E5F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mapped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r>
                        <a:rPr lang="en-US" sz="1100" b="1" i="1" dirty="0">
                          <a:solidFill>
                            <a:srgbClr val="6E5F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mapped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254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D2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76656">
                <a:tc>
                  <a:txBody>
                    <a:bodyPr>
                      <a:normAutofit/>
                    </a:bodyPr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47237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mapped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>
                        <a:buNone/>
                      </a:pPr>
                      <a:r>
                        <a:rPr lang="en-US" sz="1150" i="1" dirty="0">
                          <a:solidFill>
                            <a:srgbClr val="6E5F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mapped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>
                        <a:buNone/>
                      </a:pPr>
                      <a:r>
                        <a:rPr lang="en-US" sz="1050" i="1" dirty="0">
                          <a:solidFill>
                            <a:srgbClr val="6E5F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mapped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>
                        <a:buNone/>
                      </a:pPr>
                      <a:r>
                        <a:rPr lang="en-US" sz="1050" i="1" dirty="0">
                          <a:solidFill>
                            <a:srgbClr val="6E5F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mapped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r>
                        <a:rPr lang="en-US" sz="1100" b="1" i="1" dirty="0">
                          <a:solidFill>
                            <a:srgbClr val="6E5F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mapped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254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D2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617220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50" i="1" dirty="0">
                <a:solidFill>
                  <a:srgbClr val="6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be mapped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484632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>
            <a:normAutofit/>
          </a:bodyPr>
          <a:lstStyle>
            <a:lvl1pPr>
              <a:defRPr sz="900">
                <a:solidFill>
                  <a:srgbClr val="6A64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r>
              <a:rPr lang="en-US" b="0"/>
              <a:t>14</a:t>
            </a:r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body" idx="102" hasCustomPrompt="1"/>
          </p:nvPr>
        </p:nvSpPr>
        <p:spPr>
          <a:xfrm>
            <a:off x="548640" y="36576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472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OPPORTUNITIES FOR IMPROVEMENT</a:t>
            </a:r>
            <a:endParaRPr lang="en-US" sz="1100" dirty="0"/>
          </a:p>
        </p:txBody>
      </p:sp>
      <p:sp>
        <p:nvSpPr>
          <p:cNvPr id="3" name="Text 1"/>
          <p:cNvSpPr>
            <a:spLocks noGrp="1"/>
          </p:cNvSpPr>
          <p:nvPr>
            <p:ph type="title" idx="103" hasCustomPrompt="1"/>
          </p:nvPr>
        </p:nvSpPr>
        <p:spPr>
          <a:xfrm>
            <a:off x="548640" y="621792"/>
            <a:ext cx="9784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Opportunities for improvement (OFI)</a:t>
            </a:r>
            <a:endParaRPr lang="en-US" sz="28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1672" cy="4151376"/>
        </p:xfrm>
        <a:graphic>
          <a:graphicData uri="http://schemas.openxmlformats.org/drawingml/2006/table">
            <a:tbl>
              <a:tblPr/>
              <a:tblGrid>
                <a:gridCol w="731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4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06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9611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7237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Finding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7237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Objective evidence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7237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Requirement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7237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723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 gridSpan="5">
                  <a:txBody>
                    <a:bodyPr>
                      <a:normAutofit/>
                    </a:bodyPr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47237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Opportunities for improvement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  <a:tc hMerge="1">
                  <a:txBody>
                    <a:bodyPr>
                      <a:normAutofit/>
                    </a:bodyPr>
                    <a:lstStyle/>
                    <a:p>
                      <a:endParaRPr lang="en-US"/>
                      <a:r>
                        <a:rPr lang="en-US"/>
                        <a:t/>
                      </a:r>
                    </a:p>
                  </a:txBody>
                  <a:tcPr/>
                </a:tc>
                <a:tc hMerge="1">
                  <a:txBody>
                    <a:bodyPr>
                      <a:normAutofit/>
                    </a:bodyPr>
                    <a:lstStyle/>
                    <a:p>
                      <a:endParaRPr lang="en-US"/>
                      <a:r>
                        <a:rPr lang="en-US"/>
                        <a:t/>
                      </a:r>
                    </a:p>
                  </a:txBody>
                  <a:tcPr/>
                </a:tc>
                <a:tc hMerge="1">
                  <a:txBody>
                    <a:bodyPr>
                      <a:normAutofit/>
                    </a:bodyPr>
                    <a:lstStyle/>
                    <a:p>
                      <a:endParaRPr lang="en-US"/>
                      <a:r>
                        <a:rPr lang="en-US"/>
                        <a:t/>
                      </a:r>
                    </a:p>
                  </a:txBody>
                  <a:tcPr/>
                </a:tc>
                <a:tc hMerge="1">
                  <a:txBody>
                    <a:bodyPr>
                      <a:normAutofit/>
                    </a:bodyPr>
                    <a:lstStyle/>
                    <a:p>
                      <a:endParaRPr lang="en-US"/>
                      <a:r>
                        <a:rPr lang="en-US"/>
                        <a:t/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6656">
                <a:tc>
                  <a:txBody>
                    <a:bodyPr>
                      <a:normAutofit/>
                    </a:bodyPr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47237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B.1.2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>
                        <a:buNone/>
                      </a:pPr>
                      <a:r>
                        <a:rPr lang="en-US" sz="1150" i="1" dirty="0">
                          <a:solidFill>
                            <a:srgbClr val="6E5F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pmo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50" i="1" dirty="0">
                          <a:solidFill>
                            <a:srgbClr val="6E5F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>
                        <a:buNone/>
                      </a:pPr>
                      <a:r>
                        <a:rPr lang="en-US" sz="1050" i="1" dirty="0">
                          <a:solidFill>
                            <a:srgbClr val="6E5F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mapped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>
                        <a:buNone/>
                      </a:pPr>
                      <a:r>
                        <a:rPr lang="en-US" sz="1050" i="1" dirty="0">
                          <a:solidFill>
                            <a:srgbClr val="6E5F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254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9D8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6656">
                <a:tc>
                  <a:txBody>
                    <a:bodyPr>
                      <a:normAutofit/>
                    </a:bodyPr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47237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mapped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>
                        <a:buNone/>
                      </a:pPr>
                      <a:r>
                        <a:rPr lang="en-US" sz="1150" i="1" dirty="0">
                          <a:solidFill>
                            <a:srgbClr val="6E5F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mapped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>
                        <a:buNone/>
                      </a:pPr>
                      <a:r>
                        <a:rPr lang="en-US" sz="1050" i="1" dirty="0">
                          <a:solidFill>
                            <a:srgbClr val="6E5F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mapped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>
                        <a:buNone/>
                      </a:pPr>
                      <a:r>
                        <a:rPr lang="en-US" sz="1050" i="1" dirty="0">
                          <a:solidFill>
                            <a:srgbClr val="6E5F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mapped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mapped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254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9D8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76656">
                <a:tc>
                  <a:txBody>
                    <a:bodyPr>
                      <a:normAutofit/>
                    </a:bodyPr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47237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mapped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>
                        <a:buNone/>
                      </a:pPr>
                      <a:r>
                        <a:rPr lang="en-US" sz="1150" i="1" dirty="0">
                          <a:solidFill>
                            <a:srgbClr val="6E5F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mapped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>
                        <a:buNone/>
                      </a:pPr>
                      <a:r>
                        <a:rPr lang="en-US" sz="1050" i="1" dirty="0">
                          <a:solidFill>
                            <a:srgbClr val="6E5F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mapped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>
                        <a:buNone/>
                      </a:pPr>
                      <a:r>
                        <a:rPr lang="en-US" sz="1050" i="1" dirty="0">
                          <a:solidFill>
                            <a:srgbClr val="6E5F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mapped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mapped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254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9D8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76656">
                <a:tc>
                  <a:txBody>
                    <a:bodyPr>
                      <a:normAutofit/>
                    </a:bodyPr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47237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mapped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>
                        <a:buNone/>
                      </a:pPr>
                      <a:r>
                        <a:rPr lang="en-US" sz="1150" i="1" dirty="0">
                          <a:solidFill>
                            <a:srgbClr val="6E5F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mapped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>
                        <a:buNone/>
                      </a:pPr>
                      <a:r>
                        <a:rPr lang="en-US" sz="1050" i="1" dirty="0">
                          <a:solidFill>
                            <a:srgbClr val="6E5F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mapped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>
                        <a:buNone/>
                      </a:pPr>
                      <a:r>
                        <a:rPr lang="en-US" sz="1050" i="1" dirty="0">
                          <a:solidFill>
                            <a:srgbClr val="6E5F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mapped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mapped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254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9D8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76656">
                <a:tc>
                  <a:txBody>
                    <a:bodyPr>
                      <a:normAutofit/>
                    </a:bodyPr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47237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mapped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>
                        <a:buNone/>
                      </a:pPr>
                      <a:r>
                        <a:rPr lang="en-US" sz="1150" i="1" dirty="0">
                          <a:solidFill>
                            <a:srgbClr val="6E5F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mapped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>
                        <a:buNone/>
                      </a:pPr>
                      <a:r>
                        <a:rPr lang="en-US" sz="1050" i="1" dirty="0">
                          <a:solidFill>
                            <a:srgbClr val="6E5F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mapped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>
                        <a:buNone/>
                      </a:pPr>
                      <a:r>
                        <a:rPr lang="en-US" sz="1050" i="1" dirty="0">
                          <a:solidFill>
                            <a:srgbClr val="6E5F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mapped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mapped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254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9D8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617220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i="1" dirty="0">
                <a:solidFill>
                  <a:srgbClr val="6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OFI does not require a formal corrective action response; the auditee decides and records its response.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484632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>
            <a:normAutofit/>
          </a:bodyPr>
          <a:lstStyle>
            <a:lvl1pPr>
              <a:defRPr sz="900">
                <a:solidFill>
                  <a:srgbClr val="6A64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r>
              <a:rPr lang="en-US" b="0"/>
              <a:t>15</a:t>
            </a:r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body" idx="102" hasCustomPrompt="1"/>
          </p:nvPr>
        </p:nvSpPr>
        <p:spPr>
          <a:xfrm>
            <a:off x="548640" y="36576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472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1100" dirty="0"/>
          </a:p>
        </p:txBody>
      </p:sp>
      <p:sp>
        <p:nvSpPr>
          <p:cNvPr id="3" name="Text 1"/>
          <p:cNvSpPr>
            <a:spLocks noGrp="1"/>
          </p:cNvSpPr>
          <p:nvPr>
            <p:ph type="title" idx="103" hasCustomPrompt="1"/>
          </p:nvPr>
        </p:nvSpPr>
        <p:spPr>
          <a:xfrm>
            <a:off x="548640" y="621792"/>
            <a:ext cx="9784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Photographic evidence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440680" cy="3017520"/>
          </a:xfrm>
          <a:prstGeom prst="rect">
            <a:avLst/>
          </a:prstGeom>
          <a:solidFill>
            <a:srgbClr val="F3EEFA"/>
          </a:solidFill>
          <a:ln w="15875">
            <a:solidFill>
              <a:srgbClr val="A99BC8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1800" y="2331720"/>
            <a:ext cx="594360" cy="5943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3017520"/>
            <a:ext cx="5440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6E5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be mapped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3310128"/>
            <a:ext cx="5440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E5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be mapped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4617720"/>
            <a:ext cx="5440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Ref: To be mapped   Grade: To be mapped   Date: To be mapped</a:t>
            </a:r>
            <a:r>
              <a:rPr lang="en-US" sz="1250" i="1" dirty="0">
                <a:solidFill>
                  <a:srgbClr val="6E5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r>
              <a:rPr lang="en-US" sz="1250" b="1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r>
              <a:rPr lang="en-US" sz="1250" i="1" dirty="0">
                <a:solidFill>
                  <a:srgbClr val="6E5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r>
              <a:rPr lang="en-US" sz="1250" b="1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r>
              <a:rPr lang="en-US" sz="1250" i="1" dirty="0">
                <a:solidFill>
                  <a:srgbClr val="6E5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25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4937760"/>
            <a:ext cx="5440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Location: To be mapped</a:t>
            </a:r>
            <a:r>
              <a:rPr lang="en-US" sz="1250" i="1" dirty="0">
                <a:solidFill>
                  <a:srgbClr val="6E5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25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5257800"/>
            <a:ext cx="5440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Description: To be mapped</a:t>
            </a:r>
            <a:r>
              <a:rPr lang="en-US" sz="1250" i="1" dirty="0">
                <a:solidFill>
                  <a:srgbClr val="6E5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25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5806440"/>
            <a:ext cx="5440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Requirement: To be mapped</a:t>
            </a:r>
            <a:r>
              <a:rPr lang="en-US" sz="1250" i="1" dirty="0">
                <a:solidFill>
                  <a:srgbClr val="6E5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6199632" y="1463040"/>
            <a:ext cx="5440680" cy="3017520"/>
          </a:xfrm>
          <a:prstGeom prst="rect">
            <a:avLst/>
          </a:prstGeom>
          <a:solidFill>
            <a:srgbClr val="F3EEFA"/>
          </a:solidFill>
          <a:ln w="15875">
            <a:solidFill>
              <a:srgbClr val="A99BC8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22792" y="2331720"/>
            <a:ext cx="594360" cy="59436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6199632" y="3017520"/>
            <a:ext cx="5440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6E5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be mapped</a:t>
            </a:r>
            <a:endParaRPr lang="en-US" sz="1400" dirty="0"/>
          </a:p>
        </p:txBody>
      </p:sp>
      <p:sp>
        <p:nvSpPr>
          <p:cNvPr id="15" name="Text 11"/>
          <p:cNvSpPr txBox="1"/>
          <p:nvPr/>
        </p:nvSpPr>
        <p:spPr>
          <a:xfrm>
            <a:off x="6199632" y="3310128"/>
            <a:ext cx="5440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E5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be mapped</a:t>
            </a:r>
            <a:endParaRPr lang="en-US" sz="1100" dirty="0"/>
          </a:p>
        </p:txBody>
      </p:sp>
      <p:sp>
        <p:nvSpPr>
          <p:cNvPr id="16" name="Text 12"/>
          <p:cNvSpPr txBox="1"/>
          <p:nvPr/>
        </p:nvSpPr>
        <p:spPr>
          <a:xfrm>
            <a:off x="6199632" y="4617720"/>
            <a:ext cx="5440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Ref: To be mapped   Grade: To be mapped   Date: To be mapped</a:t>
            </a:r>
            <a:r>
              <a:rPr lang="en-US" sz="1250" i="1" dirty="0">
                <a:solidFill>
                  <a:srgbClr val="6E5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r>
              <a:rPr lang="en-US" sz="1250" b="1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r>
              <a:rPr lang="en-US" sz="1250" i="1" dirty="0">
                <a:solidFill>
                  <a:srgbClr val="6E5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r>
              <a:rPr lang="en-US" sz="1250" b="1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r>
              <a:rPr lang="en-US" sz="1250" i="1" dirty="0">
                <a:solidFill>
                  <a:srgbClr val="6E5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250" dirty="0"/>
          </a:p>
        </p:txBody>
      </p:sp>
      <p:sp>
        <p:nvSpPr>
          <p:cNvPr id="17" name="Text 13"/>
          <p:cNvSpPr txBox="1"/>
          <p:nvPr/>
        </p:nvSpPr>
        <p:spPr>
          <a:xfrm>
            <a:off x="6199632" y="4937760"/>
            <a:ext cx="5440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Location: To be mapped</a:t>
            </a:r>
            <a:r>
              <a:rPr lang="en-US" sz="1250" i="1" dirty="0">
                <a:solidFill>
                  <a:srgbClr val="6E5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250" dirty="0"/>
          </a:p>
        </p:txBody>
      </p:sp>
      <p:sp>
        <p:nvSpPr>
          <p:cNvPr id="18" name="Text 14"/>
          <p:cNvSpPr txBox="1"/>
          <p:nvPr/>
        </p:nvSpPr>
        <p:spPr>
          <a:xfrm>
            <a:off x="6199632" y="5257800"/>
            <a:ext cx="5440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Description: To be mapped</a:t>
            </a:r>
            <a:r>
              <a:rPr lang="en-US" sz="1250" i="1" dirty="0">
                <a:solidFill>
                  <a:srgbClr val="6E5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250" dirty="0"/>
          </a:p>
        </p:txBody>
      </p:sp>
      <p:sp>
        <p:nvSpPr>
          <p:cNvPr id="19" name="Text 15"/>
          <p:cNvSpPr txBox="1"/>
          <p:nvPr/>
        </p:nvSpPr>
        <p:spPr>
          <a:xfrm>
            <a:off x="6199632" y="5806440"/>
            <a:ext cx="5440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Requirement: To be mapped</a:t>
            </a:r>
            <a:r>
              <a:rPr lang="en-US" sz="1250" i="1" dirty="0">
                <a:solidFill>
                  <a:srgbClr val="6E5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484632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>
            <a:normAutofit/>
          </a:bodyPr>
          <a:lstStyle>
            <a:lvl1pPr>
              <a:defRPr sz="900">
                <a:solidFill>
                  <a:srgbClr val="6A64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r>
              <a:rPr lang="en-US" b="0"/>
              <a:t>16</a:t>
            </a:r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body" idx="102" hasCustomPrompt="1"/>
          </p:nvPr>
        </p:nvSpPr>
        <p:spPr>
          <a:xfrm>
            <a:off x="548640" y="36576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472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GRADING AND RESPONSE</a:t>
            </a:r>
            <a:endParaRPr lang="en-US" sz="1100" dirty="0"/>
          </a:p>
        </p:txBody>
      </p:sp>
      <p:sp>
        <p:nvSpPr>
          <p:cNvPr id="3" name="Text 1"/>
          <p:cNvSpPr>
            <a:spLocks noGrp="1"/>
          </p:cNvSpPr>
          <p:nvPr>
            <p:ph type="title" idx="103" hasCustomPrompt="1"/>
          </p:nvPr>
        </p:nvSpPr>
        <p:spPr>
          <a:xfrm>
            <a:off x="548640" y="621792"/>
            <a:ext cx="9784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grades and response requirements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2057400" cy="1188720"/>
          </a:xfrm>
          <a:prstGeom prst="roundRect">
            <a:avLst>
              <a:gd name="adj" fmla="val 9231"/>
            </a:avLst>
          </a:prstGeom>
          <a:solidFill>
            <a:srgbClr val="47237F"/>
          </a:solidFill>
          <a:ln w="12700">
            <a:solidFill>
              <a:srgbClr val="47237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731520" y="1572768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C8A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011680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Auditee root-cause analysis and CAPA plan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2807208" y="1463040"/>
            <a:ext cx="2057400" cy="1188720"/>
          </a:xfrm>
          <a:prstGeom prst="roundRect">
            <a:avLst>
              <a:gd name="adj" fmla="val 9231"/>
            </a:avLst>
          </a:prstGeom>
          <a:solidFill>
            <a:srgbClr val="47237F"/>
          </a:solidFill>
          <a:ln w="12700">
            <a:solidFill>
              <a:srgbClr val="47237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2990088" y="1572768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C8A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2990088" y="2011680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team reviews and accepts plan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065776" y="1463040"/>
            <a:ext cx="2057400" cy="1188720"/>
          </a:xfrm>
          <a:prstGeom prst="roundRect">
            <a:avLst>
              <a:gd name="adj" fmla="val 9231"/>
            </a:avLst>
          </a:prstGeom>
          <a:solidFill>
            <a:srgbClr val="47237F"/>
          </a:solidFill>
          <a:ln w="12700">
            <a:solidFill>
              <a:srgbClr val="47237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5248656" y="1572768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C8A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5248656" y="2011680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 implemented with evidence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324344" y="1463040"/>
            <a:ext cx="2057400" cy="1188720"/>
          </a:xfrm>
          <a:prstGeom prst="roundRect">
            <a:avLst>
              <a:gd name="adj" fmla="val 9231"/>
            </a:avLst>
          </a:prstGeom>
          <a:solidFill>
            <a:srgbClr val="47237F"/>
          </a:solidFill>
          <a:ln w="12700">
            <a:solidFill>
              <a:srgbClr val="47237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7507224" y="1572768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C8A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7507224" y="2011680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Effectiveness verified by auditors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9582912" y="1463040"/>
            <a:ext cx="2057400" cy="1188720"/>
          </a:xfrm>
          <a:prstGeom prst="roundRect">
            <a:avLst>
              <a:gd name="adj" fmla="val 9231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9765792" y="1572768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9765792" y="2011680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closed in tracker</a:t>
            </a:r>
            <a:endParaRPr lang="en-US" sz="125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971800"/>
          <a:ext cx="11091672" cy="2852928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20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593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7237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Definition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7237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Response requirement (days from report issue)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723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Major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27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Failure of a required control, or a condition that could compromise the integrity, safety or performance of the works or the system.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Immediate containment. CAPA plan within 7 days; closure within 30 days.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Moderate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800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Significant departure from a specified requirement that could affect quality if left uncorrected.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CAPA plan within 14 days; closure within 45 days.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877B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Isolated lapse or documentation gap with low immediate impact.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CAPA plan within 14 days; closure within 60 days.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9D8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Improvement suggestion; not a breach of a requirement.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Auditee decides and records its response; reviewed at the next audit.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0" name="Text 17"/>
          <p:cNvSpPr txBox="1"/>
          <p:nvPr/>
        </p:nvSpPr>
        <p:spPr>
          <a:xfrm>
            <a:off x="548640" y="617220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i="1" dirty="0">
                <a:solidFill>
                  <a:srgbClr val="6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Definitions and response windows are proposed for approval of this standard.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484632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>
            <a:normAutofit/>
          </a:bodyPr>
          <a:lstStyle>
            <a:lvl1pPr>
              <a:defRPr sz="900">
                <a:solidFill>
                  <a:srgbClr val="6A64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r>
              <a:rPr lang="en-US" b="0"/>
              <a:t>17</a:t>
            </a:r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body" idx="102" hasCustomPrompt="1"/>
          </p:nvPr>
        </p:nvSpPr>
        <p:spPr>
          <a:xfrm>
            <a:off x="548640" y="36576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472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CORRECTIVE ACTIONS</a:t>
            </a:r>
            <a:endParaRPr lang="en-US" sz="1100" dirty="0"/>
          </a:p>
        </p:txBody>
      </p:sp>
      <p:sp>
        <p:nvSpPr>
          <p:cNvPr id="3" name="Text 1"/>
          <p:cNvSpPr>
            <a:spLocks noGrp="1"/>
          </p:cNvSpPr>
          <p:nvPr>
            <p:ph type="title" idx="103" hasCustomPrompt="1"/>
          </p:nvPr>
        </p:nvSpPr>
        <p:spPr>
          <a:xfrm>
            <a:off x="548640" y="621792"/>
            <a:ext cx="9784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Corrective action tracker</a:t>
            </a:r>
            <a:endParaRPr lang="en-US" sz="28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1672" cy="4352544"/>
        </p:xfrm>
        <a:graphic>
          <a:graphicData uri="http://schemas.openxmlformats.org/drawingml/2006/table">
            <a:tbl>
              <a:tblPr/>
              <a:tblGrid>
                <a:gridCol w="731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35331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7237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7237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Root cause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7237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Correction and corrective action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7237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7237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Due date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7237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7237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Verified by / date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723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>
                      <a:normAutofit/>
                    </a:bodyPr>
                    <a:lstStyle/>
                    <a:p>
                      <a:pPr marL="0" indent="0">
                        <a:buNone/>
                      </a:pPr>
                      <a:r>
                        <a:rPr lang="en-US" sz="1100" b="1" i="1" dirty="0">
                          <a:solidFill>
                            <a:srgbClr val="6E5F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mapped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r>
                        <a:rPr lang="en-US" sz="1100" i="1" dirty="0">
                          <a:solidFill>
                            <a:srgbClr val="6E5F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mapped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>
                        <a:buNone/>
                      </a:pPr>
                      <a:r>
                        <a:rPr lang="en-US" sz="1100" i="1" dirty="0">
                          <a:solidFill>
                            <a:srgbClr val="6E5F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>
                        <a:buNone/>
                      </a:pPr>
                      <a:r>
                        <a:rPr lang="en-US" sz="1100" i="1" dirty="0">
                          <a:solidFill>
                            <a:srgbClr val="6E5F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i="1" dirty="0">
                          <a:solidFill>
                            <a:srgbClr val="6E5F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>
                        <a:buNone/>
                      </a:pPr>
                      <a:r>
                        <a:rPr lang="en-US" sz="1100" i="1" dirty="0">
                          <a:solidFill>
                            <a:srgbClr val="6E5F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Noura Alharbi / QC Manager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>
                        <a:buNone/>
                      </a:pPr>
                      <a:r>
                        <a:rPr lang="en-US" sz="1100" i="1" dirty="0">
                          <a:solidFill>
                            <a:srgbClr val="6E5F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mapped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>
                        <a:buNone/>
                      </a:pPr>
                      <a:r>
                        <a:rPr lang="en-US" sz="1100" i="1" dirty="0">
                          <a:solidFill>
                            <a:srgbClr val="6E5F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Submitted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100" dirty="0"/>
                        <a:t>To be mapped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>
                      <a:normAutofit/>
                    </a:bodyPr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100" dirty="0"/>
                        <a:t>To be mapped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100" dirty="0"/>
                        <a:t>To be mapped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100" dirty="0"/>
                        <a:t>To be mapped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100" dirty="0"/>
                        <a:t>To be mapped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100" dirty="0"/>
                        <a:t>To be mapped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100" dirty="0"/>
                        <a:t>To be mapped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100" dirty="0"/>
                        <a:t>To be mapped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100" dirty="0"/>
                        <a:t>To be mapped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>
                      <a:normAutofit/>
                    </a:bodyPr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100" dirty="0"/>
                        <a:t>To be mapped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100" dirty="0"/>
                        <a:t>To be mapped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100" dirty="0"/>
                        <a:t>To be mapped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100" dirty="0"/>
                        <a:t>To be mapped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100" dirty="0"/>
                        <a:t>To be mapped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100" dirty="0"/>
                        <a:t>To be mapped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100" dirty="0"/>
                        <a:t>To be mapped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100" dirty="0"/>
                        <a:t>To be mapped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>
                      <a:normAutofit/>
                    </a:bodyPr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100" dirty="0"/>
                        <a:t>To be mapped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100" dirty="0"/>
                        <a:t>To be mapped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100" dirty="0"/>
                        <a:t>To be mapped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100" dirty="0"/>
                        <a:t>To be mapped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100" dirty="0"/>
                        <a:t>To be mapped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100" dirty="0"/>
                        <a:t>To be mapped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100" dirty="0"/>
                        <a:t>To be mapped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100" dirty="0"/>
                        <a:t>To be mapped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>
                      <a:normAutofit/>
                    </a:bodyPr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100" dirty="0"/>
                        <a:t>To be mapped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100" dirty="0"/>
                        <a:t>To be mapped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100" dirty="0"/>
                        <a:t>To be mapped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100" dirty="0"/>
                        <a:t>To be mapped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100" dirty="0"/>
                        <a:t>To be mapped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100" dirty="0"/>
                        <a:t>To be mapped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100" dirty="0"/>
                        <a:t>To be mapped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100" dirty="0"/>
                        <a:t>To be mapped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6928">
                <a:tc>
                  <a:txBody>
                    <a:bodyPr>
                      <a:normAutofit/>
                    </a:bodyPr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100" dirty="0"/>
                        <a:t>To be mapped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100" dirty="0"/>
                        <a:t>To be mapped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100" dirty="0"/>
                        <a:t>To be mapped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100" dirty="0"/>
                        <a:t>To be mapped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100" dirty="0"/>
                        <a:t>To be mapped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100" dirty="0"/>
                        <a:t>To be mapped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100" dirty="0"/>
                        <a:t>To be mapped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100" dirty="0"/>
                        <a:t>To be mapped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66928">
                <a:tc>
                  <a:txBody>
                    <a:bodyPr>
                      <a:normAutofit/>
                    </a:bodyPr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100" dirty="0"/>
                        <a:t>To be mapped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100" dirty="0"/>
                        <a:t>To be mapped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100" dirty="0"/>
                        <a:t>To be mapped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100" dirty="0"/>
                        <a:t>To be mapped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100" dirty="0"/>
                        <a:t>To be mapped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100" dirty="0"/>
                        <a:t>To be mapped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100" dirty="0"/>
                        <a:t>To be mapped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100" dirty="0"/>
                        <a:t>To be mapped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617220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i="1" dirty="0">
                <a:solidFill>
                  <a:srgbClr val="6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Status: Open, In progress, Implemented, Verified, Closed. Use the same reference numbers as the register.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484632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>
            <a:normAutofit/>
          </a:bodyPr>
          <a:lstStyle>
            <a:lvl1pPr>
              <a:defRPr sz="900">
                <a:solidFill>
                  <a:srgbClr val="6A64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r>
              <a:rPr lang="en-US" b="0"/>
              <a:t>18</a:t>
            </a:r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body" idx="102" hasCustomPrompt="1"/>
          </p:nvPr>
        </p:nvSpPr>
        <p:spPr>
          <a:xfrm>
            <a:off x="548640" y="36576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472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</a:t>
            </a:r>
            <a:endParaRPr lang="en-US" sz="1100" dirty="0"/>
          </a:p>
        </p:txBody>
      </p:sp>
      <p:sp>
        <p:nvSpPr>
          <p:cNvPr id="3" name="Text 1"/>
          <p:cNvSpPr>
            <a:spLocks noGrp="1"/>
          </p:cNvSpPr>
          <p:nvPr>
            <p:ph type="title" idx="103" hasCustomPrompt="1"/>
          </p:nvPr>
        </p:nvSpPr>
        <p:spPr>
          <a:xfrm>
            <a:off x="548640" y="621792"/>
            <a:ext cx="9784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priority actions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3611880" cy="4160520"/>
          </a:xfrm>
          <a:prstGeom prst="roundRect">
            <a:avLst>
              <a:gd name="adj" fmla="val 3038"/>
            </a:avLst>
          </a:prstGeom>
          <a:solidFill>
            <a:srgbClr val="F3EEFA"/>
          </a:solidFill>
          <a:ln w="12700">
            <a:solidFill>
              <a:srgbClr val="F3EE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77240" y="1664208"/>
            <a:ext cx="3154680" cy="365760"/>
          </a:xfrm>
          <a:prstGeom prst="roundRect">
            <a:avLst>
              <a:gd name="adj" fmla="val 50000"/>
            </a:avLst>
          </a:prstGeom>
          <a:solidFill>
            <a:srgbClr val="C0273B"/>
          </a:solidFill>
          <a:ln w="12700">
            <a:solidFill>
              <a:srgbClr val="C027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777240" y="1664208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 the risk now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286000"/>
            <a:ext cx="32004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7800" indent="-177800">
              <a:spcAft>
                <a:spcPts val="1600"/>
              </a:spcAft>
              <a:buSzPct val="100000"/>
              <a:buChar char="•"/>
            </a:pPr>
            <a:r>
              <a:rPr lang="en-US" sz="1400" i="1" dirty="0">
                <a:solidFill>
                  <a:srgbClr val="6E5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be mapped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288536" y="1463040"/>
            <a:ext cx="3611880" cy="4160520"/>
          </a:xfrm>
          <a:prstGeom prst="roundRect">
            <a:avLst>
              <a:gd name="adj" fmla="val 3038"/>
            </a:avLst>
          </a:prstGeom>
          <a:solidFill>
            <a:srgbClr val="F3EEFA"/>
          </a:solidFill>
          <a:ln w="12700">
            <a:solidFill>
              <a:srgbClr val="F3EE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517136" y="1664208"/>
            <a:ext cx="3154680" cy="365760"/>
          </a:xfrm>
          <a:prstGeom prst="roundRect">
            <a:avLst>
              <a:gd name="adj" fmla="val 50000"/>
            </a:avLst>
          </a:prstGeom>
          <a:solidFill>
            <a:srgbClr val="E3800B"/>
          </a:solidFill>
          <a:ln w="12700">
            <a:solidFill>
              <a:srgbClr val="E380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4517136" y="1664208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and close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17136" y="2286000"/>
            <a:ext cx="32004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7800" indent="-177800">
              <a:spcAft>
                <a:spcPts val="1600"/>
              </a:spcAft>
              <a:buSzPct val="100000"/>
              <a:buChar char="•"/>
            </a:pPr>
            <a:r>
              <a:rPr lang="en-US" sz="1400" i="1" dirty="0">
                <a:solidFill>
                  <a:srgbClr val="6E5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be mapped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028432" y="1463040"/>
            <a:ext cx="3611880" cy="4160520"/>
          </a:xfrm>
          <a:prstGeom prst="roundRect">
            <a:avLst>
              <a:gd name="adj" fmla="val 3038"/>
            </a:avLst>
          </a:prstGeom>
          <a:solidFill>
            <a:srgbClr val="F3EEFA"/>
          </a:solidFill>
          <a:ln w="12700">
            <a:solidFill>
              <a:srgbClr val="F3EE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8257032" y="1664208"/>
            <a:ext cx="3154680" cy="365760"/>
          </a:xfrm>
          <a:prstGeom prst="roundRect">
            <a:avLst>
              <a:gd name="adj" fmla="val 50000"/>
            </a:avLst>
          </a:prstGeom>
          <a:solidFill>
            <a:srgbClr val="47237F"/>
          </a:solidFill>
          <a:ln w="12700">
            <a:solidFill>
              <a:srgbClr val="47237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8257032" y="1664208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 recurrence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8257032" y="2286000"/>
            <a:ext cx="32004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7800" indent="-177800">
              <a:spcAft>
                <a:spcPts val="1600"/>
              </a:spcAft>
              <a:buSzPct val="100000"/>
              <a:buChar char="•"/>
            </a:pPr>
            <a:r>
              <a:rPr lang="en-US" sz="1400" i="1" dirty="0">
                <a:solidFill>
                  <a:srgbClr val="6E5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be mapped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5760720"/>
            <a:ext cx="11091672" cy="457200"/>
          </a:xfrm>
          <a:prstGeom prst="roundRect">
            <a:avLst>
              <a:gd name="adj" fmla="val 24000"/>
            </a:avLst>
          </a:prstGeom>
          <a:solidFill>
            <a:srgbClr val="2B1257"/>
          </a:solidFill>
          <a:ln w="12700">
            <a:solidFill>
              <a:srgbClr val="2B12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548640" y="576072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finding requires a documented root cause and corrective action plan; Major findings are actioned first.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484632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>
            <a:normAutofit/>
          </a:bodyPr>
          <a:lstStyle>
            <a:lvl1pPr>
              <a:defRPr sz="900">
                <a:solidFill>
                  <a:srgbClr val="6A64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r>
              <a:rPr lang="en-US" b="0"/>
              <a:t>19</a:t>
            </a:r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309360" cy="6858000"/>
          </a:xfrm>
          <a:prstGeom prst="rect">
            <a:avLst/>
          </a:prstGeom>
          <a:solidFill>
            <a:srgbClr val="2B1257"/>
          </a:solidFill>
          <a:ln w="12700">
            <a:solidFill>
              <a:srgbClr val="2B12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1645920" y="4480560"/>
            <a:ext cx="4572000" cy="4572000"/>
          </a:xfrm>
          <a:prstGeom prst="ellipse">
            <a:avLst/>
          </a:prstGeom>
          <a:solidFill>
            <a:srgbClr val="47237F">
              <a:alpha val="65000"/>
            </a:srgbClr>
          </a:solidFill>
          <a:ln w="12700">
            <a:solidFill>
              <a:srgbClr val="47237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640080" y="685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8A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00584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be mapped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194560"/>
            <a:ext cx="50292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500" i="1" dirty="0">
                <a:solidFill>
                  <a:srgbClr val="CDB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be mapped</a:t>
            </a:r>
            <a:endParaRPr lang="en-US" sz="1500" dirty="0"/>
          </a:p>
          <a:p>
            <a:pPr marL="0" indent="0">
              <a:buNone/>
            </a:pPr>
            <a:r>
              <a:rPr lang="en-US" sz="1500" i="1" dirty="0">
                <a:solidFill>
                  <a:srgbClr val="CDB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be mapped</a:t>
            </a:r>
            <a:endParaRPr lang="en-US" sz="1500" dirty="0"/>
          </a:p>
          <a:p>
            <a:pPr marL="0" indent="0">
              <a:buNone/>
            </a:pPr>
            <a:r>
              <a:rPr lang="en-US" sz="1500" i="1" dirty="0">
                <a:solidFill>
                  <a:srgbClr val="CDB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Follow-up audit: To be mapped · To be mapped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50749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DCD2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issue date: To be mapped</a:t>
            </a:r>
            <a:r>
              <a:rPr lang="en-US" sz="1250" i="1" dirty="0">
                <a:solidFill>
                  <a:srgbClr val="CDB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544068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DCD2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Distribution: To be mapped</a:t>
            </a:r>
            <a:r>
              <a:rPr lang="en-US" sz="1250" i="1" dirty="0">
                <a:solidFill>
                  <a:srgbClr val="CDB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6766560" y="5486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472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SIGN-OFF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6766560" y="96012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766560" y="123444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i="1" dirty="0">
                <a:solidFill>
                  <a:srgbClr val="6E5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auditor: Subbu Sankar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766560" y="1920240"/>
            <a:ext cx="2926080" cy="0"/>
          </a:xfrm>
          <a:prstGeom prst="line">
            <a:avLst/>
          </a:prstGeom>
          <a:noFill/>
          <a:ln w="9525">
            <a:solidFill>
              <a:srgbClr val="6A6480"/>
            </a:solidFill>
            <a:prstDash val="solid"/>
          </a:ln>
        </p:spPr>
        <p:txBody>
          <a:bodyPr>
            <a:normAutofit/>
          </a:bodyPr>
          <a:lstStyle/>
          <a:p>
            <a:endParaRPr lang="en-US"/>
            <a:r>
              <a:rPr lang="en-US"/>
              <a:t>To be mapped</a:t>
            </a:r>
          </a:p>
        </p:txBody>
      </p:sp>
      <p:sp>
        <p:nvSpPr>
          <p:cNvPr id="13" name="Shape 11"/>
          <p:cNvSpPr/>
          <p:nvPr/>
        </p:nvSpPr>
        <p:spPr>
          <a:xfrm>
            <a:off x="10058400" y="1920240"/>
            <a:ext cx="1554480" cy="0"/>
          </a:xfrm>
          <a:prstGeom prst="line">
            <a:avLst/>
          </a:prstGeom>
          <a:noFill/>
          <a:ln w="9525">
            <a:solidFill>
              <a:srgbClr val="6A6480"/>
            </a:solidFill>
            <a:prstDash val="solid"/>
          </a:ln>
        </p:spPr>
        <p:txBody>
          <a:bodyPr>
            <a:normAutofit/>
          </a:bodyPr>
          <a:lstStyle/>
          <a:p>
            <a:endParaRPr lang="en-US"/>
            <a:r>
              <a:rPr lang="en-US"/>
              <a:t>To be mapped</a:t>
            </a:r>
          </a:p>
        </p:txBody>
      </p:sp>
      <p:sp>
        <p:nvSpPr>
          <p:cNvPr id="14" name="Text 12"/>
          <p:cNvSpPr txBox="1"/>
          <p:nvPr/>
        </p:nvSpPr>
        <p:spPr>
          <a:xfrm>
            <a:off x="6766560" y="1956816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Signature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10058400" y="1956816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</a:t>
            </a:r>
            <a:endParaRPr lang="en-US" sz="950" dirty="0"/>
          </a:p>
        </p:txBody>
      </p:sp>
      <p:sp>
        <p:nvSpPr>
          <p:cNvPr id="16" name="Text 14"/>
          <p:cNvSpPr txBox="1"/>
          <p:nvPr/>
        </p:nvSpPr>
        <p:spPr>
          <a:xfrm>
            <a:off x="6766560" y="233172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Reviewed by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6766560" y="260604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en-US" sz="1200" i="1" dirty="0">
                <a:solidFill>
                  <a:srgbClr val="6E5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be mapped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766560" y="3291840"/>
            <a:ext cx="2926080" cy="0"/>
          </a:xfrm>
          <a:prstGeom prst="line">
            <a:avLst/>
          </a:prstGeom>
          <a:noFill/>
          <a:ln w="9525">
            <a:solidFill>
              <a:srgbClr val="6A6480"/>
            </a:solidFill>
            <a:prstDash val="solid"/>
          </a:ln>
        </p:spPr>
        <p:txBody>
          <a:bodyPr>
            <a:normAutofit/>
          </a:bodyPr>
          <a:lstStyle/>
          <a:p>
            <a:endParaRPr lang="en-US"/>
            <a:r>
              <a:rPr lang="en-US"/>
              <a:t>To be mapped</a:t>
            </a:r>
          </a:p>
        </p:txBody>
      </p:sp>
      <p:sp>
        <p:nvSpPr>
          <p:cNvPr id="19" name="Shape 17"/>
          <p:cNvSpPr/>
          <p:nvPr/>
        </p:nvSpPr>
        <p:spPr>
          <a:xfrm>
            <a:off x="10058400" y="3291840"/>
            <a:ext cx="1554480" cy="0"/>
          </a:xfrm>
          <a:prstGeom prst="line">
            <a:avLst/>
          </a:prstGeom>
          <a:noFill/>
          <a:ln w="9525">
            <a:solidFill>
              <a:srgbClr val="6A6480"/>
            </a:solidFill>
            <a:prstDash val="solid"/>
          </a:ln>
        </p:spPr>
        <p:txBody>
          <a:bodyPr>
            <a:normAutofit/>
          </a:bodyPr>
          <a:lstStyle/>
          <a:p>
            <a:endParaRPr lang="en-US"/>
            <a:r>
              <a:rPr lang="en-US"/>
              <a:t>To be mapped</a:t>
            </a:r>
          </a:p>
        </p:txBody>
      </p:sp>
      <p:sp>
        <p:nvSpPr>
          <p:cNvPr id="20" name="Text 18"/>
          <p:cNvSpPr txBox="1"/>
          <p:nvPr/>
        </p:nvSpPr>
        <p:spPr>
          <a:xfrm>
            <a:off x="6766560" y="3328416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Signature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10058400" y="3328416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</a:t>
            </a:r>
            <a:endParaRPr lang="en-US" sz="950" dirty="0"/>
          </a:p>
        </p:txBody>
      </p:sp>
      <p:sp>
        <p:nvSpPr>
          <p:cNvPr id="22" name="Text 20"/>
          <p:cNvSpPr txBox="1"/>
          <p:nvPr/>
        </p:nvSpPr>
        <p:spPr>
          <a:xfrm>
            <a:off x="6766560" y="370332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 by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6766560" y="397764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i="1" dirty="0">
                <a:solidFill>
                  <a:srgbClr val="6E5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be mapped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766560" y="4663440"/>
            <a:ext cx="2926080" cy="0"/>
          </a:xfrm>
          <a:prstGeom prst="line">
            <a:avLst/>
          </a:prstGeom>
          <a:noFill/>
          <a:ln w="9525">
            <a:solidFill>
              <a:srgbClr val="6A6480"/>
            </a:solidFill>
            <a:prstDash val="solid"/>
          </a:ln>
        </p:spPr>
        <p:txBody>
          <a:bodyPr>
            <a:normAutofit/>
          </a:bodyPr>
          <a:lstStyle/>
          <a:p>
            <a:endParaRPr lang="en-US"/>
            <a:r>
              <a:rPr lang="en-US"/>
              <a:t>To be mapped</a:t>
            </a:r>
          </a:p>
        </p:txBody>
      </p:sp>
      <p:sp>
        <p:nvSpPr>
          <p:cNvPr id="25" name="Shape 23"/>
          <p:cNvSpPr/>
          <p:nvPr/>
        </p:nvSpPr>
        <p:spPr>
          <a:xfrm>
            <a:off x="10058400" y="4663440"/>
            <a:ext cx="1554480" cy="0"/>
          </a:xfrm>
          <a:prstGeom prst="line">
            <a:avLst/>
          </a:prstGeom>
          <a:noFill/>
          <a:ln w="9525">
            <a:solidFill>
              <a:srgbClr val="6A6480"/>
            </a:solidFill>
            <a:prstDash val="solid"/>
          </a:ln>
        </p:spPr>
        <p:txBody>
          <a:bodyPr>
            <a:normAutofit/>
          </a:bodyPr>
          <a:lstStyle/>
          <a:p>
            <a:endParaRPr lang="en-US"/>
            <a:r>
              <a:rPr lang="en-US"/>
              <a:t>To be mapped</a:t>
            </a:r>
          </a:p>
        </p:txBody>
      </p:sp>
      <p:sp>
        <p:nvSpPr>
          <p:cNvPr id="26" name="Text 24"/>
          <p:cNvSpPr txBox="1"/>
          <p:nvPr/>
        </p:nvSpPr>
        <p:spPr>
          <a:xfrm>
            <a:off x="6766560" y="4700016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Signature</a:t>
            </a:r>
            <a:endParaRPr lang="en-US" sz="950" dirty="0"/>
          </a:p>
        </p:txBody>
      </p:sp>
      <p:sp>
        <p:nvSpPr>
          <p:cNvPr id="27" name="Text 25"/>
          <p:cNvSpPr txBox="1"/>
          <p:nvPr/>
        </p:nvSpPr>
        <p:spPr>
          <a:xfrm>
            <a:off x="10058400" y="4700016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</a:t>
            </a:r>
            <a:endParaRPr lang="en-US" sz="950" dirty="0"/>
          </a:p>
        </p:txBody>
      </p:sp>
      <p:sp>
        <p:nvSpPr>
          <p:cNvPr id="28" name="Text 26"/>
          <p:cNvSpPr txBox="1"/>
          <p:nvPr/>
        </p:nvSpPr>
        <p:spPr>
          <a:xfrm>
            <a:off x="6766560" y="507492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Acknowledged by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6766560" y="534924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i="1" dirty="0">
                <a:solidFill>
                  <a:srgbClr val="6E5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be mapped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766560" y="6035040"/>
            <a:ext cx="2926080" cy="0"/>
          </a:xfrm>
          <a:prstGeom prst="line">
            <a:avLst/>
          </a:prstGeom>
          <a:noFill/>
          <a:ln w="9525">
            <a:solidFill>
              <a:srgbClr val="6A6480"/>
            </a:solidFill>
            <a:prstDash val="solid"/>
          </a:ln>
        </p:spPr>
        <p:txBody>
          <a:bodyPr>
            <a:normAutofit/>
          </a:bodyPr>
          <a:lstStyle/>
          <a:p>
            <a:endParaRPr lang="en-US"/>
            <a:r>
              <a:rPr lang="en-US"/>
              <a:t>To be mapped</a:t>
            </a:r>
          </a:p>
        </p:txBody>
      </p:sp>
      <p:sp>
        <p:nvSpPr>
          <p:cNvPr id="31" name="Shape 29"/>
          <p:cNvSpPr/>
          <p:nvPr/>
        </p:nvSpPr>
        <p:spPr>
          <a:xfrm>
            <a:off x="10058400" y="6035040"/>
            <a:ext cx="1554480" cy="0"/>
          </a:xfrm>
          <a:prstGeom prst="line">
            <a:avLst/>
          </a:prstGeom>
          <a:noFill/>
          <a:ln w="9525">
            <a:solidFill>
              <a:srgbClr val="6A6480"/>
            </a:solidFill>
            <a:prstDash val="solid"/>
          </a:ln>
        </p:spPr>
        <p:txBody>
          <a:bodyPr>
            <a:normAutofit/>
          </a:bodyPr>
          <a:lstStyle/>
          <a:p>
            <a:endParaRPr lang="en-US"/>
            <a:r>
              <a:rPr lang="en-US"/>
              <a:t>To be mapped</a:t>
            </a:r>
          </a:p>
        </p:txBody>
      </p:sp>
      <p:sp>
        <p:nvSpPr>
          <p:cNvPr id="32" name="Text 30"/>
          <p:cNvSpPr txBox="1"/>
          <p:nvPr/>
        </p:nvSpPr>
        <p:spPr>
          <a:xfrm>
            <a:off x="6766560" y="6071616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Signature</a:t>
            </a:r>
            <a:endParaRPr lang="en-US" sz="950" dirty="0"/>
          </a:p>
        </p:txBody>
      </p:sp>
      <p:sp>
        <p:nvSpPr>
          <p:cNvPr id="33" name="Text 31"/>
          <p:cNvSpPr txBox="1"/>
          <p:nvPr/>
        </p:nvSpPr>
        <p:spPr>
          <a:xfrm>
            <a:off x="10058400" y="6071616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2B125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-2926080"/>
            <a:ext cx="6035040" cy="6035040"/>
          </a:xfrm>
          <a:prstGeom prst="ellipse">
            <a:avLst/>
          </a:prstGeom>
          <a:solidFill>
            <a:srgbClr val="47237F">
              <a:alpha val="45000"/>
            </a:srgbClr>
          </a:solidFill>
          <a:ln w="12700">
            <a:solidFill>
              <a:srgbClr val="47237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2377440" y="4206240"/>
            <a:ext cx="5852160" cy="5852160"/>
          </a:xfrm>
          <a:prstGeom prst="ellipse">
            <a:avLst/>
          </a:prstGeom>
          <a:solidFill>
            <a:srgbClr val="47237F">
              <a:alpha val="75000"/>
            </a:srgbClr>
          </a:solidFill>
          <a:ln w="12700">
            <a:solidFill>
              <a:srgbClr val="47237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731520" y="109728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of Report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4688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8A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ATTACHMENTS (TICK THOSE INCLUDED)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92608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CDB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be mapped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292608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plan / programme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5760720" y="292608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CDB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be mapped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6263640" y="292608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Signed attendance sheet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356616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CDB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be mapped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356616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checklists and working notes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5760720" y="356616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CDB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be mapped</a:t>
            </a:r>
            <a:endParaRPr lang="en-US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6263640" y="356616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Photographic evidence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731520" y="420624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CDB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be mapped</a:t>
            </a:r>
            <a:endParaRPr lang="en-US" sz="2400" dirty="0"/>
          </a:p>
        </p:txBody>
      </p:sp>
      <p:sp>
        <p:nvSpPr>
          <p:cNvPr id="15" name="Text 13"/>
          <p:cNvSpPr txBox="1"/>
          <p:nvPr/>
        </p:nvSpPr>
        <p:spPr>
          <a:xfrm>
            <a:off x="1234440" y="420624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Non-conformity forms and CAPA responses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5760720" y="420624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CDB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be mapped</a:t>
            </a:r>
            <a:endParaRPr lang="en-US" sz="2400" dirty="0"/>
          </a:p>
        </p:txBody>
      </p:sp>
      <p:sp>
        <p:nvSpPr>
          <p:cNvPr id="17" name="Text 15"/>
          <p:cNvSpPr txBox="1"/>
          <p:nvPr/>
        </p:nvSpPr>
        <p:spPr>
          <a:xfrm>
            <a:off x="6263640" y="420624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Supporting records and reports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9692640" y="5669280"/>
            <a:ext cx="1737360" cy="82296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9" name="Image 0" descr="/home/claude/img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57232" y="5760720"/>
            <a:ext cx="1408176" cy="621792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472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OVERVIEW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9784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programme and participation</a:t>
            </a:r>
            <a:endParaRPr lang="en-US" sz="2800" dirty="0"/>
          </a:p>
        </p:txBody>
      </p:sp>
      <p:pic>
        <p:nvPicPr>
          <p:cNvPr id="4" name="Image 0" descr="/home/claude/img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07040" y="310896"/>
            <a:ext cx="1051560" cy="46268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7395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6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QAM-IA/26-001 | Project A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1155680" y="6473952"/>
            <a:ext cx="4846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6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463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472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programme (01-09-2026 – 10-09-2026)</a:t>
            </a:r>
            <a:r>
              <a:rPr lang="en-US" sz="1500" b="1" dirty="0" err="1">
                <a:solidFill>
                  <a:srgbClr val="472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r>
              <a:rPr lang="en-US" sz="1500" b="1" dirty="0">
                <a:solidFill>
                  <a:srgbClr val="472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941832" y="2057400"/>
            <a:ext cx="0" cy="3429000"/>
          </a:xfrm>
          <a:prstGeom prst="line">
            <a:avLst/>
          </a:prstGeom>
          <a:noFill/>
          <a:ln w="25400">
            <a:solidFill>
              <a:srgbClr val="DCD2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795528" y="2057400"/>
            <a:ext cx="292608" cy="292608"/>
          </a:xfrm>
          <a:prstGeom prst="ellipse">
            <a:avLst/>
          </a:prstGeom>
          <a:solidFill>
            <a:srgbClr val="47237F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 txBox="1"/>
          <p:nvPr/>
        </p:nvSpPr>
        <p:spPr>
          <a:xfrm>
            <a:off x="1325880" y="1892808"/>
            <a:ext cx="448056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 vertOverflow="clip" horzOverflow="clip">
            <a:noAutofit/>
          </a:bodyPr>
          <a:lstStyle/>
          <a:p>
            <a:pPr marL="0" indent="0">
              <a:buNone/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00" b="1" dirty="0">
                <a:solidFill>
                  <a:srgbClr val="472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Start: 3 Sep 2026, 14:51</a:t>
            </a:r>
            <a:endParaRPr lang="en-US" sz="1100" dirty="0"/>
          </a:p>
          <a:p>
            <a:pPr marL="0" indent="0">
              <a:buNone/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00" b="1" dirty="0">
                <a:solidFill>
                  <a:srgbClr val="472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End: 4 Sep 2026, 14:51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1325880" y="2253008"/>
            <a:ext cx="4480560" cy="480000"/>
          </a:xfrm>
          <a:prstGeom prst="rect">
            <a:avLst/>
          </a:prstGeom>
          <a:noFill/>
          <a:ln/>
        </p:spPr>
        <p:txBody>
          <a:bodyPr wrap="none" lIns="0" tIns="0" rIns="0" bIns="0" rtlCol="0" anchor="t" vertOverflow="clip" horzOverflow="clip">
            <a:noAutofit/>
          </a:bodyPr>
          <a:lstStyle/>
          <a:p>
            <a:pPr marL="0" indent="0">
              <a:buNone/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50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Achievements</a:t>
            </a:r>
            <a:endParaRPr lang="en-US" sz="1050" dirty="0"/>
          </a:p>
          <a:p>
            <a:pPr marL="0" indent="0">
              <a:buNone/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50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Material Receiving Inspection Process\</a:t>
            </a:r>
            <a:endParaRPr lang="en-US" sz="1050" dirty="0"/>
          </a:p>
          <a:p>
            <a:pPr marL="0" indent="0">
              <a:buNone/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50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Records of Material Receiving at site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795528" y="2926080"/>
            <a:ext cx="292608" cy="292608"/>
          </a:xfrm>
          <a:prstGeom prst="ellipse">
            <a:avLst/>
          </a:prstGeom>
          <a:solidFill>
            <a:srgbClr val="47237F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 txBox="1"/>
          <p:nvPr/>
        </p:nvSpPr>
        <p:spPr>
          <a:xfrm>
            <a:off x="1325880" y="2761488"/>
            <a:ext cx="448056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 vertOverflow="clip" horzOverflow="clip">
            <a:noAutofit/>
          </a:bodyPr>
          <a:lstStyle/>
          <a:p>
            <a:pPr marL="0" indent="0">
              <a:buNone/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00" b="1" dirty="0">
                <a:solidFill>
                  <a:srgbClr val="472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Start: 3 Sep 2026, 14:51</a:t>
            </a:r>
            <a:endParaRPr lang="en-US" sz="1100" dirty="0"/>
          </a:p>
          <a:p>
            <a:pPr marL="0" indent="0">
              <a:buNone/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00" b="1" dirty="0">
                <a:solidFill>
                  <a:srgbClr val="472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End: 4 Sep 2026, 14:51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1325880" y="3121688"/>
            <a:ext cx="4480560" cy="480000"/>
          </a:xfrm>
          <a:prstGeom prst="rect">
            <a:avLst/>
          </a:prstGeom>
          <a:noFill/>
          <a:ln/>
        </p:spPr>
        <p:txBody>
          <a:bodyPr wrap="none" lIns="0" tIns="0" rIns="0" bIns="0" rtlCol="0" anchor="t" vertOverflow="clip" horzOverflow="clip">
            <a:noAutofit/>
          </a:bodyPr>
          <a:lstStyle/>
          <a:p>
            <a:pPr marL="0" indent="0">
              <a:buNone/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50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Records of Procurement Non- Conformities</a:t>
            </a:r>
            <a:endParaRPr lang="en-US" sz="1050" dirty="0"/>
          </a:p>
          <a:p>
            <a:pPr marL="0" indent="0">
              <a:buNone/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50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Auditee: Ajay Mishra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795528" y="3794760"/>
            <a:ext cx="292608" cy="292608"/>
          </a:xfrm>
          <a:prstGeom prst="ellipse">
            <a:avLst/>
          </a:prstGeom>
          <a:solidFill>
            <a:srgbClr val="DCD2EF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 txBox="1"/>
          <p:nvPr/>
        </p:nvSpPr>
        <p:spPr>
          <a:xfrm>
            <a:off x="1325880" y="3630168"/>
            <a:ext cx="448056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 vertOverflow="clip" horzOverflow="clip">
            <a:noAutofit/>
          </a:bodyPr>
          <a:lstStyle/>
          <a:p>
            <a:pPr marL="0" indent="0">
              <a:buNone/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00" b="1" dirty="0">
                <a:solidFill>
                  <a:srgbClr val="472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Start: 01-10-2026</a:t>
            </a:r>
            <a:endParaRPr lang="en-US" sz="1100" dirty="0"/>
          </a:p>
          <a:p>
            <a:pPr marL="0" indent="0">
              <a:buNone/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00" b="1" dirty="0">
                <a:solidFill>
                  <a:srgbClr val="472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End: To be mapped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325880" y="3990368"/>
            <a:ext cx="4480560" cy="480000"/>
          </a:xfrm>
          <a:prstGeom prst="rect">
            <a:avLst/>
          </a:prstGeom>
          <a:noFill/>
          <a:ln/>
        </p:spPr>
        <p:txBody>
          <a:bodyPr wrap="none" lIns="0" tIns="0" rIns="0" bIns="0" rtlCol="0" anchor="t" vertOverflow="clip" horzOverflow="clip">
            <a:noAutofit/>
          </a:bodyPr>
          <a:lstStyle/>
          <a:p>
            <a:pPr marL="0" indent="0">
              <a:buNone/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50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Activity: Opening meeting (recorded)</a:t>
            </a:r>
            <a:endParaRPr lang="en-US" sz="1050" dirty="0"/>
          </a:p>
          <a:p>
            <a:pPr marL="0" indent="0">
              <a:buNone/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50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Remarks: ok</a:t>
            </a:r>
            <a:endParaRPr lang="en-US" sz="1050" dirty="0"/>
          </a:p>
          <a:p>
            <a:pPr marL="0" indent="0">
              <a:buNone/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50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Auditee: Ajay Mishra, Subbu Sankar, Sara 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795528" y="4663440"/>
            <a:ext cx="292608" cy="292608"/>
          </a:xfrm>
          <a:prstGeom prst="ellipse">
            <a:avLst/>
          </a:prstGeom>
          <a:solidFill>
            <a:srgbClr val="47237F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 txBox="1"/>
          <p:nvPr/>
        </p:nvSpPr>
        <p:spPr>
          <a:xfrm>
            <a:off x="1325880" y="4498848"/>
            <a:ext cx="448056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 vertOverflow="clip" horzOverflow="clip">
            <a:noAutofit/>
          </a:bodyPr>
          <a:lstStyle/>
          <a:p>
            <a:pPr marL="0" indent="0">
              <a:buNone/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00" b="1" dirty="0">
                <a:solidFill>
                  <a:srgbClr val="472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Start: 01-10-2026</a:t>
            </a:r>
            <a:endParaRPr lang="en-US" sz="1100" dirty="0"/>
          </a:p>
          <a:p>
            <a:pPr marL="0" indent="0">
              <a:buNone/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00" b="1" dirty="0">
                <a:solidFill>
                  <a:srgbClr val="472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End: To be mapped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1325880" y="4859048"/>
            <a:ext cx="4480560" cy="480000"/>
          </a:xfrm>
          <a:prstGeom prst="rect">
            <a:avLst/>
          </a:prstGeom>
          <a:noFill/>
          <a:ln/>
        </p:spPr>
        <p:txBody>
          <a:bodyPr wrap="none" lIns="0" tIns="0" rIns="0" bIns="0" rtlCol="0" anchor="t" vertOverflow="clip" horzOverflow="clip">
            <a:noAutofit/>
          </a:bodyPr>
          <a:lstStyle/>
          <a:p>
            <a:pPr marL="0" indent="0">
              <a:buNone/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50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Al-Dosari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795528" y="5532120"/>
            <a:ext cx="292608" cy="292608"/>
          </a:xfrm>
          <a:prstGeom prst="ellipse">
            <a:avLst/>
          </a:prstGeom>
          <a:solidFill>
            <a:srgbClr val="47237F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 txBox="1"/>
          <p:nvPr/>
        </p:nvSpPr>
        <p:spPr>
          <a:xfrm>
            <a:off x="1325880" y="5367528"/>
            <a:ext cx="448056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 vertOverflow="clip" horzOverflow="clip">
            <a:noAutofit/>
          </a:bodyPr>
          <a:lstStyle/>
          <a:p>
            <a:pPr marL="0" indent="0">
              <a:buNone/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00" b="1" dirty="0">
                <a:solidFill>
                  <a:srgbClr val="472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Start: 09-10-2026</a:t>
            </a:r>
            <a:endParaRPr lang="en-US" sz="1100" dirty="0"/>
          </a:p>
          <a:p>
            <a:pPr marL="0" indent="0">
              <a:buNone/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00" b="1" dirty="0">
                <a:solidFill>
                  <a:srgbClr val="472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End: To be mapped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325880" y="5727728"/>
            <a:ext cx="4480560" cy="480000"/>
          </a:xfrm>
          <a:prstGeom prst="rect">
            <a:avLst/>
          </a:prstGeom>
          <a:noFill/>
          <a:ln/>
        </p:spPr>
        <p:txBody>
          <a:bodyPr wrap="none" lIns="0" tIns="0" rIns="0" bIns="0" rtlCol="0" anchor="t" vertOverflow="clip" horzOverflow="clip">
            <a:noAutofit/>
          </a:bodyPr>
          <a:lstStyle/>
          <a:p>
            <a:pPr marL="0" indent="0">
              <a:buNone/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50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Activity: Closing meeting (recorded)</a:t>
            </a:r>
            <a:endParaRPr lang="en-US" sz="1050" dirty="0"/>
          </a:p>
          <a:p>
            <a:pPr marL="0" indent="0">
              <a:buNone/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50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Remarks: ok</a:t>
            </a:r>
            <a:endParaRPr lang="en-US" sz="1050" dirty="0"/>
          </a:p>
          <a:p>
            <a:pPr marL="0" indent="0">
              <a:buNone/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50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Auditee: Ajay Mishra, Subbu Sankar, Sara 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6400800" y="1463040"/>
            <a:ext cx="5239512" cy="1417320"/>
          </a:xfrm>
          <a:prstGeom prst="roundRect">
            <a:avLst>
              <a:gd name="adj" fmla="val 7742"/>
            </a:avLst>
          </a:prstGeom>
          <a:solidFill>
            <a:srgbClr val="F3EEFA"/>
          </a:solidFill>
          <a:ln w="12700">
            <a:solidFill>
              <a:srgbClr val="F3EE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2"/>
          <p:cNvSpPr/>
          <p:nvPr/>
        </p:nvSpPr>
        <p:spPr>
          <a:xfrm>
            <a:off x="6629400" y="1645920"/>
            <a:ext cx="457200" cy="457200"/>
          </a:xfrm>
          <a:prstGeom prst="ellipse">
            <a:avLst/>
          </a:prstGeom>
          <a:solidFill>
            <a:srgbClr val="DCD2EF"/>
          </a:solidFill>
          <a:ln w="12700">
            <a:solidFill>
              <a:srgbClr val="DCD2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52844" y="1769364"/>
            <a:ext cx="210312" cy="210312"/>
          </a:xfrm>
          <a:prstGeom prst="rect">
            <a:avLst/>
          </a:prstGeom>
        </p:spPr>
      </p:pic>
      <p:sp>
        <p:nvSpPr>
          <p:cNvPr id="27" name="Text 23"/>
          <p:cNvSpPr txBox="1"/>
          <p:nvPr/>
        </p:nvSpPr>
        <p:spPr>
          <a:xfrm>
            <a:off x="7269480" y="16276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472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team</a:t>
            </a:r>
            <a:endParaRPr lang="en-US" sz="1500" dirty="0"/>
          </a:p>
        </p:txBody>
      </p:sp>
      <p:sp>
        <p:nvSpPr>
          <p:cNvPr id="28" name="Text 24"/>
          <p:cNvSpPr txBox="1"/>
          <p:nvPr/>
        </p:nvSpPr>
        <p:spPr>
          <a:xfrm>
            <a:off x="7269480" y="1993392"/>
            <a:ext cx="4206240" cy="731520"/>
          </a:xfrm>
          <a:prstGeom prst="rect">
            <a:avLst/>
          </a:prstGeom>
          <a:noFill/>
          <a:ln/>
        </p:spPr>
        <p:txBody>
          <a:bodyPr wrap="none" lIns="0" tIns="0" rIns="0" bIns="0" rtlCol="0" anchor="t" vertOverflow="clip" horzOverflow="clip">
            <a:noAutofit/>
          </a:bodyPr>
          <a:lstStyle/>
          <a:p>
            <a:pPr>
              <a:lnSpc>
                <a:spcPts val="125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00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be mapped</a:t>
            </a:r>
            <a:endParaRPr lang="en-US" sz="1100" dirty="0"/>
          </a:p>
        </p:txBody>
      </p:sp>
      <p:sp>
        <p:nvSpPr>
          <p:cNvPr id="29" name="Shape 25"/>
          <p:cNvSpPr/>
          <p:nvPr/>
        </p:nvSpPr>
        <p:spPr>
          <a:xfrm>
            <a:off x="6400800" y="3063240"/>
            <a:ext cx="5239512" cy="1600200"/>
          </a:xfrm>
          <a:prstGeom prst="roundRect">
            <a:avLst>
              <a:gd name="adj" fmla="val 6857"/>
            </a:avLst>
          </a:prstGeom>
          <a:solidFill>
            <a:srgbClr val="F3EEFA"/>
          </a:solidFill>
          <a:ln w="12700">
            <a:solidFill>
              <a:srgbClr val="F3EE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6"/>
          <p:cNvSpPr/>
          <p:nvPr/>
        </p:nvSpPr>
        <p:spPr>
          <a:xfrm>
            <a:off x="6629400" y="3246120"/>
            <a:ext cx="457200" cy="457200"/>
          </a:xfrm>
          <a:prstGeom prst="ellipse">
            <a:avLst/>
          </a:prstGeom>
          <a:solidFill>
            <a:srgbClr val="DCD2EF"/>
          </a:solidFill>
          <a:ln w="12700">
            <a:solidFill>
              <a:srgbClr val="DCD2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52844" y="3369564"/>
            <a:ext cx="210312" cy="210312"/>
          </a:xfrm>
          <a:prstGeom prst="rect">
            <a:avLst/>
          </a:prstGeom>
        </p:spPr>
      </p:pic>
      <p:sp>
        <p:nvSpPr>
          <p:cNvPr id="32" name="Text 27"/>
          <p:cNvSpPr txBox="1"/>
          <p:nvPr/>
        </p:nvSpPr>
        <p:spPr>
          <a:xfrm>
            <a:off x="7269480" y="32278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472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Auditees present</a:t>
            </a:r>
            <a:endParaRPr lang="en-US" sz="1500" dirty="0"/>
          </a:p>
        </p:txBody>
      </p:sp>
      <p:sp>
        <p:nvSpPr>
          <p:cNvPr id="33" name="Text 28"/>
          <p:cNvSpPr txBox="1"/>
          <p:nvPr/>
        </p:nvSpPr>
        <p:spPr>
          <a:xfrm>
            <a:off x="7269480" y="3593592"/>
            <a:ext cx="4206240" cy="1005840"/>
          </a:xfrm>
          <a:prstGeom prst="rect">
            <a:avLst/>
          </a:prstGeom>
          <a:noFill/>
          <a:ln/>
        </p:spPr>
        <p:txBody>
          <a:bodyPr wrap="none" lIns="0" tIns="0" rIns="0" bIns="0" rtlCol="0" anchor="t" vertOverflow="clip" horzOverflow="clip">
            <a:noAutofit/>
          </a:bodyPr>
          <a:lstStyle/>
          <a:p>
            <a:pPr marL="0" indent="0">
              <a:buNone/>
              <a:lnSpc>
                <a:spcPts val="125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00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be mapped</a:t>
            </a:r>
            <a:endParaRPr lang="en-US" sz="1100" dirty="0"/>
          </a:p>
        </p:txBody>
      </p:sp>
      <p:sp>
        <p:nvSpPr>
          <p:cNvPr id="34" name="Shape 29"/>
          <p:cNvSpPr/>
          <p:nvPr/>
        </p:nvSpPr>
        <p:spPr>
          <a:xfrm>
            <a:off x="6400800" y="4846320"/>
            <a:ext cx="5239512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027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0"/>
          <p:cNvSpPr/>
          <p:nvPr/>
        </p:nvSpPr>
        <p:spPr>
          <a:xfrm>
            <a:off x="6629400" y="5029200"/>
            <a:ext cx="457200" cy="457200"/>
          </a:xfrm>
          <a:prstGeom prst="ellipse">
            <a:avLst/>
          </a:prstGeom>
          <a:solidFill>
            <a:srgbClr val="FBE4E7"/>
          </a:solidFill>
          <a:ln w="12700">
            <a:solidFill>
              <a:srgbClr val="FBE4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52844" y="5152644"/>
            <a:ext cx="210312" cy="210312"/>
          </a:xfrm>
          <a:prstGeom prst="rect">
            <a:avLst/>
          </a:prstGeom>
        </p:spPr>
      </p:pic>
      <p:sp>
        <p:nvSpPr>
          <p:cNvPr id="37" name="Text 31"/>
          <p:cNvSpPr txBox="1"/>
          <p:nvPr/>
        </p:nvSpPr>
        <p:spPr>
          <a:xfrm>
            <a:off x="7269480" y="501091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C027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represented</a:t>
            </a:r>
            <a:endParaRPr lang="en-US" sz="1500" dirty="0"/>
          </a:p>
        </p:txBody>
      </p:sp>
      <p:sp>
        <p:nvSpPr>
          <p:cNvPr id="38" name="Text 32"/>
          <p:cNvSpPr txBox="1"/>
          <p:nvPr/>
        </p:nvSpPr>
        <p:spPr>
          <a:xfrm>
            <a:off x="7269480" y="5349240"/>
            <a:ext cx="4206240" cy="777240"/>
          </a:xfrm>
          <a:prstGeom prst="rect">
            <a:avLst/>
          </a:prstGeom>
          <a:noFill/>
          <a:ln/>
        </p:spPr>
        <p:txBody>
          <a:bodyPr wrap="none" lIns="0" tIns="0" rIns="0" bIns="0" rtlCol="0" anchor="t" vertOverflow="clip" horzOverflow="clip">
            <a:noAutofit/>
          </a:bodyPr>
          <a:lstStyle/>
          <a:p>
            <a:pPr marL="0" indent="0">
              <a:buNone/>
              <a:lnSpc>
                <a:spcPts val="125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00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be mapped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472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OVERVIEW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9784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programme and participation</a:t>
            </a:r>
            <a:endParaRPr lang="en-US" sz="2800" dirty="0"/>
          </a:p>
        </p:txBody>
      </p:sp>
      <p:pic>
        <p:nvPicPr>
          <p:cNvPr id="4" name="Image 0" descr="/home/claude/img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07040" y="310896"/>
            <a:ext cx="1051560" cy="46268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7395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6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QAM-IA/26-001 | Project A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1155680" y="6473952"/>
            <a:ext cx="4846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6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463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472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programme (01-09-2026 – 10-09-2026)</a:t>
            </a:r>
            <a:r>
              <a:rPr lang="en-US" sz="1500" b="1" dirty="0" err="1">
                <a:solidFill>
                  <a:srgbClr val="472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r>
              <a:rPr lang="en-US" sz="1500" b="1" dirty="0">
                <a:solidFill>
                  <a:srgbClr val="472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941832" y="2057400"/>
            <a:ext cx="0" cy="3429000"/>
          </a:xfrm>
          <a:prstGeom prst="line">
            <a:avLst/>
          </a:prstGeom>
          <a:noFill/>
          <a:ln w="25400">
            <a:solidFill>
              <a:srgbClr val="DCD2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795528" y="2057400"/>
            <a:ext cx="292608" cy="292608"/>
          </a:xfrm>
          <a:prstGeom prst="ellipse">
            <a:avLst/>
          </a:prstGeom>
          <a:solidFill>
            <a:srgbClr val="47237F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 txBox="1"/>
          <p:nvPr/>
        </p:nvSpPr>
        <p:spPr>
          <a:xfrm>
            <a:off x="1325880" y="1892808"/>
            <a:ext cx="448056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 vertOverflow="clip" horzOverflow="clip">
            <a:noAutofit/>
          </a:bodyPr>
          <a:lstStyle/>
          <a:p>
            <a:pPr marL="0" indent="0">
              <a:buNone/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00" b="1" dirty="0">
                <a:solidFill>
                  <a:srgbClr val="472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Start: 09-10-2026</a:t>
            </a:r>
            <a:endParaRPr lang="en-US" sz="1100" dirty="0"/>
          </a:p>
          <a:p>
            <a:pPr marL="0" indent="0">
              <a:buNone/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00" b="1" dirty="0">
                <a:solidFill>
                  <a:srgbClr val="472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End: To be mapped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1325880" y="2253008"/>
            <a:ext cx="4480560" cy="480000"/>
          </a:xfrm>
          <a:prstGeom prst="rect">
            <a:avLst/>
          </a:prstGeom>
          <a:noFill/>
          <a:ln/>
        </p:spPr>
        <p:txBody>
          <a:bodyPr wrap="none" lIns="0" tIns="0" rIns="0" bIns="0" rtlCol="0" anchor="t" vertOverflow="clip" horzOverflow="clip">
            <a:noAutofit/>
          </a:bodyPr>
          <a:lstStyle/>
          <a:p>
            <a:pPr marL="0" indent="0">
              <a:buNone/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50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Al-Dosari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795528" y="2926080"/>
            <a:ext cx="292608" cy="292608"/>
          </a:xfrm>
          <a:prstGeom prst="ellipse">
            <a:avLst/>
          </a:prstGeom>
          <a:solidFill>
            <a:srgbClr val="47237F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 txBox="1"/>
          <p:nvPr/>
        </p:nvSpPr>
        <p:spPr>
          <a:xfrm>
            <a:off x="1325880" y="2761488"/>
            <a:ext cx="448056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 vertOverflow="clip" horzOverflow="clip">
            <a:noAutofit/>
          </a:bodyPr>
          <a:lstStyle/>
          <a:p>
            <a:pPr marL="0" indent="0">
              <a:buNone/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00" b="1" dirty="0">
                <a:solidFill>
                  <a:srgbClr val="472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be mapped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1325880" y="3121688"/>
            <a:ext cx="4480560" cy="480000"/>
          </a:xfrm>
          <a:prstGeom prst="rect">
            <a:avLst/>
          </a:prstGeom>
          <a:noFill/>
          <a:ln/>
        </p:spPr>
        <p:txBody>
          <a:bodyPr wrap="none" lIns="0" tIns="0" rIns="0" bIns="0" rtlCol="0" anchor="t" vertOverflow="clip" horzOverflow="clip">
            <a:noAutofit/>
          </a:bodyPr>
          <a:lstStyle/>
          <a:p>
            <a:pPr marL="0" indent="0">
              <a:buNone/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50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be mapped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795528" y="3794760"/>
            <a:ext cx="292608" cy="292608"/>
          </a:xfrm>
          <a:prstGeom prst="ellipse">
            <a:avLst/>
          </a:prstGeom>
          <a:solidFill>
            <a:srgbClr val="DCD2EF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 txBox="1"/>
          <p:nvPr/>
        </p:nvSpPr>
        <p:spPr>
          <a:xfrm>
            <a:off x="1325880" y="3630168"/>
            <a:ext cx="448056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 vertOverflow="clip" horzOverflow="clip">
            <a:noAutofit/>
          </a:bodyPr>
          <a:lstStyle/>
          <a:p>
            <a:pPr marL="0" indent="0">
              <a:buNone/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00" b="1" dirty="0">
                <a:solidFill>
                  <a:srgbClr val="472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be mapped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325880" y="3990368"/>
            <a:ext cx="4480560" cy="480000"/>
          </a:xfrm>
          <a:prstGeom prst="rect">
            <a:avLst/>
          </a:prstGeom>
          <a:noFill/>
          <a:ln/>
        </p:spPr>
        <p:txBody>
          <a:bodyPr wrap="none" lIns="0" tIns="0" rIns="0" bIns="0" rtlCol="0" anchor="t" vertOverflow="clip" horzOverflow="clip">
            <a:noAutofit/>
          </a:bodyPr>
          <a:lstStyle/>
          <a:p>
            <a:pPr marL="0" indent="0">
              <a:buNone/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50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be mapped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795528" y="4663440"/>
            <a:ext cx="292608" cy="292608"/>
          </a:xfrm>
          <a:prstGeom prst="ellipse">
            <a:avLst/>
          </a:prstGeom>
          <a:solidFill>
            <a:srgbClr val="47237F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 txBox="1"/>
          <p:nvPr/>
        </p:nvSpPr>
        <p:spPr>
          <a:xfrm>
            <a:off x="1325880" y="4498848"/>
            <a:ext cx="448056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 vertOverflow="clip" horzOverflow="clip">
            <a:noAutofit/>
          </a:bodyPr>
          <a:lstStyle/>
          <a:p>
            <a:pPr marL="0" indent="0">
              <a:buNone/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00" b="1" dirty="0">
                <a:solidFill>
                  <a:srgbClr val="472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be mapped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1325880" y="4859048"/>
            <a:ext cx="4480560" cy="480000"/>
          </a:xfrm>
          <a:prstGeom prst="rect">
            <a:avLst/>
          </a:prstGeom>
          <a:noFill/>
          <a:ln/>
        </p:spPr>
        <p:txBody>
          <a:bodyPr wrap="none" lIns="0" tIns="0" rIns="0" bIns="0" rtlCol="0" anchor="t" vertOverflow="clip" horzOverflow="clip">
            <a:noAutofit/>
          </a:bodyPr>
          <a:lstStyle/>
          <a:p>
            <a:pPr marL="0" indent="0">
              <a:buNone/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50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be mapped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795528" y="5532120"/>
            <a:ext cx="292608" cy="292608"/>
          </a:xfrm>
          <a:prstGeom prst="ellipse">
            <a:avLst/>
          </a:prstGeom>
          <a:solidFill>
            <a:srgbClr val="47237F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 txBox="1"/>
          <p:nvPr/>
        </p:nvSpPr>
        <p:spPr>
          <a:xfrm>
            <a:off x="1325880" y="5367528"/>
            <a:ext cx="448056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 vertOverflow="clip" horzOverflow="clip">
            <a:noAutofit/>
          </a:bodyPr>
          <a:lstStyle/>
          <a:p>
            <a:pPr marL="0" indent="0">
              <a:buNone/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00" b="1" dirty="0">
                <a:solidFill>
                  <a:srgbClr val="472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be mapped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325880" y="5727728"/>
            <a:ext cx="4480560" cy="480000"/>
          </a:xfrm>
          <a:prstGeom prst="rect">
            <a:avLst/>
          </a:prstGeom>
          <a:noFill/>
          <a:ln/>
        </p:spPr>
        <p:txBody>
          <a:bodyPr wrap="none" lIns="0" tIns="0" rIns="0" bIns="0" rtlCol="0" anchor="t" vertOverflow="clip" horzOverflow="clip">
            <a:noAutofit/>
          </a:bodyPr>
          <a:lstStyle/>
          <a:p>
            <a:pPr marL="0" indent="0">
              <a:buNone/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50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be mapped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6400800" y="1463040"/>
            <a:ext cx="5239512" cy="1417320"/>
          </a:xfrm>
          <a:prstGeom prst="roundRect">
            <a:avLst>
              <a:gd name="adj" fmla="val 7742"/>
            </a:avLst>
          </a:prstGeom>
          <a:solidFill>
            <a:srgbClr val="F3EEFA"/>
          </a:solidFill>
          <a:ln w="12700">
            <a:solidFill>
              <a:srgbClr val="F3EE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2"/>
          <p:cNvSpPr/>
          <p:nvPr/>
        </p:nvSpPr>
        <p:spPr>
          <a:xfrm>
            <a:off x="6629400" y="1645920"/>
            <a:ext cx="457200" cy="457200"/>
          </a:xfrm>
          <a:prstGeom prst="ellipse">
            <a:avLst/>
          </a:prstGeom>
          <a:solidFill>
            <a:srgbClr val="DCD2EF"/>
          </a:solidFill>
          <a:ln w="12700">
            <a:solidFill>
              <a:srgbClr val="DCD2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52844" y="1769364"/>
            <a:ext cx="210312" cy="210312"/>
          </a:xfrm>
          <a:prstGeom prst="rect">
            <a:avLst/>
          </a:prstGeom>
        </p:spPr>
      </p:pic>
      <p:sp>
        <p:nvSpPr>
          <p:cNvPr id="27" name="Text 23"/>
          <p:cNvSpPr txBox="1"/>
          <p:nvPr/>
        </p:nvSpPr>
        <p:spPr>
          <a:xfrm>
            <a:off x="7269480" y="16276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472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team</a:t>
            </a:r>
            <a:endParaRPr lang="en-US" sz="1500" dirty="0"/>
          </a:p>
        </p:txBody>
      </p:sp>
      <p:sp>
        <p:nvSpPr>
          <p:cNvPr id="28" name="Text 24"/>
          <p:cNvSpPr txBox="1"/>
          <p:nvPr/>
        </p:nvSpPr>
        <p:spPr>
          <a:xfrm>
            <a:off x="7269480" y="1993392"/>
            <a:ext cx="4206240" cy="731520"/>
          </a:xfrm>
          <a:prstGeom prst="rect">
            <a:avLst/>
          </a:prstGeom>
          <a:noFill/>
          <a:ln/>
        </p:spPr>
        <p:txBody>
          <a:bodyPr wrap="none" lIns="0" tIns="0" rIns="0" bIns="0" rtlCol="0" anchor="t" vertOverflow="clip" horzOverflow="clip">
            <a:noAutofit/>
          </a:bodyPr>
          <a:lstStyle/>
          <a:p>
            <a:pPr>
              <a:lnSpc>
                <a:spcPts val="125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00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be mapped</a:t>
            </a:r>
            <a:endParaRPr lang="en-US" sz="1100" dirty="0"/>
          </a:p>
        </p:txBody>
      </p:sp>
      <p:sp>
        <p:nvSpPr>
          <p:cNvPr id="29" name="Shape 25"/>
          <p:cNvSpPr/>
          <p:nvPr/>
        </p:nvSpPr>
        <p:spPr>
          <a:xfrm>
            <a:off x="6400800" y="3063240"/>
            <a:ext cx="5239512" cy="1600200"/>
          </a:xfrm>
          <a:prstGeom prst="roundRect">
            <a:avLst>
              <a:gd name="adj" fmla="val 6857"/>
            </a:avLst>
          </a:prstGeom>
          <a:solidFill>
            <a:srgbClr val="F3EEFA"/>
          </a:solidFill>
          <a:ln w="12700">
            <a:solidFill>
              <a:srgbClr val="F3EE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6"/>
          <p:cNvSpPr/>
          <p:nvPr/>
        </p:nvSpPr>
        <p:spPr>
          <a:xfrm>
            <a:off x="6629400" y="3246120"/>
            <a:ext cx="457200" cy="457200"/>
          </a:xfrm>
          <a:prstGeom prst="ellipse">
            <a:avLst/>
          </a:prstGeom>
          <a:solidFill>
            <a:srgbClr val="DCD2EF"/>
          </a:solidFill>
          <a:ln w="12700">
            <a:solidFill>
              <a:srgbClr val="DCD2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52844" y="3369564"/>
            <a:ext cx="210312" cy="210312"/>
          </a:xfrm>
          <a:prstGeom prst="rect">
            <a:avLst/>
          </a:prstGeom>
        </p:spPr>
      </p:pic>
      <p:sp>
        <p:nvSpPr>
          <p:cNvPr id="32" name="Text 27"/>
          <p:cNvSpPr txBox="1"/>
          <p:nvPr/>
        </p:nvSpPr>
        <p:spPr>
          <a:xfrm>
            <a:off x="7269480" y="32278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472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Auditees present</a:t>
            </a:r>
            <a:endParaRPr lang="en-US" sz="1500" dirty="0"/>
          </a:p>
        </p:txBody>
      </p:sp>
      <p:sp>
        <p:nvSpPr>
          <p:cNvPr id="33" name="Text 28"/>
          <p:cNvSpPr txBox="1"/>
          <p:nvPr/>
        </p:nvSpPr>
        <p:spPr>
          <a:xfrm>
            <a:off x="7269480" y="3593592"/>
            <a:ext cx="4206240" cy="1005840"/>
          </a:xfrm>
          <a:prstGeom prst="rect">
            <a:avLst/>
          </a:prstGeom>
          <a:noFill/>
          <a:ln/>
        </p:spPr>
        <p:txBody>
          <a:bodyPr wrap="none" lIns="0" tIns="0" rIns="0" bIns="0" rtlCol="0" anchor="t" vertOverflow="clip" horzOverflow="clip">
            <a:noAutofit/>
          </a:bodyPr>
          <a:lstStyle/>
          <a:p>
            <a:pPr marL="0" indent="0">
              <a:buNone/>
              <a:lnSpc>
                <a:spcPts val="125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00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be mapped</a:t>
            </a:r>
            <a:endParaRPr lang="en-US" sz="1100" dirty="0"/>
          </a:p>
        </p:txBody>
      </p:sp>
      <p:sp>
        <p:nvSpPr>
          <p:cNvPr id="34" name="Shape 29"/>
          <p:cNvSpPr/>
          <p:nvPr/>
        </p:nvSpPr>
        <p:spPr>
          <a:xfrm>
            <a:off x="6400800" y="4846320"/>
            <a:ext cx="5239512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027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0"/>
          <p:cNvSpPr/>
          <p:nvPr/>
        </p:nvSpPr>
        <p:spPr>
          <a:xfrm>
            <a:off x="6629400" y="5029200"/>
            <a:ext cx="457200" cy="457200"/>
          </a:xfrm>
          <a:prstGeom prst="ellipse">
            <a:avLst/>
          </a:prstGeom>
          <a:solidFill>
            <a:srgbClr val="FBE4E7"/>
          </a:solidFill>
          <a:ln w="12700">
            <a:solidFill>
              <a:srgbClr val="FBE4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52844" y="5152644"/>
            <a:ext cx="210312" cy="210312"/>
          </a:xfrm>
          <a:prstGeom prst="rect">
            <a:avLst/>
          </a:prstGeom>
        </p:spPr>
      </p:pic>
      <p:sp>
        <p:nvSpPr>
          <p:cNvPr id="37" name="Text 31"/>
          <p:cNvSpPr txBox="1"/>
          <p:nvPr/>
        </p:nvSpPr>
        <p:spPr>
          <a:xfrm>
            <a:off x="7269480" y="501091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C027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represented</a:t>
            </a:r>
            <a:endParaRPr lang="en-US" sz="1500" dirty="0"/>
          </a:p>
        </p:txBody>
      </p:sp>
      <p:sp>
        <p:nvSpPr>
          <p:cNvPr id="38" name="Text 32"/>
          <p:cNvSpPr txBox="1"/>
          <p:nvPr/>
        </p:nvSpPr>
        <p:spPr>
          <a:xfrm>
            <a:off x="7269480" y="5349240"/>
            <a:ext cx="4206240" cy="777240"/>
          </a:xfrm>
          <a:prstGeom prst="rect">
            <a:avLst/>
          </a:prstGeom>
          <a:noFill/>
          <a:ln/>
        </p:spPr>
        <p:txBody>
          <a:bodyPr wrap="none" lIns="0" tIns="0" rIns="0" bIns="0" rtlCol="0" anchor="t" vertOverflow="clip" horzOverflow="clip">
            <a:noAutofit/>
          </a:bodyPr>
          <a:lstStyle/>
          <a:p>
            <a:pPr marL="0" indent="0">
              <a:buNone/>
              <a:lnSpc>
                <a:spcPts val="125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00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be mapped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body" idx="102" hasCustomPrompt="1"/>
          </p:nvPr>
        </p:nvSpPr>
        <p:spPr>
          <a:xfrm>
            <a:off x="548640" y="36576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472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STATUS</a:t>
            </a:r>
            <a:endParaRPr lang="en-US" sz="1100" dirty="0"/>
          </a:p>
        </p:txBody>
      </p:sp>
      <p:sp>
        <p:nvSpPr>
          <p:cNvPr id="3" name="Text 1"/>
          <p:cNvSpPr>
            <a:spLocks noGrp="1"/>
          </p:cNvSpPr>
          <p:nvPr>
            <p:ph type="title" idx="103" hasCustomPrompt="1"/>
          </p:nvPr>
        </p:nvSpPr>
        <p:spPr>
          <a:xfrm>
            <a:off x="548640" y="621792"/>
            <a:ext cx="9784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and procurement status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001000" y="310896"/>
            <a:ext cx="2377440" cy="274320"/>
          </a:xfrm>
          <a:prstGeom prst="roundRect">
            <a:avLst>
              <a:gd name="adj" fmla="val 50000"/>
            </a:avLst>
          </a:prstGeom>
          <a:solidFill>
            <a:srgbClr val="C8A02A"/>
          </a:solidFill>
          <a:ln w="12700">
            <a:solidFill>
              <a:srgbClr val="C8A0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8001000" y="31089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5440680" cy="4754880"/>
          </a:xfrm>
          <a:prstGeom prst="roundRect">
            <a:avLst>
              <a:gd name="adj" fmla="val 2308"/>
            </a:avLst>
          </a:prstGeom>
          <a:solidFill>
            <a:srgbClr val="F3EEFA"/>
          </a:solidFill>
          <a:ln w="12700">
            <a:solidFill>
              <a:srgbClr val="F3EE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199632" y="1463040"/>
            <a:ext cx="5440680" cy="4754880"/>
          </a:xfrm>
          <a:prstGeom prst="roundRect">
            <a:avLst>
              <a:gd name="adj" fmla="val 2308"/>
            </a:avLst>
          </a:prstGeom>
          <a:solidFill>
            <a:srgbClr val="F3EEFA"/>
          </a:solidFill>
          <a:ln w="12700">
            <a:solidFill>
              <a:srgbClr val="F3EE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777240" y="1600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472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submittals (DTS)</a:t>
            </a:r>
            <a:endParaRPr lang="en-US" sz="15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965960"/>
          <a:ext cx="4983480" cy="2267712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34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7237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7237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723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3464">
                <a:tc>
                  <a:txBody>
                    <a:bodyPr>
                      <a:normAutofit/>
                    </a:bodyPr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submittals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150" dirty="0"/>
                        <a:t>150</a:t>
                      </a: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150" dirty="0"/>
                        <a:t>100%</a:t>
                      </a: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3464">
                <a:tc>
                  <a:txBody>
                    <a:bodyPr>
                      <a:normAutofit/>
                    </a:bodyPr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mapped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150" dirty="0"/>
                        <a:t>To be mapped</a:t>
                      </a: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150" dirty="0"/>
                        <a:t>To be mapped</a:t>
                      </a: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3464">
                <a:tc>
                  <a:txBody>
                    <a:bodyPr>
                      <a:normAutofit/>
                    </a:bodyPr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mapped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150" dirty="0"/>
                        <a:t>To be mapped</a:t>
                      </a: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150" dirty="0"/>
                        <a:t>To be mapped</a:t>
                      </a: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3464">
                <a:tc>
                  <a:txBody>
                    <a:bodyPr>
                      <a:normAutofit/>
                    </a:bodyPr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mapped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150" dirty="0"/>
                        <a:t>To be mapped</a:t>
                      </a: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150" dirty="0"/>
                        <a:t>To be mapped</a:t>
                      </a: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3464">
                <a:tc>
                  <a:txBody>
                    <a:bodyPr>
                      <a:normAutofit/>
                    </a:bodyPr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mapped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150" dirty="0"/>
                        <a:t>To be mapped</a:t>
                      </a: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150" dirty="0"/>
                        <a:t>To be mapped</a:t>
                      </a: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3464">
                <a:tc>
                  <a:txBody>
                    <a:bodyPr>
                      <a:normAutofit/>
                    </a:bodyPr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mapped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150" dirty="0"/>
                        <a:t>To be mapped</a:t>
                      </a: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150" dirty="0"/>
                        <a:t>To be mapped</a:t>
                      </a: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3464">
                <a:tc>
                  <a:txBody>
                    <a:bodyPr>
                      <a:normAutofit/>
                    </a:bodyPr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mapped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150" dirty="0"/>
                        <a:t>To be mapped</a:t>
                      </a: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mapped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0" name="Text 7"/>
          <p:cNvSpPr txBox="1"/>
          <p:nvPr/>
        </p:nvSpPr>
        <p:spPr>
          <a:xfrm>
            <a:off x="777240" y="4343400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472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Check: sum of statuses equals total submittals</a:t>
            </a:r>
            <a:endParaRPr lang="en-US" sz="1150" dirty="0"/>
          </a:p>
        </p:txBody>
      </p:sp>
      <p:sp>
        <p:nvSpPr>
          <p:cNvPr id="9" name="Shape 8"/>
          <p:cNvSpPr/>
          <p:nvPr/>
        </p:nvSpPr>
        <p:spPr>
          <a:xfrm>
            <a:off x="777240" y="4709160"/>
            <a:ext cx="498348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 txBox="1"/>
          <p:nvPr/>
        </p:nvSpPr>
        <p:spPr>
          <a:xfrm>
            <a:off x="914400" y="4818888"/>
            <a:ext cx="4709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Comment: To be mapped</a:t>
            </a:r>
            <a:r>
              <a:rPr lang="en-US" sz="1200" i="1" dirty="0">
                <a:solidFill>
                  <a:srgbClr val="6E5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6428232" y="1600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472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Procurement</a:t>
            </a:r>
            <a:endParaRPr lang="en-US" sz="1500" dirty="0"/>
          </a:p>
        </p:txBody>
      </p:sp>
      <p:graphicFrame>
        <p:nvGraphicFramePr>
          <p:cNvPr id="2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28232" y="1965960"/>
          <a:ext cx="4983480" cy="2551176"/>
        </p:xfrm>
        <a:graphic>
          <a:graphicData uri="http://schemas.openxmlformats.org/drawingml/2006/table">
            <a:tbl>
              <a:tblPr/>
              <a:tblGrid>
                <a:gridCol w="3840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34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7237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723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3464">
                <a:tc>
                  <a:txBody>
                    <a:bodyPr>
                      <a:normAutofit/>
                    </a:bodyPr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mapped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150" dirty="0"/>
                        <a:t>To be mapped</a:t>
                      </a: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3464">
                <a:tc>
                  <a:txBody>
                    <a:bodyPr>
                      <a:normAutofit/>
                    </a:bodyPr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mapped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150" dirty="0"/>
                        <a:t>To be mapped</a:t>
                      </a: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3464">
                <a:tc>
                  <a:txBody>
                    <a:bodyPr>
                      <a:normAutofit/>
                    </a:bodyPr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mapped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150" dirty="0"/>
                        <a:t>To be mapped</a:t>
                      </a: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3464">
                <a:tc>
                  <a:txBody>
                    <a:bodyPr>
                      <a:normAutofit/>
                    </a:bodyPr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mapped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150" dirty="0"/>
                        <a:t>To be mapped</a:t>
                      </a: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3464">
                <a:tc>
                  <a:txBody>
                    <a:bodyPr>
                      <a:normAutofit/>
                    </a:bodyPr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mapped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150" dirty="0"/>
                        <a:t>To be mapped</a:t>
                      </a: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3464">
                <a:tc>
                  <a:txBody>
                    <a:bodyPr>
                      <a:normAutofit/>
                    </a:bodyPr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mapped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150" dirty="0"/>
                        <a:t>To be mapped</a:t>
                      </a: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3464">
                <a:tc>
                  <a:txBody>
                    <a:bodyPr>
                      <a:normAutofit/>
                    </a:bodyPr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mapped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150" dirty="0"/>
                        <a:t>To be mapped</a:t>
                      </a: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3464">
                <a:tc>
                  <a:txBody>
                    <a:bodyPr>
                      <a:normAutofit/>
                    </a:bodyPr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mapped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150" dirty="0"/>
                        <a:t>To be mapped</a:t>
                      </a: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5" name="Shape 11"/>
          <p:cNvSpPr/>
          <p:nvPr/>
        </p:nvSpPr>
        <p:spPr>
          <a:xfrm>
            <a:off x="6428232" y="4709160"/>
            <a:ext cx="498348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2"/>
          <p:cNvSpPr txBox="1"/>
          <p:nvPr/>
        </p:nvSpPr>
        <p:spPr>
          <a:xfrm>
            <a:off x="6565392" y="4818888"/>
            <a:ext cx="4709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Comment: To be mapped</a:t>
            </a:r>
            <a:r>
              <a:rPr lang="en-US" sz="1200" i="1" dirty="0">
                <a:solidFill>
                  <a:srgbClr val="6E5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484632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>
            <a:normAutofit/>
          </a:bodyPr>
          <a:lstStyle>
            <a:lvl1pPr>
              <a:defRPr sz="900">
                <a:solidFill>
                  <a:srgbClr val="6A64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r>
              <a:rPr lang="en-US" b="0"/>
              <a:t>12</a:t>
            </a:r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2330</Words>
  <Application>Microsoft Office PowerPoint</Application>
  <PresentationFormat>Widescreen</PresentationFormat>
  <Paragraphs>489</Paragraphs>
  <Slides>21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PowerPoint Presentation</vt:lpstr>
      <vt:lpstr>Document control and approval</vt:lpstr>
      <vt:lpstr>Audit details and project profile</vt:lpstr>
      <vt:lpstr>Objective, scope, criteria and method</vt:lpstr>
      <vt:lpstr>PowerPoint Presentation</vt:lpstr>
      <vt:lpstr>Audit results at a glance</vt:lpstr>
      <vt:lpstr>Findings summary by audit area</vt:lpstr>
      <vt:lpstr>Overall project progress</vt:lpstr>
      <vt:lpstr>Design and procurement status</vt:lpstr>
      <vt:lpstr>Areas verified as conforming and good practices</vt:lpstr>
      <vt:lpstr>Non-conformities</vt:lpstr>
      <vt:lpstr>Opportunities for improvement (OFI)</vt:lpstr>
      <vt:lpstr>Photographic evidence</vt:lpstr>
      <vt:lpstr>Finding grades and response requirements</vt:lpstr>
      <vt:lpstr>Corrective action tracker</vt:lpstr>
      <vt:lpstr>Recommended priority actions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Quality Internal Audit Report - Standard Format</dc:title>
  <dc:subject>PptxGenJS Presentation</dc:subject>
  <dc:creator>Algihaz Holding - Quality Assurance</dc:creator>
  <cp:lastModifiedBy>Abdulkarim Alanazi</cp:lastModifiedBy>
  <cp:revision>2</cp:revision>
  <dcterms:created xsi:type="dcterms:W3CDTF">2026-09-21T08:33:37Z</dcterms:created>
  <dcterms:modified xsi:type="dcterms:W3CDTF">2026-09-21T09:19:38Z</dcterms:modified>
</cp:coreProperties>
</file>