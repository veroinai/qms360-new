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75" r:id="rId6"/>
    <p:sldId id="276" r:id="rId25"/>
    <p:sldId id="277" r:id="rId26"/>
    <p:sldId id="278" r:id="rId27"/>
    <p:sldId id="262" r:id="rId7"/>
    <p:sldId id="263" r:id="rId8"/>
    <p:sldId id="264" r:id="rId9"/>
    <p:sldId id="265" r:id="rId10"/>
    <p:sldId id="279" r:id="rId28"/>
    <p:sldId id="266" r:id="rId11"/>
    <p:sldId id="267" r:id="rId12"/>
    <p:sldId id="268" r:id="rId13"/>
    <p:sldId id="269" r:id="rId14"/>
    <p:sldId id="270" r:id="rId15"/>
    <p:sldId id="271" r:id="rId16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231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1051560" cy="4626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Internal Audit Report  |  [Audit Ref]  |  [Project / process name]</a:t>
            </a:r>
            <a:endParaRPr lang="en-US" sz="9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AuditPhoto0" Type="http://schemas.openxmlformats.org/officeDocument/2006/relationships/image" Target="../media/audit-photo-13-0.png"/></Relationships>
</file>

<file path=ppt/slides/_rels/slide1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291840"/>
            <a:ext cx="6766560" cy="6766560"/>
          </a:xfrm>
          <a:prstGeom prst="ellipse">
            <a:avLst/>
          </a:prstGeom>
          <a:solidFill>
            <a:srgbClr val="47237F">
              <a:alpha val="7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-2926080"/>
            <a:ext cx="6035040" cy="6035040"/>
          </a:xfrm>
          <a:prstGeom prst="ellipse">
            <a:avLst/>
          </a:prstGeom>
          <a:solidFill>
            <a:srgbClr val="47237F">
              <a:alpha val="4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400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731520"/>
            <a:ext cx="1408176" cy="6217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057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INTERNAL AUDIT REPORT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688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and Process audits against ISO 9001:2015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REFERENCE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504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DATES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5504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20-10-2026 – 30-10-2026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/ PROJECT NO.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5504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96112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REVISION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961120" y="5504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CONTROL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control and approval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01000" y="310896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C8A02A"/>
          </a:solidFill>
          <a:ln w="12700">
            <a:solidFill>
              <a:srgbClr val="C8A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01000" y="310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information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title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103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Internal Audit Report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no.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383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4023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663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owner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46634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03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5303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quality internal audits conducted by Algihaz auditors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50734"/>
              </p:ext>
            </p:extLst>
          </p:nvPr>
        </p:nvGraphicFramePr>
        <p:xfrm>
          <a:off x="5577840" y="1783080"/>
          <a:ext cx="6062472" cy="206654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and title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Subbu Sankar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5778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history</a:t>
            </a:r>
            <a:endParaRPr lang="en-US" sz="15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677852"/>
              </p:ext>
            </p:extLst>
          </p:nvPr>
        </p:nvGraphicFramePr>
        <p:xfrm>
          <a:off x="5577840" y="4434840"/>
          <a:ext cx="6062472" cy="173736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of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details and project profile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27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details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title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Audit - Project 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reference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type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Internal Product Audit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20-10-2026 – 30-10-2026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/ department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auditor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4617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Subbu Sankar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20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5120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Fahad Al-Mutairi, Ajay Mishra, Ajay Mishra, Sara Al-Dosari, Test User 1 / Line Engineer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623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 representatives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5623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Fahad Al-Mutairi, Ajay Mishra, Ajay Mishra, Sara Al-Dosari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1463040"/>
            <a:ext cx="4416552" cy="4754880"/>
          </a:xfrm>
          <a:prstGeom prst="roundRect">
            <a:avLst>
              <a:gd name="adj" fmla="val 2484"/>
            </a:avLst>
          </a:prstGeom>
          <a:solidFill>
            <a:srgbClr val="2B1257"/>
          </a:solidFill>
          <a:ln w="12700">
            <a:solidFill>
              <a:srgbClr val="2B125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1627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2670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2670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3191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/ project no.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31912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37124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signed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37124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4233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period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42336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0" y="4754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326880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498080" y="5276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326880" y="5276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0" y="5760720"/>
            <a:ext cx="16780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3</a:t>
            </a:r>
            <a:endParaRPr lang="en-US"/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710C952D-D831-EA31-A5D2-F34DE5BBA519}"/>
              </a:ext>
            </a:extLst>
          </p:cNvPr>
          <p:cNvSpPr txBox="1"/>
          <p:nvPr/>
        </p:nvSpPr>
        <p:spPr>
          <a:xfrm>
            <a:off x="9326880" y="5729037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scope, criteria and method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105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Description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866644"/>
            <a:ext cx="210312" cy="2103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2816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3832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System and Process audits against ISO 9001:2015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 / not audited, and why: To be mapped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and sample covered: audit-checklist-template (5).xlsx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worker.png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audit-report-489348d5-f2ca-40e7-83c6-6fc7354ee30e.pdf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 covered: pmo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design_engg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88536" y="256032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17136" y="274320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866644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11496" y="2816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criteria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517136" y="33832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 — All clauses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28432" y="256032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257032" y="274320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476" y="2866644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851392" y="2816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257032" y="33832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To be mapped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basis: To be mapped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programme and participation</a:t>
            </a:r>
            <a:endParaRPr lang="en-US" sz="2800" dirty="0"/>
          </a:p>
        </p:txBody>
      </p:sp>
      <p:pic>
        <p:nvPicPr>
          <p:cNvPr id="4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10896"/>
            <a:ext cx="1051560" cy="462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 | Project 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7395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programme (20-10-2026 – 30-10-2026)</a:t>
            </a:r>
            <a:r>
              <a:rPr lang="en-US" sz="1500" b="1" dirty="0" err="1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41832" y="2057400"/>
            <a:ext cx="0" cy="3429000"/>
          </a:xfrm>
          <a:prstGeom prst="line">
            <a:avLst/>
          </a:prstGeom>
          <a:noFill/>
          <a:ln w="254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95528" y="205740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325880" y="189280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21 Oct 2026, 17:34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21 Oct 2026, 21:38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25300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contracts_dept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Remarks: 1. Review of Process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Department Organization Chart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5528" y="292608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325880" y="276148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21 Oct 2026, 17:34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21 Oct 2026, 21:38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12168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Contracts Objectives achievements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KPI Status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Implementation review of contracts dept. 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5528" y="3794760"/>
            <a:ext cx="292608" cy="292608"/>
          </a:xfrm>
          <a:prstGeom prst="ellipse">
            <a:avLst/>
          </a:prstGeom>
          <a:solidFill>
            <a:srgbClr val="DCD2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325880" y="363016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21 Oct 2026, 17:34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21 Oct 2026, 21:38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99036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SOPs.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Review of All Al-Gihaz projects documents 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 contracts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5528" y="466344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21 Oct 2026, 17:34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21 Oct 2026, 21:38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85904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Verify close out of previous audit 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and its effective implementation.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Records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95528" y="553212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325880" y="536752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21 Oct 2026, 17:34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21 Oct 2026, 21:38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572772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Controls of Document System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Suggestions and Improvements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Auditee: Ajay Mishra, Ajay Mishra, Ajay 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0" y="1463040"/>
            <a:ext cx="5239512" cy="1417320"/>
          </a:xfrm>
          <a:prstGeom prst="roundRect">
            <a:avLst>
              <a:gd name="adj" fmla="val 774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1769364"/>
            <a:ext cx="210312" cy="21031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26948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269480" y="1993392"/>
            <a:ext cx="42062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Fahad Al-Mutairi, Ajay Mishra, Ajay </a:t>
            </a:r>
            <a:endParaRPr lang="en-US" sz="1100"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Mishra, Sara Al-Dosari, Test User 1 / </a:t>
            </a:r>
            <a:endParaRPr lang="en-US" sz="1100"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Engineer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400800" y="3063240"/>
            <a:ext cx="5239512" cy="1600200"/>
          </a:xfrm>
          <a:prstGeom prst="roundRect">
            <a:avLst>
              <a:gd name="adj" fmla="val 685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629400" y="32461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44" y="3369564"/>
            <a:ext cx="210312" cy="21031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26948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Auditees present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7269480" y="3593592"/>
            <a:ext cx="420624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Fahad Al-Mutairi, Ajay Mishra, Ajay </a:t>
            </a:r>
            <a:endParaRPr lang="en-US" sz="1100" dirty="0"/>
          </a:p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Mishra, Sara Al-Dosari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400800" y="4846320"/>
            <a:ext cx="523951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6629400" y="5029200"/>
            <a:ext cx="457200" cy="457200"/>
          </a:xfrm>
          <a:prstGeom prst="ellipse">
            <a:avLst/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5152644"/>
            <a:ext cx="210312" cy="21031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269480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0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represented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7269480" y="5349240"/>
            <a:ext cx="42062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results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788920" cy="1325880"/>
          </a:xfrm>
          <a:prstGeom prst="roundRect">
            <a:avLst>
              <a:gd name="adj" fmla="val 8276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5087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D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463040"/>
            <a:ext cx="2788920" cy="1325880"/>
          </a:xfrm>
          <a:prstGeom prst="roundRect">
            <a:avLst>
              <a:gd name="adj" fmla="val 827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794760" y="1508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improvement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9050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3017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2971800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9050">
            <a:solidFill>
              <a:srgbClr val="E380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560320" y="3017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380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2971800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9050">
            <a:solidFill>
              <a:srgbClr val="587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0" y="3017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87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1463040"/>
            <a:ext cx="4873752" cy="2651760"/>
          </a:xfrm>
          <a:prstGeom prst="roundRect">
            <a:avLst>
              <a:gd name="adj" fmla="val 413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040880" y="16276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RATING: Effective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1993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22768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met; improvements only.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with improvements required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2962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 needed on non-conformities.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3364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effective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36484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or systemic failures of the system or controls.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5806440" cy="1874520"/>
          </a:xfrm>
          <a:prstGeom prst="roundRect">
            <a:avLst>
              <a:gd name="adj" fmla="val 5854"/>
            </a:avLst>
          </a:prstGeom>
          <a:solidFill>
            <a:srgbClr val="2B1257"/>
          </a:solidFill>
          <a:ln w="12700">
            <a:solidFill>
              <a:srgbClr val="2B1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22960" y="44988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CONCLUSION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773168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0" y="4343400"/>
            <a:ext cx="5056632" cy="1874520"/>
          </a:xfrm>
          <a:prstGeom prst="roundRect">
            <a:avLst>
              <a:gd name="adj" fmla="val 585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858000" y="44988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4773168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9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summary by audit area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040880" cy="45720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027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80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77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design_engg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2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must equal the number of findings in the register.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863840" y="1463040"/>
            <a:ext cx="3776472" cy="4754880"/>
          </a:xfrm>
          <a:prstGeom prst="roundRect">
            <a:avLst>
              <a:gd name="adj" fmla="val 290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092440" y="16276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THEMES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92440" y="2011680"/>
            <a:ext cx="457200" cy="457200"/>
          </a:xfrm>
          <a:prstGeom prst="ellipse">
            <a:avLst/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6"/>
          <p:cNvSpPr txBox="1"/>
          <p:nvPr/>
        </p:nvSpPr>
        <p:spPr>
          <a:xfrm>
            <a:off x="80924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92440" y="3383280"/>
            <a:ext cx="457200" cy="457200"/>
          </a:xfrm>
          <a:prstGeom prst="ellipse">
            <a:avLst/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0924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3703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92440" y="4754880"/>
            <a:ext cx="457200" cy="457200"/>
          </a:xfrm>
          <a:prstGeom prst="ellipse">
            <a:avLst/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924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5074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10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progress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01000" y="310896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C8A02A"/>
          </a:solidFill>
          <a:ln w="12700">
            <a:solidFill>
              <a:srgbClr val="C8A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01000" y="310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772400" cy="4279392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period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943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at: To be mapped    Source: To be mapped</a:t>
            </a:r>
            <a:r>
              <a:rPr lang="en-US" sz="11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595360" y="1463040"/>
            <a:ext cx="3044952" cy="2103120"/>
          </a:xfrm>
          <a:prstGeom prst="roundRect">
            <a:avLst>
              <a:gd name="adj" fmla="val 521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8239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</a:t>
            </a:r>
            <a:endParaRPr lang="en-US" sz="1300" dirty="0"/>
          </a:p>
        </p:txBody>
      </p:sp>
      <p:sp>
        <p:nvSpPr>
          <p:cNvPr id="6" name="Text 7"/>
          <p:cNvSpPr txBox="1"/>
          <p:nvPr/>
        </p:nvSpPr>
        <p:spPr>
          <a:xfrm>
            <a:off x="8823960" y="192024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= Actual − Plan, in percentage points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must total 100%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= Σ (weight × phase progress)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95360" y="3749040"/>
            <a:ext cx="3044952" cy="2468880"/>
          </a:xfrm>
          <a:prstGeom prst="roundRect">
            <a:avLst>
              <a:gd name="adj" fmla="val 444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8239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comment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823960" y="420624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11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procurement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01000" y="310896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C8A02A"/>
          </a:solidFill>
          <a:ln w="12700">
            <a:solidFill>
              <a:srgbClr val="C8A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01000" y="310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199632" y="146304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submittals (DTS)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4983480" cy="226771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45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53.57%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10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11.90%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10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11.90%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5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5.95%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Review(U/R)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5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5.95%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5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5.95%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4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77240" y="4343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Check: sum of statuses equals total submittals</a:t>
            </a:r>
            <a:endParaRPr lang="en-US" sz="1150" dirty="0"/>
          </a:p>
        </p:txBody>
      </p:sp>
      <p:sp>
        <p:nvSpPr>
          <p:cNvPr id="9" name="Shape 8"/>
          <p:cNvSpPr/>
          <p:nvPr/>
        </p:nvSpPr>
        <p:spPr>
          <a:xfrm>
            <a:off x="777240" y="4709160"/>
            <a:ext cx="4983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14400" y="4818888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Comment: To be mapped</a:t>
            </a: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28232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5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1965960"/>
          <a:ext cx="4983480" cy="2551176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428232" y="4709160"/>
            <a:ext cx="4983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6565392" y="4818888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Comment: To be mapped</a:t>
            </a: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12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CONFORMING AREAS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verified as conforming and good practices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312724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/ process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verified and found conforming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/ evidence 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4632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77240" y="50749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5223053"/>
            <a:ext cx="252374" cy="2523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4983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practices and positive observations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554480" y="5321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14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NON-CONFORMITY REGISTER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Non-conformities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15137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 gridSpan="5"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Non-conformities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B.1.1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design_engg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the latest approved engineering drawings and specifications being used for construction?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B.2.1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Execution plan is not available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worker.png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15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IMPROVEMENT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improvement (OFI)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15137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 gridSpan="5"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 for improvement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OFI does not require a formal corrective action response; the auditee decides and records its response.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16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Photographic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017520"/>
          </a:xfrm>
          <a:prstGeom prst="rect">
            <a:avLst/>
          </a:prstGeom>
          <a:solidFill>
            <a:srgbClr val="F3EEFA"/>
          </a:solidFill>
          <a:ln w="15875">
            <a:solidFill>
              <a:srgbClr val="A99B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AuditPhoto0"/>
          <a:stretch>
            <a:fillRect/>
          </a:stretch>
        </p:blipFill>
        <p:spPr>
          <a:xfrm>
            <a:off x="548640" y="1463040"/>
            <a:ext cx="5440680" cy="3017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101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worker.png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B.2.1   Grade: Moderate   Date: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9377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Cairo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2578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Project Execution plan is not available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064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1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99632" y="1463040"/>
            <a:ext cx="5440680" cy="3017520"/>
          </a:xfrm>
          <a:prstGeom prst="rect">
            <a:avLst/>
          </a:prstGeom>
          <a:solidFill>
            <a:srgbClr val="F3EEFA"/>
          </a:solidFill>
          <a:ln w="15875">
            <a:solidFill>
              <a:srgbClr val="A99B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33172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199632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199632" y="33101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199632" y="46177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To be mapped   Grade: To be mapped   Date: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199632" y="49377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6199632" y="52578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199632" y="58064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17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AND RESPONSE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grades and response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 root-cause analysis and CAPA plan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07208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990088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990088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 reviews and accepts plan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65776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248656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248656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implemented with evidence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24344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507224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507224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verified by auditors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582912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765792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765792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closed in tracker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91672" cy="285292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requirement (days from report issue)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27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of a required control, or a condition that could compromise the integrity, safety or performance of the works or the system.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containment. CAPA plan within 7 days; closure within 30 days.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80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departure from a specified requirement that could affect quality if left uncorrected.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plan within 14 days; closure within 45 days.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77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lapse or documentation gap with low immediate impact.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plan within 14 days; closure within 60 days.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 suggestion; not a breach of a requirement.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Auditee decides and records its response; reviewed at the next audit.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54864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and response windows are proposed for approval of this standard.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18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 tracker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35254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Correction and corrective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 /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Open, In progress, Implemented, Verified, Closed. Use the same reference numbers as the register.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19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priority actions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3154680" cy="365760"/>
          </a:xfrm>
          <a:prstGeom prst="roundRect">
            <a:avLst>
              <a:gd name="adj" fmla="val 50000"/>
            </a:avLst>
          </a:prstGeom>
          <a:solidFill>
            <a:srgbClr val="C0273B"/>
          </a:solidFill>
          <a:ln w="12700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64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the risk now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88536" y="146304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17136" y="1664208"/>
            <a:ext cx="3154680" cy="365760"/>
          </a:xfrm>
          <a:prstGeom prst="roundRect">
            <a:avLst>
              <a:gd name="adj" fmla="val 50000"/>
            </a:avLst>
          </a:prstGeom>
          <a:solidFill>
            <a:srgbClr val="E3800B"/>
          </a:solidFill>
          <a:ln w="12700">
            <a:solidFill>
              <a:srgbClr val="E380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17136" y="1664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and close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2286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28432" y="146304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57032" y="1664208"/>
            <a:ext cx="3154680" cy="365760"/>
          </a:xfrm>
          <a:prstGeom prst="roundRect">
            <a:avLst>
              <a:gd name="adj" fmla="val 50000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57032" y="1664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recurrence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57032" y="2286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76072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2B1257"/>
          </a:solidFill>
          <a:ln w="12700">
            <a:solidFill>
              <a:srgbClr val="2B1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requires a documented root cause and corrective action plan; Major findings are actioned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2B1257"/>
          </a:solidFill>
          <a:ln w="12700">
            <a:solidFill>
              <a:srgbClr val="2B1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480560"/>
            <a:ext cx="4572000" cy="4572000"/>
          </a:xfrm>
          <a:prstGeom prst="ellipse">
            <a:avLst/>
          </a:prstGeom>
          <a:solidFill>
            <a:srgbClr val="47237F">
              <a:alpha val="6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05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Conclusion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audit: To be mapped · To be mapped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074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DCD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issue date: To be mapped</a:t>
            </a:r>
            <a:r>
              <a:rPr lang="en-US" sz="125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440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DCD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 To be mapped</a:t>
            </a:r>
            <a:r>
              <a:rPr lang="en-US" sz="125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960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234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auditor: Subbu Sankar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920240"/>
            <a:ext cx="29260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13" name="Shape 11"/>
          <p:cNvSpPr/>
          <p:nvPr/>
        </p:nvSpPr>
        <p:spPr>
          <a:xfrm>
            <a:off x="10058400" y="1920240"/>
            <a:ext cx="15544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6766560" y="1956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19568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3291840"/>
            <a:ext cx="29260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19" name="Shape 17"/>
          <p:cNvSpPr/>
          <p:nvPr/>
        </p:nvSpPr>
        <p:spPr>
          <a:xfrm>
            <a:off x="10058400" y="3291840"/>
            <a:ext cx="15544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20" name="Text 18"/>
          <p:cNvSpPr txBox="1"/>
          <p:nvPr/>
        </p:nvSpPr>
        <p:spPr>
          <a:xfrm>
            <a:off x="6766560" y="3328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0" y="33284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703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977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4663440"/>
            <a:ext cx="29260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25" name="Shape 23"/>
          <p:cNvSpPr/>
          <p:nvPr/>
        </p:nvSpPr>
        <p:spPr>
          <a:xfrm>
            <a:off x="10058400" y="4663440"/>
            <a:ext cx="15544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26" name="Text 24"/>
          <p:cNvSpPr txBox="1"/>
          <p:nvPr/>
        </p:nvSpPr>
        <p:spPr>
          <a:xfrm>
            <a:off x="6766560" y="47000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47000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by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5349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66560" y="6035040"/>
            <a:ext cx="29260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31" name="Shape 29"/>
          <p:cNvSpPr/>
          <p:nvPr/>
        </p:nvSpPr>
        <p:spPr>
          <a:xfrm>
            <a:off x="10058400" y="6035040"/>
            <a:ext cx="15544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32" name="Text 30"/>
          <p:cNvSpPr txBox="1"/>
          <p:nvPr/>
        </p:nvSpPr>
        <p:spPr>
          <a:xfrm>
            <a:off x="6766560" y="60716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60716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1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926080"/>
            <a:ext cx="6035040" cy="6035040"/>
          </a:xfrm>
          <a:prstGeom prst="ellipse">
            <a:avLst/>
          </a:prstGeom>
          <a:solidFill>
            <a:srgbClr val="47237F">
              <a:alpha val="4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377440" y="4206240"/>
            <a:ext cx="5852160" cy="5852160"/>
          </a:xfrm>
          <a:prstGeom prst="ellipse">
            <a:avLst/>
          </a:prstGeom>
          <a:solidFill>
            <a:srgbClr val="47237F">
              <a:alpha val="7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Report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 (TICK THOSE INCLUDED)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926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plan / programme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926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926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attendance sheet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661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66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checklists and working notes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35661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566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Photographic evidence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206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Non-conformity forms and CAPA responses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4206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records and reports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92640" y="56692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5760720"/>
            <a:ext cx="1408176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programme and participation</a:t>
            </a:r>
            <a:endParaRPr lang="en-US" sz="2800" dirty="0"/>
          </a:p>
        </p:txBody>
      </p:sp>
      <p:pic>
        <p:nvPicPr>
          <p:cNvPr id="4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10896"/>
            <a:ext cx="1051560" cy="462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 | Project 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7395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programme (20-10-2026 – 30-10-2026)</a:t>
            </a:r>
            <a:r>
              <a:rPr lang="en-US" sz="1500" b="1" dirty="0" err="1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41832" y="2057400"/>
            <a:ext cx="0" cy="3429000"/>
          </a:xfrm>
          <a:prstGeom prst="line">
            <a:avLst/>
          </a:prstGeom>
          <a:noFill/>
          <a:ln w="254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95528" y="205740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325880" y="189280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21 Oct 2026, 17:34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21 Oct 2026, 21:38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25300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Mishra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5528" y="292608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325880" y="276148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23 Oct 2026, 17:35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24 Oct 2026, 17:35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12168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fleet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Remarks: 1. Review of Process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Department Organization Chart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5528" y="3794760"/>
            <a:ext cx="292608" cy="292608"/>
          </a:xfrm>
          <a:prstGeom prst="ellipse">
            <a:avLst/>
          </a:prstGeom>
          <a:solidFill>
            <a:srgbClr val="DCD2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325880" y="363016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23 Oct 2026, 17:35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24 Oct 2026, 17:35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99036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Fleet department Objectives achievements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KPI Status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Implementation Review of Fleet department 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5528" y="466344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23 Oct 2026, 17:35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24 Oct 2026, 17:35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85904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SOPs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Review of All Algihaz projects documents 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 Fleet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95528" y="553212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325880" y="536752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23 Oct 2026, 17:35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24 Oct 2026, 17:35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572772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Verify close out of previous audit 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and its effective implementation.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Records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0" y="1463040"/>
            <a:ext cx="5239512" cy="1417320"/>
          </a:xfrm>
          <a:prstGeom prst="roundRect">
            <a:avLst>
              <a:gd name="adj" fmla="val 774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1769364"/>
            <a:ext cx="210312" cy="21031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26948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269480" y="1993392"/>
            <a:ext cx="42062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400800" y="3063240"/>
            <a:ext cx="5239512" cy="1600200"/>
          </a:xfrm>
          <a:prstGeom prst="roundRect">
            <a:avLst>
              <a:gd name="adj" fmla="val 685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629400" y="32461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44" y="3369564"/>
            <a:ext cx="210312" cy="21031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26948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Auditees present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7269480" y="3593592"/>
            <a:ext cx="420624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400800" y="4846320"/>
            <a:ext cx="523951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6629400" y="5029200"/>
            <a:ext cx="457200" cy="457200"/>
          </a:xfrm>
          <a:prstGeom prst="ellipse">
            <a:avLst/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5152644"/>
            <a:ext cx="210312" cy="21031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269480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0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represented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7269480" y="5349240"/>
            <a:ext cx="42062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programme and participation</a:t>
            </a:r>
            <a:endParaRPr lang="en-US" sz="2800" dirty="0"/>
          </a:p>
        </p:txBody>
      </p:sp>
      <p:pic>
        <p:nvPicPr>
          <p:cNvPr id="4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10896"/>
            <a:ext cx="1051560" cy="462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 | Project 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7395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programme (20-10-2026 – 30-10-2026)</a:t>
            </a:r>
            <a:r>
              <a:rPr lang="en-US" sz="1500" b="1" dirty="0" err="1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41832" y="2057400"/>
            <a:ext cx="0" cy="3429000"/>
          </a:xfrm>
          <a:prstGeom prst="line">
            <a:avLst/>
          </a:prstGeom>
          <a:noFill/>
          <a:ln w="254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95528" y="205740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325880" y="189280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23 Oct 2026, 17:35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24 Oct 2026, 17:35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25300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Controls of Document System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Suggestions and Improvements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Auditee: Noura Alharbi / QC Manager, Fahad 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5528" y="292608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325880" y="276148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23 Oct 2026, 17:35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24 Oct 2026, 17:35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12168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Al-Mutairi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5528" y="3794760"/>
            <a:ext cx="292608" cy="292608"/>
          </a:xfrm>
          <a:prstGeom prst="ellipse">
            <a:avLst/>
          </a:prstGeom>
          <a:solidFill>
            <a:srgbClr val="DCD2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325880" y="363016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29 Oct 2026, 17:35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30 Oct 2026, 17:35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99036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design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Remarks: 1. List of Approved Project 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Companies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5528" y="466344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29 Oct 2026, 17:35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30 Oct 2026, 17:35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85904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Design Consultant Approval Status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 Process Procedure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Design Schedule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95528" y="553212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325880" y="536752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29 Oct 2026, 17:35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30 Oct 2026, 17:35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572772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Design Schedule Approval Status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Design Engineer’s Approval Status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Key Milestones /Achievements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0" y="1463040"/>
            <a:ext cx="5239512" cy="1417320"/>
          </a:xfrm>
          <a:prstGeom prst="roundRect">
            <a:avLst>
              <a:gd name="adj" fmla="val 774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1769364"/>
            <a:ext cx="210312" cy="21031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26948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269480" y="1993392"/>
            <a:ext cx="42062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400800" y="3063240"/>
            <a:ext cx="5239512" cy="1600200"/>
          </a:xfrm>
          <a:prstGeom prst="roundRect">
            <a:avLst>
              <a:gd name="adj" fmla="val 685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629400" y="32461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44" y="3369564"/>
            <a:ext cx="210312" cy="21031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26948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Auditees present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7269480" y="3593592"/>
            <a:ext cx="420624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400800" y="4846320"/>
            <a:ext cx="523951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6629400" y="5029200"/>
            <a:ext cx="457200" cy="457200"/>
          </a:xfrm>
          <a:prstGeom prst="ellipse">
            <a:avLst/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5152644"/>
            <a:ext cx="210312" cy="21031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269480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0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represented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7269480" y="5349240"/>
            <a:ext cx="42062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programme and participation</a:t>
            </a:r>
            <a:endParaRPr lang="en-US" sz="2800" dirty="0"/>
          </a:p>
        </p:txBody>
      </p:sp>
      <p:pic>
        <p:nvPicPr>
          <p:cNvPr id="4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10896"/>
            <a:ext cx="1051560" cy="462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 | Project 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7395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programme (20-10-2026 – 30-10-2026)</a:t>
            </a:r>
            <a:r>
              <a:rPr lang="en-US" sz="1500" b="1" dirty="0" err="1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41832" y="2057400"/>
            <a:ext cx="0" cy="3429000"/>
          </a:xfrm>
          <a:prstGeom prst="line">
            <a:avLst/>
          </a:prstGeom>
          <a:noFill/>
          <a:ln w="254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95528" y="205740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325880" y="189280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29 Oct 2026, 17:35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30 Oct 2026, 17:35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25300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List of overall Drawings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Record of Design Modifications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Auditee: Sara Al-Dosari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5528" y="292608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325880" y="276148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21-10-2026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To be mapped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12168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Opening meeting (recorded)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Remarks: test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Auditee: Fahad Al-Mutairi, Ajay Mishra, Ajay 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5528" y="3794760"/>
            <a:ext cx="292608" cy="292608"/>
          </a:xfrm>
          <a:prstGeom prst="ellipse">
            <a:avLst/>
          </a:prstGeom>
          <a:solidFill>
            <a:srgbClr val="DCD2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325880" y="363016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21-10-2026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To be mapped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99036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Mishra, Sara Al-Dosari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5528" y="466344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30-10-2026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To be mapped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85904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Closing meeting (recorded)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Remarks: test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Auditee: Fahad Al-Mutairi, Ajay Mishra, Ajay 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95528" y="553212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325880" y="536752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30-10-2026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To be mapped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572772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Mishra, Sara Al-Dosari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0" y="1463040"/>
            <a:ext cx="5239512" cy="1417320"/>
          </a:xfrm>
          <a:prstGeom prst="roundRect">
            <a:avLst>
              <a:gd name="adj" fmla="val 774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1769364"/>
            <a:ext cx="210312" cy="21031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26948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269480" y="1993392"/>
            <a:ext cx="42062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400800" y="3063240"/>
            <a:ext cx="5239512" cy="1600200"/>
          </a:xfrm>
          <a:prstGeom prst="roundRect">
            <a:avLst>
              <a:gd name="adj" fmla="val 685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629400" y="32461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44" y="3369564"/>
            <a:ext cx="210312" cy="21031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26948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Auditees present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7269480" y="3593592"/>
            <a:ext cx="420624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400800" y="4846320"/>
            <a:ext cx="523951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6629400" y="5029200"/>
            <a:ext cx="457200" cy="457200"/>
          </a:xfrm>
          <a:prstGeom prst="ellipse">
            <a:avLst/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5152644"/>
            <a:ext cx="210312" cy="21031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269480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0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represented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7269480" y="5349240"/>
            <a:ext cx="42062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procurement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01000" y="310896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C8A02A"/>
          </a:solidFill>
          <a:ln w="12700">
            <a:solidFill>
              <a:srgbClr val="C8A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01000" y="310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199632" y="146304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submittals (DTS)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4983480" cy="226771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submittals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84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100%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77240" y="4343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Check: sum of statuses equals total submittals</a:t>
            </a:r>
            <a:endParaRPr lang="en-US" sz="1150" dirty="0"/>
          </a:p>
        </p:txBody>
      </p:sp>
      <p:sp>
        <p:nvSpPr>
          <p:cNvPr id="9" name="Shape 8"/>
          <p:cNvSpPr/>
          <p:nvPr/>
        </p:nvSpPr>
        <p:spPr>
          <a:xfrm>
            <a:off x="777240" y="4709160"/>
            <a:ext cx="4983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14400" y="4818888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Comment: To be mapped</a:t>
            </a: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28232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5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1965960"/>
          <a:ext cx="4983480" cy="2551176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428232" y="4709160"/>
            <a:ext cx="4983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6565392" y="4818888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Comment: To be mapped</a:t>
            </a: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13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2330</Words>
  <Application>Microsoft Office PowerPoint</Application>
  <PresentationFormat>Widescreen</PresentationFormat>
  <Paragraphs>489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Document control and approval</vt:lpstr>
      <vt:lpstr>Audit details and project profile</vt:lpstr>
      <vt:lpstr>Objective, scope, criteria and method</vt:lpstr>
      <vt:lpstr>PowerPoint Presentation</vt:lpstr>
      <vt:lpstr>Audit results at a glance</vt:lpstr>
      <vt:lpstr>Findings summary by audit area</vt:lpstr>
      <vt:lpstr>Overall project progress</vt:lpstr>
      <vt:lpstr>Design and procurement status</vt:lpstr>
      <vt:lpstr>Areas verified as conforming and good practices</vt:lpstr>
      <vt:lpstr>Non-conformities</vt:lpstr>
      <vt:lpstr>Opportunities for improvement (OFI)</vt:lpstr>
      <vt:lpstr>Photographic evidence</vt:lpstr>
      <vt:lpstr>Finding grades and response requirements</vt:lpstr>
      <vt:lpstr>Corrective action tracker</vt:lpstr>
      <vt:lpstr>Recommended priority actions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Internal Audit Report - Standard Format</dc:title>
  <dc:subject>PptxGenJS Presentation</dc:subject>
  <dc:creator>Algihaz Holding - Quality Assurance</dc:creator>
  <cp:lastModifiedBy>Abdulkarim Alanazi</cp:lastModifiedBy>
  <cp:revision>2</cp:revision>
  <dcterms:created xsi:type="dcterms:W3CDTF">2026-09-21T08:33:37Z</dcterms:created>
  <dcterms:modified xsi:type="dcterms:W3CDTF">2026-09-21T09:19:38Z</dcterms:modified>
</cp:coreProperties>
</file>