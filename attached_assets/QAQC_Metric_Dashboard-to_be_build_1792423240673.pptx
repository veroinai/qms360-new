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2158b23-12ad-c9e3-242e-acd0cd3e1d7a}">
          <p14:sldIdLst>
            <p14:sldId id="256"/>
          </p14:sldIdLst>
        </p14:section>
        <p14:section name="Performance" id="{afcaa569-db79-e522-a670-33976b4d6ecd}">
          <p14:sldIdLst>
            <p14:sldId id="257"/>
          </p14:sldIdLst>
        </p14:section>
        <p14:section name="Operations" id="{067e879f-8e49-b515-f5b3-0b5bd1906fca}">
          <p14:sldIdLst>
            <p14:sldId id="258"/>
            <p14:sldId id="259"/>
          </p14:sldIdLst>
        </p14:section>
        <p14:section name="Governance" id="{ec62a226-d0e2-935f-dab7-9d196d8a295d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Last month</c:v>
                </c:pt>
              </c:strCache>
            </c:strRef>
          </c:tx>
          <c:spPr>
            <a:solidFill>
              <a:srgbClr val="BBA9D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Ext NCR</c:v>
                  </c:pt>
                  <c:pt idx="1">
                    <c:v>Int NCR</c:v>
                  </c:pt>
                  <c:pt idx="2">
                    <c:v>RFI</c:v>
                  </c:pt>
                  <c:pt idx="3">
                    <c:v>RMI</c:v>
                  </c:pt>
                  <c:pt idx="4">
                    <c:v>MIRN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77.8</c:v>
                </c:pt>
                <c:pt idx="1">
                  <c:v>90.5</c:v>
                </c:pt>
                <c:pt idx="2">
                  <c:v>98.1</c:v>
                </c:pt>
                <c:pt idx="3">
                  <c:v>97.8</c:v>
                </c:pt>
                <c:pt idx="4">
                  <c:v>96.1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This month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Ext NCR</c:v>
                  </c:pt>
                  <c:pt idx="1">
                    <c:v>Int NCR</c:v>
                  </c:pt>
                  <c:pt idx="2">
                    <c:v>RFI</c:v>
                  </c:pt>
                  <c:pt idx="3">
                    <c:v>RMI</c:v>
                  </c:pt>
                  <c:pt idx="4">
                    <c:v>MIRN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85.7</c:v>
                </c:pt>
                <c:pt idx="1">
                  <c:v>90.2</c:v>
                </c:pt>
                <c:pt idx="2">
                  <c:v>99.2</c:v>
                </c:pt>
                <c:pt idx="3">
                  <c:v>99</c:v>
                </c:pt>
                <c:pt idx="4">
                  <c:v>98.1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3A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PQI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82C83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6DFEE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Gap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90.4</c:v>
                </c:pt>
                <c:pt idx="1">
                  <c:v>9.599999999999994</c:v>
                </c:pt>
              </c:numCache>
            </c:numRef>
          </c:val>
        </c:ser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Issued</c:v>
                </c:pt>
              </c:strCache>
            </c:strRef>
          </c:tx>
          <c:spPr>
            <a:solidFill>
              <a:srgbClr val="EB98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External</c:v>
                  </c:pt>
                  <c:pt idx="1">
                    <c:v>Internal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External</c:v>
                  </c:pt>
                  <c:pt idx="1">
                    <c:v>Internal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</c:v>
                </c:pt>
                <c:pt idx="1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3A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Issued</c:v>
                </c:pt>
              </c:strCache>
            </c:strRef>
          </c:tx>
          <c:spPr>
            <a:solidFill>
              <a:srgbClr val="EB98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RFI</c:v>
                  </c:pt>
                  <c:pt idx="1">
                    <c:v>RMI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112</c:v>
                </c:pt>
                <c:pt idx="1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RFI</c:v>
                  </c:pt>
                  <c:pt idx="1">
                    <c:v>RMI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118</c:v>
                </c:pt>
                <c:pt idx="1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3A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0–15 days</c:v>
                </c:pt>
              </c:strCache>
            </c:strRef>
          </c:tx>
          <c:spPr>
            <a:solidFill>
              <a:srgbClr val="06AEBB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External</c:v>
                  </c:pt>
                  <c:pt idx="1">
                    <c:v>Internal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16–30 days</c:v>
                </c:pt>
              </c:strCache>
            </c:strRef>
          </c:tx>
          <c:spPr>
            <a:solidFill>
              <a:srgbClr val="BBA9D2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External</c:v>
                  </c:pt>
                  <c:pt idx="1">
                    <c:v>Internal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31–60 days</c:v>
                </c:pt>
              </c:strCache>
            </c:strRef>
          </c:tx>
          <c:spPr>
            <a:solidFill>
              <a:srgbClr val="EB982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External</c:v>
                  </c:pt>
                  <c:pt idx="1">
                    <c:v>Internal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&gt; 60 days</c:v>
                </c:pt>
              </c:strCache>
            </c:strRef>
          </c:tx>
          <c:spPr>
            <a:solidFill>
              <a:srgbClr val="D58BCB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External</c:v>
                  </c:pt>
                  <c:pt idx="1">
                    <c:v>Internal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200" u="none">
                  <a:solidFill>
                    <a:srgbClr val="3A3A3B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3A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AEB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B9823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D58BC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43C9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82C83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BBA9D2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Approved</c:v>
                </c:pt>
                <c:pt idx="1">
                  <c:v>On Hold / Quarantine</c:v>
                </c:pt>
                <c:pt idx="2">
                  <c:v>Rejected – Do Not Use</c:v>
                </c:pt>
                <c:pt idx="3">
                  <c:v>Rejected – Return to Supplier</c:v>
                </c:pt>
                <c:pt idx="4">
                  <c:v>Hazardous Material</c:v>
                </c:pt>
                <c:pt idx="5">
                  <c:v>Handle &amp; Store with Care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138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EB98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B98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43C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82C8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3A3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Overage</c:v>
                  </c:pt>
                  <c:pt idx="1">
                    <c:v>Shortage</c:v>
                  </c:pt>
                  <c:pt idx="2">
                    <c:v>Damage</c:v>
                  </c:pt>
                  <c:pt idx="3">
                    <c:v>Defective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30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Approved</c:v>
                </c:pt>
              </c:strCache>
            </c:strRef>
          </c:tx>
          <c:spPr>
            <a:solidFill>
              <a:srgbClr val="06AE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Drawings</c:v>
                  </c:pt>
                  <c:pt idx="1">
                    <c:v>Submittals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</c:v>
                </c:pt>
                <c:pt idx="1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Re-submitted</c:v>
                </c:pt>
              </c:strCache>
            </c:strRef>
          </c:tx>
          <c:spPr>
            <a:solidFill>
              <a:srgbClr val="EB98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Drawings</c:v>
                  </c:pt>
                  <c:pt idx="1">
                    <c:v>Submittals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</c:v>
                </c:pt>
                <c:pt idx="1">
                  <c:v>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Rejected</c:v>
                </c:pt>
              </c:strCache>
            </c:strRef>
          </c:tx>
          <c:spPr>
            <a:solidFill>
              <a:srgbClr val="D58B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Drawings</c:v>
                  </c:pt>
                  <c:pt idx="1">
                    <c:v>Submittals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Under review</c:v>
                </c:pt>
              </c:strCache>
            </c:strRef>
          </c:tx>
          <c:spPr>
            <a:solidFill>
              <a:srgbClr val="BBA9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Drawings</c:v>
                  </c:pt>
                  <c:pt idx="1">
                    <c:v>Submittals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18</c:v>
                </c:pt>
                <c:pt idx="1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B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3A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</c:v>
                </c:pt>
              </c:strCache>
            </c:strRef>
          </c:tx>
          <c:spPr>
            <a:solidFill>
              <a:srgbClr val="06AEB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Drawings</c:v>
                  </c:pt>
                  <c:pt idx="1">
                    <c:v>Submittals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6.4</c:v>
                </c:pt>
                <c:pt idx="1">
                  <c:v>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Algihaz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Drawings</c:v>
                  </c:pt>
                  <c:pt idx="1">
                    <c:v>Submittals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2.8</c:v>
                </c:pt>
                <c:pt idx="1">
                  <c:v>3.1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3A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Nos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QA/QC Manager</c:v>
                  </c:pt>
                  <c:pt idx="1">
                    <c:v>Senior QC Engineer</c:v>
                  </c:pt>
                  <c:pt idx="2">
                    <c:v>QC Inspector (Civil)</c:v>
                  </c:pt>
                  <c:pt idx="3">
                    <c:v>QC Inspector (MEP)</c:v>
                  </c:pt>
                  <c:pt idx="4">
                    <c:v>Document Controller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October 2026 QA/QC metrics. Sample data. PQI donut shows accumulated PQI; this-month score and portfolio average status are noted beneath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Closure rate this month = closed this month / (open at start + issued). Cumulative % = closed / accumulated issued. pp = percentage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OSD = Overage, Shortage, Damage. Quantities are totals entered on the form. Status tags total must equal total items in MIRNs.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Manhours this month = attendees x duration (minutes) /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Manpower, meetings, QMS reports and audit dates come straight from form sections 3-6 and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SH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55000"/>
                  </a:schemeClr>
                </a:solidFill>
              </a:rPr>
              <a:t>Algihaz  ·  QA/QC Monthly Dashboard  ·  SAMPLE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4" Type="http://schemas.openxmlformats.org/officeDocument/2006/relationships/chart" Target="/ppt/charts/chart2.xm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5" Type="http://schemas.openxmlformats.org/officeDocument/2006/relationships/image" Target="../media/image-1-3.png"/><Relationship Id="rId6" Type="http://schemas.openxmlformats.org/officeDocument/2006/relationships/image" Target="../media/image-1-4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3.xml"/><Relationship Id="rId8" Type="http://schemas.openxmlformats.org/officeDocument/2006/relationships/chart" Target="/ppt/charts/chart4.xml"/><Relationship Id="rId10" Type="http://schemas.openxmlformats.org/officeDocument/2006/relationships/chart" Target="/ppt/charts/chart5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7" Type="http://schemas.openxmlformats.org/officeDocument/2006/relationships/image" Target="../media/image-2-6.png"/><Relationship Id="rId9" Type="http://schemas.openxmlformats.org/officeDocument/2006/relationships/image" Target="../media/image-2-7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4" Type="http://schemas.openxmlformats.org/officeDocument/2006/relationships/chart" Target="/ppt/charts/chart7.xm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4" Type="http://schemas.openxmlformats.org/officeDocument/2006/relationships/chart" Target="/ppt/charts/chart9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0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Quality overview</a:t>
            </a:r>
            <a:endParaRPr lang="en-US" sz="2800" dirty="0"/>
          </a:p>
        </p:txBody>
      </p:sp>
      <p:sp>
        <p:nvSpPr>
          <p:cNvPr id="3" name="Project and period"/>
          <p:cNvSpPr txBox="1"/>
          <p:nvPr/>
        </p:nvSpPr>
        <p:spPr>
          <a:xfrm>
            <a:off x="7498080" y="274320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 Nakheel Commercial Complex</a:t>
            </a:r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 ·   October 2026</a:t>
            </a:r>
            <a:endParaRPr lang="en-US" sz="1400" dirty="0"/>
          </a:p>
        </p:txBody>
      </p:sp>
      <p:sp>
        <p:nvSpPr>
          <p:cNvPr id="4" name="KPI PQI"/>
          <p:cNvSpPr/>
          <p:nvPr/>
        </p:nvSpPr>
        <p:spPr>
          <a:xfrm>
            <a:off x="457200" y="1005840"/>
            <a:ext cx="2108606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5" name="KPI PQI label"/>
          <p:cNvSpPr txBox="1"/>
          <p:nvPr/>
        </p:nvSpPr>
        <p:spPr>
          <a:xfrm>
            <a:off x="658368" y="1133856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PQI · ACCUMULATED</a:t>
            </a:r>
            <a:endParaRPr lang="en-US" sz="1200" dirty="0"/>
          </a:p>
        </p:txBody>
      </p:sp>
      <p:sp>
        <p:nvSpPr>
          <p:cNvPr id="6" name="KPI PQI value"/>
          <p:cNvSpPr txBox="1"/>
          <p:nvPr/>
        </p:nvSpPr>
        <p:spPr>
          <a:xfrm>
            <a:off x="658368" y="1408176"/>
            <a:ext cx="17428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90.4</a:t>
            </a:r>
            <a:endParaRPr lang="en-US" sz="3600" dirty="0"/>
          </a:p>
        </p:txBody>
      </p:sp>
      <p:sp>
        <p:nvSpPr>
          <p:cNvPr id="7" name="KPI PQI sub"/>
          <p:cNvSpPr txBox="1"/>
          <p:nvPr/>
        </p:nvSpPr>
        <p:spPr>
          <a:xfrm>
            <a:off x="658368" y="196596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▲ +1.7 pts vs last month</a:t>
            </a:r>
            <a:endParaRPr lang="en-US" sz="1200" dirty="0"/>
          </a:p>
        </p:txBody>
      </p:sp>
      <p:sp>
        <p:nvSpPr>
          <p:cNvPr id="8" name="KPI Open NCRs"/>
          <p:cNvSpPr/>
          <p:nvPr/>
        </p:nvSpPr>
        <p:spPr>
          <a:xfrm>
            <a:off x="2748686" y="1005840"/>
            <a:ext cx="2108606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9" name="KPI Open NCRs label"/>
          <p:cNvSpPr txBox="1"/>
          <p:nvPr/>
        </p:nvSpPr>
        <p:spPr>
          <a:xfrm>
            <a:off x="2949854" y="1133856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OPEN NCRs</a:t>
            </a:r>
            <a:endParaRPr lang="en-US" sz="1200" dirty="0"/>
          </a:p>
        </p:txBody>
      </p:sp>
      <p:sp>
        <p:nvSpPr>
          <p:cNvPr id="10" name="KPI Open NCRs value"/>
          <p:cNvSpPr txBox="1"/>
          <p:nvPr/>
        </p:nvSpPr>
        <p:spPr>
          <a:xfrm>
            <a:off x="2949854" y="1408176"/>
            <a:ext cx="17428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8</a:t>
            </a:r>
            <a:endParaRPr lang="en-US" sz="3600" dirty="0"/>
          </a:p>
        </p:txBody>
      </p:sp>
      <p:sp>
        <p:nvSpPr>
          <p:cNvPr id="11" name="KPI Open NCRs sub"/>
          <p:cNvSpPr txBox="1"/>
          <p:nvPr/>
        </p:nvSpPr>
        <p:spPr>
          <a:xfrm>
            <a:off x="2949854" y="196596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Ext 3  ·  Int 5</a:t>
            </a:r>
            <a:endParaRPr lang="en-US" sz="1200" dirty="0"/>
          </a:p>
        </p:txBody>
      </p:sp>
      <p:sp>
        <p:nvSpPr>
          <p:cNvPr id="12" name="KPI RFI"/>
          <p:cNvSpPr/>
          <p:nvPr/>
        </p:nvSpPr>
        <p:spPr>
          <a:xfrm>
            <a:off x="5040173" y="1005840"/>
            <a:ext cx="2108606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3" name="KPI RFI label"/>
          <p:cNvSpPr txBox="1"/>
          <p:nvPr/>
        </p:nvSpPr>
        <p:spPr>
          <a:xfrm>
            <a:off x="5241341" y="1133856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RFI CLOSURE · MONTH</a:t>
            </a:r>
            <a:endParaRPr lang="en-US" sz="1200" dirty="0"/>
          </a:p>
        </p:txBody>
      </p:sp>
      <p:sp>
        <p:nvSpPr>
          <p:cNvPr id="14" name="KPI RFI value"/>
          <p:cNvSpPr txBox="1"/>
          <p:nvPr/>
        </p:nvSpPr>
        <p:spPr>
          <a:xfrm>
            <a:off x="5241341" y="1408176"/>
            <a:ext cx="17428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95.2%</a:t>
            </a:r>
            <a:endParaRPr lang="en-US" sz="3600" dirty="0"/>
          </a:p>
        </p:txBody>
      </p:sp>
      <p:sp>
        <p:nvSpPr>
          <p:cNvPr id="15" name="KPI RFI sub"/>
          <p:cNvSpPr txBox="1"/>
          <p:nvPr/>
        </p:nvSpPr>
        <p:spPr>
          <a:xfrm>
            <a:off x="5241341" y="196596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118 of 124 closed</a:t>
            </a:r>
            <a:endParaRPr lang="en-US" sz="1200" dirty="0"/>
          </a:p>
        </p:txBody>
      </p:sp>
      <p:sp>
        <p:nvSpPr>
          <p:cNvPr id="16" name="KPI MIRN"/>
          <p:cNvSpPr/>
          <p:nvPr/>
        </p:nvSpPr>
        <p:spPr>
          <a:xfrm>
            <a:off x="7331659" y="1005840"/>
            <a:ext cx="2108606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7" name="KPI MIRN label"/>
          <p:cNvSpPr txBox="1"/>
          <p:nvPr/>
        </p:nvSpPr>
        <p:spPr>
          <a:xfrm>
            <a:off x="7532827" y="1133856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MIRN CLOSURE · MONTH</a:t>
            </a:r>
            <a:endParaRPr lang="en-US" sz="1200" dirty="0"/>
          </a:p>
        </p:txBody>
      </p:sp>
      <p:sp>
        <p:nvSpPr>
          <p:cNvPr id="18" name="KPI MIRN value"/>
          <p:cNvSpPr txBox="1"/>
          <p:nvPr/>
        </p:nvSpPr>
        <p:spPr>
          <a:xfrm>
            <a:off x="7532827" y="1408176"/>
            <a:ext cx="17428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88.4%</a:t>
            </a:r>
            <a:endParaRPr lang="en-US" sz="3600" dirty="0"/>
          </a:p>
        </p:txBody>
      </p:sp>
      <p:sp>
        <p:nvSpPr>
          <p:cNvPr id="19" name="KPI MIRN sub"/>
          <p:cNvSpPr txBox="1"/>
          <p:nvPr/>
        </p:nvSpPr>
        <p:spPr>
          <a:xfrm>
            <a:off x="7532827" y="196596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38 of 43 closed</a:t>
            </a:r>
            <a:endParaRPr lang="en-US" sz="1200" dirty="0"/>
          </a:p>
        </p:txBody>
      </p:sp>
      <p:sp>
        <p:nvSpPr>
          <p:cNvPr id="20" name="KPI QTBT"/>
          <p:cNvSpPr/>
          <p:nvPr/>
        </p:nvSpPr>
        <p:spPr>
          <a:xfrm>
            <a:off x="9623146" y="1005840"/>
            <a:ext cx="2108606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21" name="KPI QTBT label"/>
          <p:cNvSpPr txBox="1"/>
          <p:nvPr/>
        </p:nvSpPr>
        <p:spPr>
          <a:xfrm>
            <a:off x="9824314" y="1133856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QTBT MANHOURS</a:t>
            </a:r>
            <a:endParaRPr lang="en-US" sz="1200" dirty="0"/>
          </a:p>
        </p:txBody>
      </p:sp>
      <p:sp>
        <p:nvSpPr>
          <p:cNvPr id="22" name="KPI QTBT value"/>
          <p:cNvSpPr txBox="1"/>
          <p:nvPr/>
        </p:nvSpPr>
        <p:spPr>
          <a:xfrm>
            <a:off x="9824314" y="1408176"/>
            <a:ext cx="17428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48.00</a:t>
            </a:r>
            <a:endParaRPr lang="en-US" sz="3600" dirty="0"/>
          </a:p>
        </p:txBody>
      </p:sp>
      <p:sp>
        <p:nvSpPr>
          <p:cNvPr id="23" name="KPI QTBT sub"/>
          <p:cNvSpPr txBox="1"/>
          <p:nvPr/>
        </p:nvSpPr>
        <p:spPr>
          <a:xfrm>
            <a:off x="9824314" y="196596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 talks · 192 attendees</a:t>
            </a:r>
            <a:endParaRPr lang="en-US" sz="1200" dirty="0"/>
          </a:p>
        </p:txBody>
      </p:sp>
      <p:sp>
        <p:nvSpPr>
          <p:cNvPr id="24" name="Closure chart card"/>
          <p:cNvSpPr/>
          <p:nvPr/>
        </p:nvSpPr>
        <p:spPr>
          <a:xfrm>
            <a:off x="457200" y="2514600"/>
            <a:ext cx="5486400" cy="269748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25" name="Closure chart icon bg"/>
          <p:cNvSpPr/>
          <p:nvPr/>
        </p:nvSpPr>
        <p:spPr>
          <a:xfrm>
            <a:off x="640080" y="26609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Closure char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743200"/>
            <a:ext cx="182880" cy="182880"/>
          </a:xfrm>
          <a:prstGeom prst="rect">
            <a:avLst/>
          </a:prstGeom>
        </p:spPr>
      </p:pic>
      <p:sp>
        <p:nvSpPr>
          <p:cNvPr id="27" name="Closure chart title"/>
          <p:cNvSpPr txBox="1"/>
          <p:nvPr/>
        </p:nvSpPr>
        <p:spPr>
          <a:xfrm>
            <a:off x="1078992" y="2642616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Cumulative closure %: last month vs this month</a:t>
            </a:r>
            <a:endParaRPr lang="en-US" sz="1600" dirty="0"/>
          </a:p>
        </p:txBody>
      </p:sp>
      <p:graphicFrame>
        <p:nvGraphicFramePr>
          <p:cNvPr id="28" name="Closure chart" descr=""/>
          <p:cNvGraphicFramePr/>
          <p:nvPr/>
        </p:nvGraphicFramePr>
        <p:xfrm>
          <a:off x="594360" y="3108960"/>
          <a:ext cx="52120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PQI card"/>
          <p:cNvSpPr/>
          <p:nvPr/>
        </p:nvSpPr>
        <p:spPr>
          <a:xfrm>
            <a:off x="6126480" y="2514600"/>
            <a:ext cx="2834640" cy="269748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30" name="PQI icon bg"/>
          <p:cNvSpPr/>
          <p:nvPr/>
        </p:nvSpPr>
        <p:spPr>
          <a:xfrm>
            <a:off x="6309360" y="26609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PQI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2743200"/>
            <a:ext cx="182880" cy="182880"/>
          </a:xfrm>
          <a:prstGeom prst="rect">
            <a:avLst/>
          </a:prstGeom>
        </p:spPr>
      </p:pic>
      <p:sp>
        <p:nvSpPr>
          <p:cNvPr id="32" name="PQI title"/>
          <p:cNvSpPr txBox="1"/>
          <p:nvPr/>
        </p:nvSpPr>
        <p:spPr>
          <a:xfrm>
            <a:off x="6748272" y="264261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Project Quality Index</a:t>
            </a:r>
            <a:endParaRPr lang="en-US" sz="1600" dirty="0"/>
          </a:p>
        </p:txBody>
      </p:sp>
      <p:graphicFrame>
        <p:nvGraphicFramePr>
          <p:cNvPr id="33" name="PQI donut" descr=""/>
          <p:cNvGraphicFramePr/>
          <p:nvPr/>
        </p:nvGraphicFramePr>
        <p:xfrm>
          <a:off x="6629400" y="3081528"/>
          <a:ext cx="18288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4" name="PQI value"/>
          <p:cNvSpPr txBox="1"/>
          <p:nvPr/>
        </p:nvSpPr>
        <p:spPr>
          <a:xfrm>
            <a:off x="6629400" y="3520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90.4</a:t>
            </a:r>
            <a:endParaRPr lang="en-US" sz="2400" dirty="0"/>
          </a:p>
        </p:txBody>
      </p:sp>
      <p:sp>
        <p:nvSpPr>
          <p:cNvPr id="35" name="PQI notes"/>
          <p:cNvSpPr txBox="1"/>
          <p:nvPr/>
        </p:nvSpPr>
        <p:spPr>
          <a:xfrm>
            <a:off x="6309360" y="46451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This month 93.2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Portfolio avg: Pending (6 of 9)</a:t>
            </a:r>
            <a:endParaRPr lang="en-US" sz="1200" dirty="0"/>
          </a:p>
        </p:txBody>
      </p:sp>
      <p:sp>
        <p:nvSpPr>
          <p:cNvPr id="36" name="Governance card"/>
          <p:cNvSpPr/>
          <p:nvPr/>
        </p:nvSpPr>
        <p:spPr>
          <a:xfrm>
            <a:off x="9144000" y="2514600"/>
            <a:ext cx="2587752" cy="2697480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37" name="Governance icon bg"/>
          <p:cNvSpPr/>
          <p:nvPr/>
        </p:nvSpPr>
        <p:spPr>
          <a:xfrm>
            <a:off x="9326880" y="26609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Governance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9176" y="2743200"/>
            <a:ext cx="182880" cy="182880"/>
          </a:xfrm>
          <a:prstGeom prst="rect">
            <a:avLst/>
          </a:prstGeom>
        </p:spPr>
      </p:pic>
      <p:sp>
        <p:nvSpPr>
          <p:cNvPr id="39" name="Governance title"/>
          <p:cNvSpPr txBox="1"/>
          <p:nvPr/>
        </p:nvSpPr>
        <p:spPr>
          <a:xfrm>
            <a:off x="9765792" y="264261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Governance</a:t>
            </a:r>
            <a:endParaRPr lang="en-US" sz="1600" dirty="0"/>
          </a:p>
        </p:txBody>
      </p:sp>
      <p:sp>
        <p:nvSpPr>
          <p:cNvPr id="40" name="Gov label 1"/>
          <p:cNvSpPr txBox="1"/>
          <p:nvPr/>
        </p:nvSpPr>
        <p:spPr>
          <a:xfrm>
            <a:off x="9345168" y="317296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PQP status</a:t>
            </a:r>
            <a:endParaRPr lang="en-US" sz="1200" dirty="0"/>
          </a:p>
        </p:txBody>
      </p:sp>
      <p:sp>
        <p:nvSpPr>
          <p:cNvPr id="41" name="Gov value 1"/>
          <p:cNvSpPr txBox="1"/>
          <p:nvPr/>
        </p:nvSpPr>
        <p:spPr>
          <a:xfrm>
            <a:off x="10469880" y="3172968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Approved B</a:t>
            </a:r>
            <a:endParaRPr lang="en-US" sz="1300" dirty="0"/>
          </a:p>
        </p:txBody>
      </p:sp>
      <p:sp>
        <p:nvSpPr>
          <p:cNvPr id="42" name="Gov label 2"/>
          <p:cNvSpPr txBox="1"/>
          <p:nvPr/>
        </p:nvSpPr>
        <p:spPr>
          <a:xfrm>
            <a:off x="9345168" y="35661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Last audit</a:t>
            </a:r>
            <a:endParaRPr lang="en-US" sz="1200" dirty="0"/>
          </a:p>
        </p:txBody>
      </p:sp>
      <p:sp>
        <p:nvSpPr>
          <p:cNvPr id="43" name="Gov value 2"/>
          <p:cNvSpPr txBox="1"/>
          <p:nvPr/>
        </p:nvSpPr>
        <p:spPr>
          <a:xfrm>
            <a:off x="10469880" y="3566160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18-09-2026</a:t>
            </a:r>
            <a:endParaRPr lang="en-US" sz="1300" dirty="0"/>
          </a:p>
        </p:txBody>
      </p:sp>
      <p:sp>
        <p:nvSpPr>
          <p:cNvPr id="44" name="Gov label 3"/>
          <p:cNvSpPr txBox="1"/>
          <p:nvPr/>
        </p:nvSpPr>
        <p:spPr>
          <a:xfrm>
            <a:off x="9345168" y="39593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Next audit</a:t>
            </a:r>
            <a:endParaRPr lang="en-US" sz="1200" dirty="0"/>
          </a:p>
        </p:txBody>
      </p:sp>
      <p:sp>
        <p:nvSpPr>
          <p:cNvPr id="45" name="Gov value 3"/>
          <p:cNvSpPr txBox="1"/>
          <p:nvPr/>
        </p:nvSpPr>
        <p:spPr>
          <a:xfrm>
            <a:off x="10469880" y="3959352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18-12-2026</a:t>
            </a:r>
            <a:endParaRPr lang="en-US" sz="1300" dirty="0"/>
          </a:p>
        </p:txBody>
      </p:sp>
      <p:sp>
        <p:nvSpPr>
          <p:cNvPr id="46" name="Gov label 4"/>
          <p:cNvSpPr txBox="1"/>
          <p:nvPr/>
        </p:nvSpPr>
        <p:spPr>
          <a:xfrm>
            <a:off x="9345168" y="43525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Meetings held</a:t>
            </a:r>
            <a:endParaRPr lang="en-US" sz="1200" dirty="0"/>
          </a:p>
        </p:txBody>
      </p:sp>
      <p:sp>
        <p:nvSpPr>
          <p:cNvPr id="47" name="Gov value 4"/>
          <p:cNvSpPr txBox="1"/>
          <p:nvPr/>
        </p:nvSpPr>
        <p:spPr>
          <a:xfrm>
            <a:off x="10469880" y="4352544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48" name="Gov label 5"/>
          <p:cNvSpPr txBox="1"/>
          <p:nvPr/>
        </p:nvSpPr>
        <p:spPr>
          <a:xfrm>
            <a:off x="9345168" y="47457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Manpower</a:t>
            </a:r>
            <a:endParaRPr lang="en-US" sz="1200" dirty="0"/>
          </a:p>
        </p:txBody>
      </p:sp>
      <p:sp>
        <p:nvSpPr>
          <p:cNvPr id="49" name="Gov value 5"/>
          <p:cNvSpPr txBox="1"/>
          <p:nvPr/>
        </p:nvSpPr>
        <p:spPr>
          <a:xfrm>
            <a:off x="10469880" y="4745736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11 people</a:t>
            </a:r>
            <a:endParaRPr lang="en-US" sz="1300" dirty="0"/>
          </a:p>
        </p:txBody>
      </p:sp>
      <p:sp>
        <p:nvSpPr>
          <p:cNvPr id="50" name="Brief card"/>
          <p:cNvSpPr/>
          <p:nvPr/>
        </p:nvSpPr>
        <p:spPr>
          <a:xfrm>
            <a:off x="457200" y="5394960"/>
            <a:ext cx="11274552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51" name="Brief icon bg"/>
          <p:cNvSpPr/>
          <p:nvPr/>
        </p:nvSpPr>
        <p:spPr>
          <a:xfrm>
            <a:off x="640080" y="5522976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2" name="Brief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5605272"/>
            <a:ext cx="182880" cy="182880"/>
          </a:xfrm>
          <a:prstGeom prst="rect">
            <a:avLst/>
          </a:prstGeom>
        </p:spPr>
      </p:pic>
      <p:sp>
        <p:nvSpPr>
          <p:cNvPr id="53" name="Brief title"/>
          <p:cNvSpPr txBox="1"/>
          <p:nvPr/>
        </p:nvSpPr>
        <p:spPr>
          <a:xfrm>
            <a:off x="1097280" y="55229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Quality assessment brief</a:t>
            </a:r>
            <a:endParaRPr lang="en-US" sz="1400" dirty="0"/>
          </a:p>
        </p:txBody>
      </p:sp>
      <p:sp>
        <p:nvSpPr>
          <p:cNvPr id="54" name="Brief text"/>
          <p:cNvSpPr txBox="1"/>
          <p:nvPr/>
        </p:nvSpPr>
        <p:spPr>
          <a:xfrm>
            <a:off x="640080" y="5870448"/>
            <a:ext cx="10908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Stable quality performance; accumulated PQI up 1.7 pts to 90.4. External NCR closure improved to 85.7% (3 open, none beyond 60 days). Internal NCR closure dipped 0.3 pp (9 raised vs 8 closed). 6 items in quarantine pending supplier response. Next: close the 16–60 day NCR backlog and clear quarantined items.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NCR, RFI &amp; RMI performance</a:t>
            </a:r>
            <a:endParaRPr lang="en-US" sz="2800" dirty="0"/>
          </a:p>
        </p:txBody>
      </p:sp>
      <p:sp>
        <p:nvSpPr>
          <p:cNvPr id="3" name="Project and period"/>
          <p:cNvSpPr txBox="1"/>
          <p:nvPr/>
        </p:nvSpPr>
        <p:spPr>
          <a:xfrm>
            <a:off x="7498080" y="274320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 Nakheel Commercial Complex</a:t>
            </a:r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 ·   October 2026</a:t>
            </a:r>
            <a:endParaRPr lang="en-US" sz="1400" dirty="0"/>
          </a:p>
        </p:txBody>
      </p:sp>
      <p:sp>
        <p:nvSpPr>
          <p:cNvPr id="4" name="Metric card External NCR"/>
          <p:cNvSpPr/>
          <p:nvPr/>
        </p:nvSpPr>
        <p:spPr>
          <a:xfrm>
            <a:off x="457200" y="1005840"/>
            <a:ext cx="2681478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5" name="Metric External NCR icon bg"/>
          <p:cNvSpPr/>
          <p:nvPr/>
        </p:nvSpPr>
        <p:spPr>
          <a:xfrm>
            <a:off x="640080" y="115214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Metric External NC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234440"/>
            <a:ext cx="182880" cy="182880"/>
          </a:xfrm>
          <a:prstGeom prst="rect">
            <a:avLst/>
          </a:prstGeom>
        </p:spPr>
      </p:pic>
      <p:sp>
        <p:nvSpPr>
          <p:cNvPr id="7" name="Metric External NCR title"/>
          <p:cNvSpPr txBox="1"/>
          <p:nvPr/>
        </p:nvSpPr>
        <p:spPr>
          <a:xfrm>
            <a:off x="1078992" y="1133856"/>
            <a:ext cx="19042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External NCR</a:t>
            </a:r>
            <a:endParaRPr lang="en-US" sz="1600" dirty="0"/>
          </a:p>
        </p:txBody>
      </p:sp>
      <p:sp>
        <p:nvSpPr>
          <p:cNvPr id="8" name="External NCR rate"/>
          <p:cNvSpPr txBox="1"/>
          <p:nvPr/>
        </p:nvSpPr>
        <p:spPr>
          <a:xfrm>
            <a:off x="658368" y="1609344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57.1%</a:t>
            </a:r>
            <a:endParaRPr lang="en-US" sz="3200" dirty="0"/>
          </a:p>
        </p:txBody>
      </p:sp>
      <p:sp>
        <p:nvSpPr>
          <p:cNvPr id="9" name="External NCR rate label"/>
          <p:cNvSpPr txBox="1"/>
          <p:nvPr/>
        </p:nvSpPr>
        <p:spPr>
          <a:xfrm>
            <a:off x="658368" y="2139696"/>
            <a:ext cx="23157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closure rate this month</a:t>
            </a:r>
            <a:endParaRPr lang="en-US" sz="1200" dirty="0"/>
          </a:p>
        </p:txBody>
      </p:sp>
      <p:sp>
        <p:nvSpPr>
          <p:cNvPr id="10" name="External NCR cumulative"/>
          <p:cNvSpPr txBox="1"/>
          <p:nvPr/>
        </p:nvSpPr>
        <p:spPr>
          <a:xfrm>
            <a:off x="658368" y="2423160"/>
            <a:ext cx="2315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Cumulative 85.7%  </a:t>
            </a:r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▲ +7.9 pp</a:t>
            </a:r>
            <a:endParaRPr lang="en-US" sz="1200" dirty="0"/>
          </a:p>
        </p:txBody>
      </p:sp>
      <p:sp>
        <p:nvSpPr>
          <p:cNvPr id="11" name="External NCR counts"/>
          <p:cNvSpPr txBox="1"/>
          <p:nvPr/>
        </p:nvSpPr>
        <p:spPr>
          <a:xfrm>
            <a:off x="658368" y="2679192"/>
            <a:ext cx="23157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 issued · 4 closed · 3 open</a:t>
            </a:r>
            <a:endParaRPr lang="en-US" sz="1200" dirty="0"/>
          </a:p>
        </p:txBody>
      </p:sp>
      <p:sp>
        <p:nvSpPr>
          <p:cNvPr id="12" name="Metric card Internal NCR"/>
          <p:cNvSpPr/>
          <p:nvPr/>
        </p:nvSpPr>
        <p:spPr>
          <a:xfrm>
            <a:off x="3321558" y="1005840"/>
            <a:ext cx="2681478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3" name="Metric Internal NCR icon bg"/>
          <p:cNvSpPr/>
          <p:nvPr/>
        </p:nvSpPr>
        <p:spPr>
          <a:xfrm>
            <a:off x="3504438" y="115214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Metric Internal NC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734" y="1234440"/>
            <a:ext cx="182880" cy="182880"/>
          </a:xfrm>
          <a:prstGeom prst="rect">
            <a:avLst/>
          </a:prstGeom>
        </p:spPr>
      </p:pic>
      <p:sp>
        <p:nvSpPr>
          <p:cNvPr id="15" name="Metric Internal NCR title"/>
          <p:cNvSpPr txBox="1"/>
          <p:nvPr/>
        </p:nvSpPr>
        <p:spPr>
          <a:xfrm>
            <a:off x="3943350" y="1133856"/>
            <a:ext cx="19042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Internal NCR</a:t>
            </a:r>
            <a:endParaRPr lang="en-US" sz="1600" dirty="0"/>
          </a:p>
        </p:txBody>
      </p:sp>
      <p:sp>
        <p:nvSpPr>
          <p:cNvPr id="16" name="Internal NCR rate"/>
          <p:cNvSpPr txBox="1"/>
          <p:nvPr/>
        </p:nvSpPr>
        <p:spPr>
          <a:xfrm>
            <a:off x="3522726" y="1609344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61.5%</a:t>
            </a:r>
            <a:endParaRPr lang="en-US" sz="3200" dirty="0"/>
          </a:p>
        </p:txBody>
      </p:sp>
      <p:sp>
        <p:nvSpPr>
          <p:cNvPr id="17" name="Internal NCR rate label"/>
          <p:cNvSpPr txBox="1"/>
          <p:nvPr/>
        </p:nvSpPr>
        <p:spPr>
          <a:xfrm>
            <a:off x="3522726" y="2139696"/>
            <a:ext cx="23157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closure rate this month</a:t>
            </a:r>
            <a:endParaRPr lang="en-US" sz="1200" dirty="0"/>
          </a:p>
        </p:txBody>
      </p:sp>
      <p:sp>
        <p:nvSpPr>
          <p:cNvPr id="18" name="Internal NCR cumulative"/>
          <p:cNvSpPr txBox="1"/>
          <p:nvPr/>
        </p:nvSpPr>
        <p:spPr>
          <a:xfrm>
            <a:off x="3522726" y="2423160"/>
            <a:ext cx="2315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Cumulative 90.2%  </a:t>
            </a:r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▼ −0.3 pp</a:t>
            </a:r>
            <a:endParaRPr lang="en-US" sz="1200" dirty="0"/>
          </a:p>
        </p:txBody>
      </p:sp>
      <p:sp>
        <p:nvSpPr>
          <p:cNvPr id="19" name="Internal NCR counts"/>
          <p:cNvSpPr txBox="1"/>
          <p:nvPr/>
        </p:nvSpPr>
        <p:spPr>
          <a:xfrm>
            <a:off x="3522726" y="2679192"/>
            <a:ext cx="23157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9 issued · 8 closed · 5 open</a:t>
            </a:r>
            <a:endParaRPr lang="en-US" sz="1200" dirty="0"/>
          </a:p>
        </p:txBody>
      </p:sp>
      <p:sp>
        <p:nvSpPr>
          <p:cNvPr id="20" name="Metric card RFI"/>
          <p:cNvSpPr/>
          <p:nvPr/>
        </p:nvSpPr>
        <p:spPr>
          <a:xfrm>
            <a:off x="6185916" y="1005840"/>
            <a:ext cx="2681478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21" name="Metric RFI icon bg"/>
          <p:cNvSpPr/>
          <p:nvPr/>
        </p:nvSpPr>
        <p:spPr>
          <a:xfrm>
            <a:off x="6368796" y="115214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Metric RFI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092" y="1234440"/>
            <a:ext cx="182880" cy="182880"/>
          </a:xfrm>
          <a:prstGeom prst="rect">
            <a:avLst/>
          </a:prstGeom>
        </p:spPr>
      </p:pic>
      <p:sp>
        <p:nvSpPr>
          <p:cNvPr id="23" name="Metric RFI title"/>
          <p:cNvSpPr txBox="1"/>
          <p:nvPr/>
        </p:nvSpPr>
        <p:spPr>
          <a:xfrm>
            <a:off x="6807708" y="1133856"/>
            <a:ext cx="19042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RFI</a:t>
            </a:r>
            <a:endParaRPr lang="en-US" sz="1600" dirty="0"/>
          </a:p>
        </p:txBody>
      </p:sp>
      <p:sp>
        <p:nvSpPr>
          <p:cNvPr id="24" name="RFI rate"/>
          <p:cNvSpPr txBox="1"/>
          <p:nvPr/>
        </p:nvSpPr>
        <p:spPr>
          <a:xfrm>
            <a:off x="6387084" y="1609344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95.2%</a:t>
            </a:r>
            <a:endParaRPr lang="en-US" sz="3200" dirty="0"/>
          </a:p>
        </p:txBody>
      </p:sp>
      <p:sp>
        <p:nvSpPr>
          <p:cNvPr id="25" name="RFI rate label"/>
          <p:cNvSpPr txBox="1"/>
          <p:nvPr/>
        </p:nvSpPr>
        <p:spPr>
          <a:xfrm>
            <a:off x="6387084" y="2139696"/>
            <a:ext cx="23157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closure rate this month</a:t>
            </a:r>
            <a:endParaRPr lang="en-US" sz="1200" dirty="0"/>
          </a:p>
        </p:txBody>
      </p:sp>
      <p:sp>
        <p:nvSpPr>
          <p:cNvPr id="26" name="RFI cumulative"/>
          <p:cNvSpPr txBox="1"/>
          <p:nvPr/>
        </p:nvSpPr>
        <p:spPr>
          <a:xfrm>
            <a:off x="6387084" y="2423160"/>
            <a:ext cx="2315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Cumulative 99.2%  </a:t>
            </a:r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▲ +1.1 pp</a:t>
            </a:r>
            <a:endParaRPr lang="en-US" sz="1200" dirty="0"/>
          </a:p>
        </p:txBody>
      </p:sp>
      <p:sp>
        <p:nvSpPr>
          <p:cNvPr id="27" name="RFI counts"/>
          <p:cNvSpPr txBox="1"/>
          <p:nvPr/>
        </p:nvSpPr>
        <p:spPr>
          <a:xfrm>
            <a:off x="6387084" y="2679192"/>
            <a:ext cx="23157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112 issued · 118 closed</a:t>
            </a:r>
            <a:endParaRPr lang="en-US" sz="1200" dirty="0"/>
          </a:p>
        </p:txBody>
      </p:sp>
      <p:sp>
        <p:nvSpPr>
          <p:cNvPr id="28" name="Metric card RMI"/>
          <p:cNvSpPr/>
          <p:nvPr/>
        </p:nvSpPr>
        <p:spPr>
          <a:xfrm>
            <a:off x="9050274" y="1005840"/>
            <a:ext cx="2681478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29" name="Metric RMI icon bg"/>
          <p:cNvSpPr/>
          <p:nvPr/>
        </p:nvSpPr>
        <p:spPr>
          <a:xfrm>
            <a:off x="9233154" y="115214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Metric RMI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450" y="1234440"/>
            <a:ext cx="182880" cy="182880"/>
          </a:xfrm>
          <a:prstGeom prst="rect">
            <a:avLst/>
          </a:prstGeom>
        </p:spPr>
      </p:pic>
      <p:sp>
        <p:nvSpPr>
          <p:cNvPr id="31" name="Metric RMI title"/>
          <p:cNvSpPr txBox="1"/>
          <p:nvPr/>
        </p:nvSpPr>
        <p:spPr>
          <a:xfrm>
            <a:off x="9672066" y="1133856"/>
            <a:ext cx="19042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RMI</a:t>
            </a:r>
            <a:endParaRPr lang="en-US" sz="1600" dirty="0"/>
          </a:p>
        </p:txBody>
      </p:sp>
      <p:sp>
        <p:nvSpPr>
          <p:cNvPr id="32" name="RMI rate"/>
          <p:cNvSpPr txBox="1"/>
          <p:nvPr/>
        </p:nvSpPr>
        <p:spPr>
          <a:xfrm>
            <a:off x="9251442" y="1609344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94.1%</a:t>
            </a:r>
            <a:endParaRPr lang="en-US" sz="3200" dirty="0"/>
          </a:p>
        </p:txBody>
      </p:sp>
      <p:sp>
        <p:nvSpPr>
          <p:cNvPr id="33" name="RMI rate label"/>
          <p:cNvSpPr txBox="1"/>
          <p:nvPr/>
        </p:nvSpPr>
        <p:spPr>
          <a:xfrm>
            <a:off x="9251442" y="2139696"/>
            <a:ext cx="23157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closure rate this month</a:t>
            </a:r>
            <a:endParaRPr lang="en-US" sz="1200" dirty="0"/>
          </a:p>
        </p:txBody>
      </p:sp>
      <p:sp>
        <p:nvSpPr>
          <p:cNvPr id="34" name="RMI cumulative"/>
          <p:cNvSpPr txBox="1"/>
          <p:nvPr/>
        </p:nvSpPr>
        <p:spPr>
          <a:xfrm>
            <a:off x="9251442" y="2423160"/>
            <a:ext cx="2315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Cumulative 99.0%  </a:t>
            </a:r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▲ +1.2 pp</a:t>
            </a:r>
            <a:endParaRPr lang="en-US" sz="1200" dirty="0"/>
          </a:p>
        </p:txBody>
      </p:sp>
      <p:sp>
        <p:nvSpPr>
          <p:cNvPr id="35" name="RMI counts"/>
          <p:cNvSpPr txBox="1"/>
          <p:nvPr/>
        </p:nvSpPr>
        <p:spPr>
          <a:xfrm>
            <a:off x="9251442" y="2679192"/>
            <a:ext cx="23157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76 issued · 80 closed</a:t>
            </a:r>
            <a:endParaRPr lang="en-US" sz="1200" dirty="0"/>
          </a:p>
        </p:txBody>
      </p:sp>
      <p:sp>
        <p:nvSpPr>
          <p:cNvPr id="36" name="NCR chart card"/>
          <p:cNvSpPr/>
          <p:nvPr/>
        </p:nvSpPr>
        <p:spPr>
          <a:xfrm>
            <a:off x="457200" y="3200400"/>
            <a:ext cx="3657600" cy="3154680"/>
          </a:xfrm>
          <a:prstGeom prst="roundRect">
            <a:avLst>
              <a:gd name="adj" fmla="val 231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37" name="NCR chart icon bg"/>
          <p:cNvSpPr/>
          <p:nvPr/>
        </p:nvSpPr>
        <p:spPr>
          <a:xfrm>
            <a:off x="640080" y="33467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NCR char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429000"/>
            <a:ext cx="182880" cy="182880"/>
          </a:xfrm>
          <a:prstGeom prst="rect">
            <a:avLst/>
          </a:prstGeom>
        </p:spPr>
      </p:pic>
      <p:sp>
        <p:nvSpPr>
          <p:cNvPr id="39" name="NCR chart title"/>
          <p:cNvSpPr txBox="1"/>
          <p:nvPr/>
        </p:nvSpPr>
        <p:spPr>
          <a:xfrm>
            <a:off x="1078992" y="332841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NCRs: issued vs closed</a:t>
            </a:r>
            <a:endParaRPr lang="en-US" sz="1600" dirty="0"/>
          </a:p>
        </p:txBody>
      </p:sp>
      <p:graphicFrame>
        <p:nvGraphicFramePr>
          <p:cNvPr id="40" name="NCR chart" descr=""/>
          <p:cNvGraphicFramePr/>
          <p:nvPr/>
        </p:nvGraphicFramePr>
        <p:xfrm>
          <a:off x="594360" y="3794760"/>
          <a:ext cx="33832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1" name="RFI RMI chart card"/>
          <p:cNvSpPr/>
          <p:nvPr/>
        </p:nvSpPr>
        <p:spPr>
          <a:xfrm>
            <a:off x="4297680" y="3200400"/>
            <a:ext cx="3657600" cy="3154680"/>
          </a:xfrm>
          <a:prstGeom prst="roundRect">
            <a:avLst>
              <a:gd name="adj" fmla="val 231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42" name="RFI RMI chart icon bg"/>
          <p:cNvSpPr/>
          <p:nvPr/>
        </p:nvSpPr>
        <p:spPr>
          <a:xfrm>
            <a:off x="4480560" y="33467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3" name="RFI RMI chart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856" y="3429000"/>
            <a:ext cx="182880" cy="182880"/>
          </a:xfrm>
          <a:prstGeom prst="rect">
            <a:avLst/>
          </a:prstGeom>
        </p:spPr>
      </p:pic>
      <p:sp>
        <p:nvSpPr>
          <p:cNvPr id="44" name="RFI RMI chart title"/>
          <p:cNvSpPr txBox="1"/>
          <p:nvPr/>
        </p:nvSpPr>
        <p:spPr>
          <a:xfrm>
            <a:off x="4919472" y="332841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RFI &amp; RMI: issued vs closed</a:t>
            </a:r>
            <a:endParaRPr lang="en-US" sz="1600" dirty="0"/>
          </a:p>
        </p:txBody>
      </p:sp>
      <p:graphicFrame>
        <p:nvGraphicFramePr>
          <p:cNvPr id="45" name="RFI RMI chart" descr=""/>
          <p:cNvGraphicFramePr/>
          <p:nvPr/>
        </p:nvGraphicFramePr>
        <p:xfrm>
          <a:off x="4434840" y="3794760"/>
          <a:ext cx="33832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6" name="Ageing card"/>
          <p:cNvSpPr/>
          <p:nvPr/>
        </p:nvSpPr>
        <p:spPr>
          <a:xfrm>
            <a:off x="8138160" y="3200400"/>
            <a:ext cx="3593592" cy="3154680"/>
          </a:xfrm>
          <a:prstGeom prst="roundRect">
            <a:avLst>
              <a:gd name="adj" fmla="val 231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47" name="Ageing icon bg"/>
          <p:cNvSpPr/>
          <p:nvPr/>
        </p:nvSpPr>
        <p:spPr>
          <a:xfrm>
            <a:off x="8321040" y="33467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8" name="Ageing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3336" y="3429000"/>
            <a:ext cx="182880" cy="182880"/>
          </a:xfrm>
          <a:prstGeom prst="rect">
            <a:avLst/>
          </a:prstGeom>
        </p:spPr>
      </p:pic>
      <p:sp>
        <p:nvSpPr>
          <p:cNvPr id="49" name="Ageing title"/>
          <p:cNvSpPr txBox="1"/>
          <p:nvPr/>
        </p:nvSpPr>
        <p:spPr>
          <a:xfrm>
            <a:off x="8759952" y="3328416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Open NCR ageing (days)</a:t>
            </a:r>
            <a:endParaRPr lang="en-US" sz="1600" dirty="0"/>
          </a:p>
        </p:txBody>
      </p:sp>
      <p:graphicFrame>
        <p:nvGraphicFramePr>
          <p:cNvPr id="50" name="Ageing chart" descr=""/>
          <p:cNvGraphicFramePr/>
          <p:nvPr/>
        </p:nvGraphicFramePr>
        <p:xfrm>
          <a:off x="8275320" y="3794760"/>
          <a:ext cx="3319272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51" name="Ageing check"/>
          <p:cNvSpPr txBox="1"/>
          <p:nvPr/>
        </p:nvSpPr>
        <p:spPr>
          <a:xfrm>
            <a:off x="8321040" y="5897880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✔ Ageing totals match open NCRs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Material inspection (MIRN)</a:t>
            </a:r>
            <a:endParaRPr lang="en-US" sz="2800" dirty="0"/>
          </a:p>
        </p:txBody>
      </p:sp>
      <p:sp>
        <p:nvSpPr>
          <p:cNvPr id="3" name="Project and period"/>
          <p:cNvSpPr txBox="1"/>
          <p:nvPr/>
        </p:nvSpPr>
        <p:spPr>
          <a:xfrm>
            <a:off x="7498080" y="274320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 Nakheel Commercial Complex</a:t>
            </a:r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 ·   October 2026</a:t>
            </a:r>
            <a:endParaRPr lang="en-US" sz="1400" dirty="0"/>
          </a:p>
        </p:txBody>
      </p:sp>
      <p:sp>
        <p:nvSpPr>
          <p:cNvPr id="4" name="KPI MIRN issued"/>
          <p:cNvSpPr/>
          <p:nvPr/>
        </p:nvSpPr>
        <p:spPr>
          <a:xfrm>
            <a:off x="457200" y="1005840"/>
            <a:ext cx="268147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5" name="KPI MIRN issued label"/>
          <p:cNvSpPr txBox="1"/>
          <p:nvPr/>
        </p:nvSpPr>
        <p:spPr>
          <a:xfrm>
            <a:off x="658368" y="1133856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MIRNs ISSUED · MONTH</a:t>
            </a:r>
            <a:endParaRPr lang="en-US" sz="1200" dirty="0"/>
          </a:p>
        </p:txBody>
      </p:sp>
      <p:sp>
        <p:nvSpPr>
          <p:cNvPr id="6" name="KPI MIRN issued value"/>
          <p:cNvSpPr txBox="1"/>
          <p:nvPr/>
        </p:nvSpPr>
        <p:spPr>
          <a:xfrm>
            <a:off x="658368" y="1408176"/>
            <a:ext cx="2315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34</a:t>
            </a:r>
            <a:endParaRPr lang="en-US" sz="3600" dirty="0"/>
          </a:p>
        </p:txBody>
      </p:sp>
      <p:sp>
        <p:nvSpPr>
          <p:cNvPr id="7" name="KPI MIRN issued sub"/>
          <p:cNvSpPr txBox="1"/>
          <p:nvPr/>
        </p:nvSpPr>
        <p:spPr>
          <a:xfrm>
            <a:off x="658368" y="1965960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264 accumulated</a:t>
            </a:r>
            <a:endParaRPr lang="en-US" sz="1200" dirty="0"/>
          </a:p>
        </p:txBody>
      </p:sp>
      <p:sp>
        <p:nvSpPr>
          <p:cNvPr id="8" name="KPI MIRN closed"/>
          <p:cNvSpPr/>
          <p:nvPr/>
        </p:nvSpPr>
        <p:spPr>
          <a:xfrm>
            <a:off x="3321558" y="1005840"/>
            <a:ext cx="268147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9" name="KPI MIRN closed label"/>
          <p:cNvSpPr txBox="1"/>
          <p:nvPr/>
        </p:nvSpPr>
        <p:spPr>
          <a:xfrm>
            <a:off x="3522726" y="1133856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MIRNs CLOSED · MONTH</a:t>
            </a:r>
            <a:endParaRPr lang="en-US" sz="1200" dirty="0"/>
          </a:p>
        </p:txBody>
      </p:sp>
      <p:sp>
        <p:nvSpPr>
          <p:cNvPr id="10" name="KPI MIRN closed value"/>
          <p:cNvSpPr txBox="1"/>
          <p:nvPr/>
        </p:nvSpPr>
        <p:spPr>
          <a:xfrm>
            <a:off x="3522726" y="1408176"/>
            <a:ext cx="2315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38</a:t>
            </a:r>
            <a:endParaRPr lang="en-US" sz="3600" dirty="0"/>
          </a:p>
        </p:txBody>
      </p:sp>
      <p:sp>
        <p:nvSpPr>
          <p:cNvPr id="11" name="KPI MIRN closed sub"/>
          <p:cNvSpPr txBox="1"/>
          <p:nvPr/>
        </p:nvSpPr>
        <p:spPr>
          <a:xfrm>
            <a:off x="3522726" y="1965960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259 accumulated</a:t>
            </a:r>
            <a:endParaRPr lang="en-US" sz="1200" dirty="0"/>
          </a:p>
        </p:txBody>
      </p:sp>
      <p:sp>
        <p:nvSpPr>
          <p:cNvPr id="12" name="KPI MIRN rate"/>
          <p:cNvSpPr/>
          <p:nvPr/>
        </p:nvSpPr>
        <p:spPr>
          <a:xfrm>
            <a:off x="6185916" y="1005840"/>
            <a:ext cx="268147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3" name="KPI MIRN rate label"/>
          <p:cNvSpPr txBox="1"/>
          <p:nvPr/>
        </p:nvSpPr>
        <p:spPr>
          <a:xfrm>
            <a:off x="6387084" y="1133856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CLOSURE RATE · MONTH</a:t>
            </a:r>
            <a:endParaRPr lang="en-US" sz="1200" dirty="0"/>
          </a:p>
        </p:txBody>
      </p:sp>
      <p:sp>
        <p:nvSpPr>
          <p:cNvPr id="14" name="KPI MIRN rate value"/>
          <p:cNvSpPr txBox="1"/>
          <p:nvPr/>
        </p:nvSpPr>
        <p:spPr>
          <a:xfrm>
            <a:off x="6387084" y="1408176"/>
            <a:ext cx="2315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88.4%</a:t>
            </a:r>
            <a:endParaRPr lang="en-US" sz="3600" dirty="0"/>
          </a:p>
        </p:txBody>
      </p:sp>
      <p:sp>
        <p:nvSpPr>
          <p:cNvPr id="15" name="KPI MIRN rate sub"/>
          <p:cNvSpPr txBox="1"/>
          <p:nvPr/>
        </p:nvSpPr>
        <p:spPr>
          <a:xfrm>
            <a:off x="6387084" y="1965960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 MIRNs open</a:t>
            </a:r>
            <a:endParaRPr lang="en-US" sz="1200" dirty="0"/>
          </a:p>
        </p:txBody>
      </p:sp>
      <p:sp>
        <p:nvSpPr>
          <p:cNvPr id="16" name="KPI MIRN cumulative"/>
          <p:cNvSpPr/>
          <p:nvPr/>
        </p:nvSpPr>
        <p:spPr>
          <a:xfrm>
            <a:off x="9050274" y="1005840"/>
            <a:ext cx="268147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7" name="KPI MIRN cumulative label"/>
          <p:cNvSpPr txBox="1"/>
          <p:nvPr/>
        </p:nvSpPr>
        <p:spPr>
          <a:xfrm>
            <a:off x="9251442" y="1133856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CUMULATIVE CLOSURE</a:t>
            </a:r>
            <a:endParaRPr lang="en-US" sz="1200" dirty="0"/>
          </a:p>
        </p:txBody>
      </p:sp>
      <p:sp>
        <p:nvSpPr>
          <p:cNvPr id="18" name="KPI MIRN cumulative value"/>
          <p:cNvSpPr txBox="1"/>
          <p:nvPr/>
        </p:nvSpPr>
        <p:spPr>
          <a:xfrm>
            <a:off x="9251442" y="1408176"/>
            <a:ext cx="2315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98.1%</a:t>
            </a:r>
            <a:endParaRPr lang="en-US" sz="3600" dirty="0"/>
          </a:p>
        </p:txBody>
      </p:sp>
      <p:sp>
        <p:nvSpPr>
          <p:cNvPr id="19" name="KPI MIRN cumulative sub"/>
          <p:cNvSpPr txBox="1"/>
          <p:nvPr/>
        </p:nvSpPr>
        <p:spPr>
          <a:xfrm>
            <a:off x="9251442" y="1965960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▲ +2.0 pts vs last month</a:t>
            </a:r>
            <a:endParaRPr lang="en-US" sz="1200" dirty="0"/>
          </a:p>
        </p:txBody>
      </p:sp>
      <p:sp>
        <p:nvSpPr>
          <p:cNvPr id="20" name="Status card"/>
          <p:cNvSpPr/>
          <p:nvPr/>
        </p:nvSpPr>
        <p:spPr>
          <a:xfrm>
            <a:off x="457200" y="2514600"/>
            <a:ext cx="5852160" cy="3840480"/>
          </a:xfrm>
          <a:prstGeom prst="roundRect">
            <a:avLst>
              <a:gd name="adj" fmla="val 19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21" name="Status icon bg"/>
          <p:cNvSpPr/>
          <p:nvPr/>
        </p:nvSpPr>
        <p:spPr>
          <a:xfrm>
            <a:off x="640080" y="26609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Statu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743200"/>
            <a:ext cx="182880" cy="182880"/>
          </a:xfrm>
          <a:prstGeom prst="rect">
            <a:avLst/>
          </a:prstGeom>
        </p:spPr>
      </p:pic>
      <p:sp>
        <p:nvSpPr>
          <p:cNvPr id="23" name="Status title"/>
          <p:cNvSpPr txBox="1"/>
          <p:nvPr/>
        </p:nvSpPr>
        <p:spPr>
          <a:xfrm>
            <a:off x="1078992" y="264261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Status of items in MIRNs (160 items)</a:t>
            </a:r>
            <a:endParaRPr lang="en-US" sz="1600" dirty="0"/>
          </a:p>
        </p:txBody>
      </p:sp>
      <p:graphicFrame>
        <p:nvGraphicFramePr>
          <p:cNvPr id="24" name="Status donut" descr=""/>
          <p:cNvGraphicFramePr/>
          <p:nvPr/>
        </p:nvGraphicFramePr>
        <p:xfrm>
          <a:off x="640080" y="3200400"/>
          <a:ext cx="2651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tatus total"/>
          <p:cNvSpPr txBox="1"/>
          <p:nvPr/>
        </p:nvSpPr>
        <p:spPr>
          <a:xfrm>
            <a:off x="1417320" y="42062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160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items</a:t>
            </a:r>
            <a:endParaRPr lang="en-US" sz="3000" dirty="0"/>
          </a:p>
        </p:txBody>
      </p:sp>
      <p:sp>
        <p:nvSpPr>
          <p:cNvPr id="26" name="Legend swatch 1"/>
          <p:cNvSpPr/>
          <p:nvPr/>
        </p:nvSpPr>
        <p:spPr>
          <a:xfrm>
            <a:off x="3520440" y="3429000"/>
            <a:ext cx="146304" cy="146304"/>
          </a:xfrm>
          <a:prstGeom prst="rect">
            <a:avLst/>
          </a:prstGeom>
          <a:solidFill>
            <a:srgbClr val="06AEBB"/>
          </a:solidFill>
          <a:ln w="12700">
            <a:solidFill>
              <a:srgbClr val="06AEBB"/>
            </a:solidFill>
            <a:prstDash val="solid"/>
          </a:ln>
        </p:spPr>
      </p:sp>
      <p:sp>
        <p:nvSpPr>
          <p:cNvPr id="27" name="Legend label 1"/>
          <p:cNvSpPr txBox="1"/>
          <p:nvPr/>
        </p:nvSpPr>
        <p:spPr>
          <a:xfrm>
            <a:off x="3767328" y="33375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Approved</a:t>
            </a:r>
            <a:endParaRPr lang="en-US" sz="1200" dirty="0"/>
          </a:p>
        </p:txBody>
      </p:sp>
      <p:sp>
        <p:nvSpPr>
          <p:cNvPr id="28" name="Legend value 1"/>
          <p:cNvSpPr txBox="1"/>
          <p:nvPr/>
        </p:nvSpPr>
        <p:spPr>
          <a:xfrm>
            <a:off x="5486400" y="33375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138</a:t>
            </a:r>
            <a:endParaRPr lang="en-US" sz="1300" dirty="0"/>
          </a:p>
        </p:txBody>
      </p:sp>
      <p:sp>
        <p:nvSpPr>
          <p:cNvPr id="29" name="Legend swatch 2"/>
          <p:cNvSpPr/>
          <p:nvPr/>
        </p:nvSpPr>
        <p:spPr>
          <a:xfrm>
            <a:off x="3520440" y="3886200"/>
            <a:ext cx="146304" cy="146304"/>
          </a:xfrm>
          <a:prstGeom prst="rect">
            <a:avLst/>
          </a:prstGeom>
          <a:solidFill>
            <a:srgbClr val="EB9823"/>
          </a:solidFill>
          <a:ln w="12700">
            <a:solidFill>
              <a:srgbClr val="EB9823"/>
            </a:solidFill>
            <a:prstDash val="solid"/>
          </a:ln>
        </p:spPr>
      </p:sp>
      <p:sp>
        <p:nvSpPr>
          <p:cNvPr id="30" name="Legend label 2"/>
          <p:cNvSpPr txBox="1"/>
          <p:nvPr/>
        </p:nvSpPr>
        <p:spPr>
          <a:xfrm>
            <a:off x="3767328" y="37947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 Hold / Quarantine</a:t>
            </a:r>
            <a:endParaRPr lang="en-US" sz="1200" dirty="0"/>
          </a:p>
        </p:txBody>
      </p:sp>
      <p:sp>
        <p:nvSpPr>
          <p:cNvPr id="31" name="Legend value 2"/>
          <p:cNvSpPr txBox="1"/>
          <p:nvPr/>
        </p:nvSpPr>
        <p:spPr>
          <a:xfrm>
            <a:off x="5486400" y="37947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Legend swatch 3"/>
          <p:cNvSpPr/>
          <p:nvPr/>
        </p:nvSpPr>
        <p:spPr>
          <a:xfrm>
            <a:off x="3520440" y="4343400"/>
            <a:ext cx="146304" cy="146304"/>
          </a:xfrm>
          <a:prstGeom prst="rect">
            <a:avLst/>
          </a:prstGeom>
          <a:solidFill>
            <a:srgbClr val="D58BCB"/>
          </a:solidFill>
          <a:ln w="12700">
            <a:solidFill>
              <a:srgbClr val="D58BCB"/>
            </a:solidFill>
            <a:prstDash val="solid"/>
          </a:ln>
        </p:spPr>
      </p:sp>
      <p:sp>
        <p:nvSpPr>
          <p:cNvPr id="33" name="Legend label 3"/>
          <p:cNvSpPr txBox="1"/>
          <p:nvPr/>
        </p:nvSpPr>
        <p:spPr>
          <a:xfrm>
            <a:off x="3767328" y="42519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Rejected – Do Not Use</a:t>
            </a:r>
            <a:endParaRPr lang="en-US" sz="1200" dirty="0"/>
          </a:p>
        </p:txBody>
      </p:sp>
      <p:sp>
        <p:nvSpPr>
          <p:cNvPr id="34" name="Legend value 3"/>
          <p:cNvSpPr txBox="1"/>
          <p:nvPr/>
        </p:nvSpPr>
        <p:spPr>
          <a:xfrm>
            <a:off x="5486400" y="42519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35" name="Legend swatch 4"/>
          <p:cNvSpPr/>
          <p:nvPr/>
        </p:nvSpPr>
        <p:spPr>
          <a:xfrm>
            <a:off x="3520440" y="4800600"/>
            <a:ext cx="146304" cy="146304"/>
          </a:xfrm>
          <a:prstGeom prst="rect">
            <a:avLst/>
          </a:prstGeom>
          <a:solidFill>
            <a:srgbClr val="A43C96"/>
          </a:solidFill>
          <a:ln w="12700">
            <a:solidFill>
              <a:srgbClr val="A43C96"/>
            </a:solidFill>
            <a:prstDash val="solid"/>
          </a:ln>
        </p:spPr>
      </p:sp>
      <p:sp>
        <p:nvSpPr>
          <p:cNvPr id="36" name="Legend label 4"/>
          <p:cNvSpPr txBox="1"/>
          <p:nvPr/>
        </p:nvSpPr>
        <p:spPr>
          <a:xfrm>
            <a:off x="3767328" y="47091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Rejected – Return to Supplier</a:t>
            </a:r>
            <a:endParaRPr lang="en-US" sz="1200" dirty="0"/>
          </a:p>
        </p:txBody>
      </p:sp>
      <p:sp>
        <p:nvSpPr>
          <p:cNvPr id="37" name="Legend value 4"/>
          <p:cNvSpPr txBox="1"/>
          <p:nvPr/>
        </p:nvSpPr>
        <p:spPr>
          <a:xfrm>
            <a:off x="5486400" y="47091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38" name="Legend swatch 5"/>
          <p:cNvSpPr/>
          <p:nvPr/>
        </p:nvSpPr>
        <p:spPr>
          <a:xfrm>
            <a:off x="3520440" y="5257800"/>
            <a:ext cx="146304" cy="146304"/>
          </a:xfrm>
          <a:prstGeom prst="rect">
            <a:avLst/>
          </a:prstGeom>
          <a:solidFill>
            <a:srgbClr val="582C83"/>
          </a:solidFill>
          <a:ln w="12700">
            <a:solidFill>
              <a:srgbClr val="582C83"/>
            </a:solidFill>
            <a:prstDash val="solid"/>
          </a:ln>
        </p:spPr>
      </p:sp>
      <p:sp>
        <p:nvSpPr>
          <p:cNvPr id="39" name="Legend label 5"/>
          <p:cNvSpPr txBox="1"/>
          <p:nvPr/>
        </p:nvSpPr>
        <p:spPr>
          <a:xfrm>
            <a:off x="3767328" y="51663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Hazardous Material</a:t>
            </a:r>
            <a:endParaRPr lang="en-US" sz="1200" dirty="0"/>
          </a:p>
        </p:txBody>
      </p:sp>
      <p:sp>
        <p:nvSpPr>
          <p:cNvPr id="40" name="Legend value 5"/>
          <p:cNvSpPr txBox="1"/>
          <p:nvPr/>
        </p:nvSpPr>
        <p:spPr>
          <a:xfrm>
            <a:off x="5486400" y="51663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Legend swatch 6"/>
          <p:cNvSpPr/>
          <p:nvPr/>
        </p:nvSpPr>
        <p:spPr>
          <a:xfrm>
            <a:off x="3520440" y="5715000"/>
            <a:ext cx="146304" cy="146304"/>
          </a:xfrm>
          <a:prstGeom prst="rect">
            <a:avLst/>
          </a:prstGeom>
          <a:solidFill>
            <a:srgbClr val="BBA9D2"/>
          </a:solidFill>
          <a:ln w="12700">
            <a:solidFill>
              <a:srgbClr val="BBA9D2"/>
            </a:solidFill>
            <a:prstDash val="solid"/>
          </a:ln>
        </p:spPr>
      </p:sp>
      <p:sp>
        <p:nvSpPr>
          <p:cNvPr id="42" name="Legend label 6"/>
          <p:cNvSpPr txBox="1"/>
          <p:nvPr/>
        </p:nvSpPr>
        <p:spPr>
          <a:xfrm>
            <a:off x="3767328" y="56235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Handle &amp; Store with Care</a:t>
            </a:r>
            <a:endParaRPr lang="en-US" sz="1200" dirty="0"/>
          </a:p>
        </p:txBody>
      </p:sp>
      <p:sp>
        <p:nvSpPr>
          <p:cNvPr id="43" name="Legend value 6"/>
          <p:cNvSpPr txBox="1"/>
          <p:nvPr/>
        </p:nvSpPr>
        <p:spPr>
          <a:xfrm>
            <a:off x="5486400" y="56235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44" name="OSD card"/>
          <p:cNvSpPr/>
          <p:nvPr/>
        </p:nvSpPr>
        <p:spPr>
          <a:xfrm>
            <a:off x="6492240" y="2514600"/>
            <a:ext cx="5239512" cy="3840480"/>
          </a:xfrm>
          <a:prstGeom prst="roundRect">
            <a:avLst>
              <a:gd name="adj" fmla="val 19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45" name="OSD icon bg"/>
          <p:cNvSpPr/>
          <p:nvPr/>
        </p:nvSpPr>
        <p:spPr>
          <a:xfrm>
            <a:off x="6675120" y="26609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6" name="OSD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6" y="2743200"/>
            <a:ext cx="182880" cy="182880"/>
          </a:xfrm>
          <a:prstGeom prst="rect">
            <a:avLst/>
          </a:prstGeom>
        </p:spPr>
      </p:pic>
      <p:sp>
        <p:nvSpPr>
          <p:cNvPr id="47" name="OSD title"/>
          <p:cNvSpPr txBox="1"/>
          <p:nvPr/>
        </p:nvSpPr>
        <p:spPr>
          <a:xfrm>
            <a:off x="7114032" y="2642616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Overage, shortage, damage &amp; defects</a:t>
            </a:r>
            <a:endParaRPr lang="en-US" sz="1600" dirty="0"/>
          </a:p>
        </p:txBody>
      </p:sp>
      <p:graphicFrame>
        <p:nvGraphicFramePr>
          <p:cNvPr id="48" name="OSD chart" descr=""/>
          <p:cNvGraphicFramePr/>
          <p:nvPr/>
        </p:nvGraphicFramePr>
        <p:xfrm>
          <a:off x="6629400" y="3108960"/>
          <a:ext cx="4965192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9" name="OSD footnote"/>
          <p:cNvSpPr txBox="1"/>
          <p:nvPr/>
        </p:nvSpPr>
        <p:spPr>
          <a:xfrm>
            <a:off x="6675120" y="576072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5 MIRNs with OSD recorded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Training &amp; document status</a:t>
            </a:r>
            <a:endParaRPr lang="en-US" sz="2800" dirty="0"/>
          </a:p>
        </p:txBody>
      </p:sp>
      <p:sp>
        <p:nvSpPr>
          <p:cNvPr id="3" name="Project and period"/>
          <p:cNvSpPr txBox="1"/>
          <p:nvPr/>
        </p:nvSpPr>
        <p:spPr>
          <a:xfrm>
            <a:off x="7498080" y="274320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 Nakheel Commercial Complex</a:t>
            </a:r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 ·   October 2026</a:t>
            </a:r>
            <a:endParaRPr lang="en-US" sz="1400" dirty="0"/>
          </a:p>
        </p:txBody>
      </p:sp>
      <p:sp>
        <p:nvSpPr>
          <p:cNvPr id="4" name="KPI talks"/>
          <p:cNvSpPr/>
          <p:nvPr/>
        </p:nvSpPr>
        <p:spPr>
          <a:xfrm>
            <a:off x="457200" y="1005840"/>
            <a:ext cx="268147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5" name="KPI talks label"/>
          <p:cNvSpPr txBox="1"/>
          <p:nvPr/>
        </p:nvSpPr>
        <p:spPr>
          <a:xfrm>
            <a:off x="658368" y="1133856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TALKS · MONTH</a:t>
            </a:r>
            <a:endParaRPr lang="en-US" sz="1200" dirty="0"/>
          </a:p>
        </p:txBody>
      </p:sp>
      <p:sp>
        <p:nvSpPr>
          <p:cNvPr id="6" name="KPI talks value"/>
          <p:cNvSpPr txBox="1"/>
          <p:nvPr/>
        </p:nvSpPr>
        <p:spPr>
          <a:xfrm>
            <a:off x="658368" y="1408176"/>
            <a:ext cx="2315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8</a:t>
            </a:r>
            <a:endParaRPr lang="en-US" sz="3600" dirty="0"/>
          </a:p>
        </p:txBody>
      </p:sp>
      <p:sp>
        <p:nvSpPr>
          <p:cNvPr id="7" name="KPI talks sub"/>
          <p:cNvSpPr txBox="1"/>
          <p:nvPr/>
        </p:nvSpPr>
        <p:spPr>
          <a:xfrm>
            <a:off x="658368" y="1965960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44 accumulated</a:t>
            </a:r>
            <a:endParaRPr lang="en-US" sz="1200" dirty="0"/>
          </a:p>
        </p:txBody>
      </p:sp>
      <p:sp>
        <p:nvSpPr>
          <p:cNvPr id="8" name="KPI attendees"/>
          <p:cNvSpPr/>
          <p:nvPr/>
        </p:nvSpPr>
        <p:spPr>
          <a:xfrm>
            <a:off x="3321558" y="1005840"/>
            <a:ext cx="268147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9" name="KPI attendees label"/>
          <p:cNvSpPr txBox="1"/>
          <p:nvPr/>
        </p:nvSpPr>
        <p:spPr>
          <a:xfrm>
            <a:off x="3522726" y="1133856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ATTENDEES · MONTH</a:t>
            </a:r>
            <a:endParaRPr lang="en-US" sz="1200" dirty="0"/>
          </a:p>
        </p:txBody>
      </p:sp>
      <p:sp>
        <p:nvSpPr>
          <p:cNvPr id="10" name="KPI attendees value"/>
          <p:cNvSpPr txBox="1"/>
          <p:nvPr/>
        </p:nvSpPr>
        <p:spPr>
          <a:xfrm>
            <a:off x="3522726" y="1408176"/>
            <a:ext cx="2315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192</a:t>
            </a:r>
            <a:endParaRPr lang="en-US" sz="3600" dirty="0"/>
          </a:p>
        </p:txBody>
      </p:sp>
      <p:sp>
        <p:nvSpPr>
          <p:cNvPr id="11" name="KPI attendees sub"/>
          <p:cNvSpPr txBox="1"/>
          <p:nvPr/>
        </p:nvSpPr>
        <p:spPr>
          <a:xfrm>
            <a:off x="3522726" y="1965960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15 min per talk</a:t>
            </a:r>
            <a:endParaRPr lang="en-US" sz="1200" dirty="0"/>
          </a:p>
        </p:txBody>
      </p:sp>
      <p:sp>
        <p:nvSpPr>
          <p:cNvPr id="12" name="KPI manhours"/>
          <p:cNvSpPr/>
          <p:nvPr/>
        </p:nvSpPr>
        <p:spPr>
          <a:xfrm>
            <a:off x="6185916" y="1005840"/>
            <a:ext cx="268147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3" name="KPI manhours label"/>
          <p:cNvSpPr txBox="1"/>
          <p:nvPr/>
        </p:nvSpPr>
        <p:spPr>
          <a:xfrm>
            <a:off x="6387084" y="1133856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MANHOURS · MONTH</a:t>
            </a:r>
            <a:endParaRPr lang="en-US" sz="1200" dirty="0"/>
          </a:p>
        </p:txBody>
      </p:sp>
      <p:sp>
        <p:nvSpPr>
          <p:cNvPr id="14" name="KPI manhours value"/>
          <p:cNvSpPr txBox="1"/>
          <p:nvPr/>
        </p:nvSpPr>
        <p:spPr>
          <a:xfrm>
            <a:off x="6387084" y="1408176"/>
            <a:ext cx="2315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48.00</a:t>
            </a:r>
            <a:endParaRPr lang="en-US" sz="3600" dirty="0"/>
          </a:p>
        </p:txBody>
      </p:sp>
      <p:sp>
        <p:nvSpPr>
          <p:cNvPr id="15" name="KPI manhours sub"/>
          <p:cNvSpPr txBox="1"/>
          <p:nvPr/>
        </p:nvSpPr>
        <p:spPr>
          <a:xfrm>
            <a:off x="6387084" y="1965960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54.00 before</a:t>
            </a:r>
            <a:endParaRPr lang="en-US" sz="1200" dirty="0"/>
          </a:p>
        </p:txBody>
      </p:sp>
      <p:sp>
        <p:nvSpPr>
          <p:cNvPr id="16" name="KPI acc manhours"/>
          <p:cNvSpPr/>
          <p:nvPr/>
        </p:nvSpPr>
        <p:spPr>
          <a:xfrm>
            <a:off x="9050274" y="1005840"/>
            <a:ext cx="268147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7" name="KPI acc manhours label"/>
          <p:cNvSpPr txBox="1"/>
          <p:nvPr/>
        </p:nvSpPr>
        <p:spPr>
          <a:xfrm>
            <a:off x="9251442" y="1133856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ACC. MANHOURS</a:t>
            </a:r>
            <a:endParaRPr lang="en-US" sz="1200" dirty="0"/>
          </a:p>
        </p:txBody>
      </p:sp>
      <p:sp>
        <p:nvSpPr>
          <p:cNvPr id="18" name="KPI acc manhours value"/>
          <p:cNvSpPr txBox="1"/>
          <p:nvPr/>
        </p:nvSpPr>
        <p:spPr>
          <a:xfrm>
            <a:off x="9251442" y="1408176"/>
            <a:ext cx="2315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102.00</a:t>
            </a:r>
            <a:endParaRPr lang="en-US" sz="3600" dirty="0"/>
          </a:p>
        </p:txBody>
      </p:sp>
      <p:sp>
        <p:nvSpPr>
          <p:cNvPr id="19" name="KPI acc manhours sub"/>
          <p:cNvSpPr txBox="1"/>
          <p:nvPr/>
        </p:nvSpPr>
        <p:spPr>
          <a:xfrm>
            <a:off x="9251442" y="1965960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44 talks to date</a:t>
            </a:r>
            <a:endParaRPr lang="en-US" sz="1200" dirty="0"/>
          </a:p>
        </p:txBody>
      </p:sp>
      <p:sp>
        <p:nvSpPr>
          <p:cNvPr id="20" name="Doc status card"/>
          <p:cNvSpPr/>
          <p:nvPr/>
        </p:nvSpPr>
        <p:spPr>
          <a:xfrm>
            <a:off x="457200" y="2514600"/>
            <a:ext cx="5545836" cy="3840480"/>
          </a:xfrm>
          <a:prstGeom prst="roundRect">
            <a:avLst>
              <a:gd name="adj" fmla="val 19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21" name="Doc status icon bg"/>
          <p:cNvSpPr/>
          <p:nvPr/>
        </p:nvSpPr>
        <p:spPr>
          <a:xfrm>
            <a:off x="640080" y="26609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Doc statu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743200"/>
            <a:ext cx="182880" cy="182880"/>
          </a:xfrm>
          <a:prstGeom prst="rect">
            <a:avLst/>
          </a:prstGeom>
        </p:spPr>
      </p:pic>
      <p:sp>
        <p:nvSpPr>
          <p:cNvPr id="23" name="Doc status title"/>
          <p:cNvSpPr txBox="1"/>
          <p:nvPr/>
        </p:nvSpPr>
        <p:spPr>
          <a:xfrm>
            <a:off x="1078992" y="2642616"/>
            <a:ext cx="4768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Drawings &amp; submittals by status</a:t>
            </a:r>
            <a:endParaRPr lang="en-US" sz="1600" dirty="0"/>
          </a:p>
        </p:txBody>
      </p:sp>
      <p:graphicFrame>
        <p:nvGraphicFramePr>
          <p:cNvPr id="24" name="Doc status chart" descr=""/>
          <p:cNvGraphicFramePr/>
          <p:nvPr/>
        </p:nvGraphicFramePr>
        <p:xfrm>
          <a:off x="594360" y="3108960"/>
          <a:ext cx="5271516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Review time card"/>
          <p:cNvSpPr/>
          <p:nvPr/>
        </p:nvSpPr>
        <p:spPr>
          <a:xfrm>
            <a:off x="6185916" y="2514600"/>
            <a:ext cx="5545836" cy="3840480"/>
          </a:xfrm>
          <a:prstGeom prst="roundRect">
            <a:avLst>
              <a:gd name="adj" fmla="val 19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26" name="Review time icon bg"/>
          <p:cNvSpPr/>
          <p:nvPr/>
        </p:nvSpPr>
        <p:spPr>
          <a:xfrm>
            <a:off x="6368796" y="26609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Review tim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092" y="2743200"/>
            <a:ext cx="182880" cy="182880"/>
          </a:xfrm>
          <a:prstGeom prst="rect">
            <a:avLst/>
          </a:prstGeom>
        </p:spPr>
      </p:pic>
      <p:sp>
        <p:nvSpPr>
          <p:cNvPr id="28" name="Review time title"/>
          <p:cNvSpPr txBox="1"/>
          <p:nvPr/>
        </p:nvSpPr>
        <p:spPr>
          <a:xfrm>
            <a:off x="6807708" y="2642616"/>
            <a:ext cx="4768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Average review time (days)</a:t>
            </a:r>
            <a:endParaRPr lang="en-US" sz="1600" dirty="0"/>
          </a:p>
        </p:txBody>
      </p:sp>
      <p:graphicFrame>
        <p:nvGraphicFramePr>
          <p:cNvPr id="29" name="Review time chart" descr=""/>
          <p:cNvGraphicFramePr/>
          <p:nvPr/>
        </p:nvGraphicFramePr>
        <p:xfrm>
          <a:off x="6323076" y="3108960"/>
          <a:ext cx="5271516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Governance &amp; resources</a:t>
            </a:r>
            <a:endParaRPr lang="en-US" sz="2800" dirty="0"/>
          </a:p>
        </p:txBody>
      </p:sp>
      <p:sp>
        <p:nvSpPr>
          <p:cNvPr id="3" name="Project and period"/>
          <p:cNvSpPr txBox="1"/>
          <p:nvPr/>
        </p:nvSpPr>
        <p:spPr>
          <a:xfrm>
            <a:off x="7498080" y="274320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 Nakheel Commercial Complex</a:t>
            </a:r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 ·   October 2026</a:t>
            </a:r>
            <a:endParaRPr lang="en-US" sz="1400" dirty="0"/>
          </a:p>
        </p:txBody>
      </p:sp>
      <p:sp>
        <p:nvSpPr>
          <p:cNvPr id="4" name="PQP audit card"/>
          <p:cNvSpPr/>
          <p:nvPr/>
        </p:nvSpPr>
        <p:spPr>
          <a:xfrm>
            <a:off x="457200" y="1005840"/>
            <a:ext cx="3749040" cy="5349240"/>
          </a:xfrm>
          <a:prstGeom prst="roundRect">
            <a:avLst>
              <a:gd name="adj" fmla="val 195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5" name="PQP icon bg"/>
          <p:cNvSpPr/>
          <p:nvPr/>
        </p:nvSpPr>
        <p:spPr>
          <a:xfrm>
            <a:off x="640080" y="115214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PQ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234440"/>
            <a:ext cx="182880" cy="182880"/>
          </a:xfrm>
          <a:prstGeom prst="rect">
            <a:avLst/>
          </a:prstGeom>
        </p:spPr>
      </p:pic>
      <p:sp>
        <p:nvSpPr>
          <p:cNvPr id="7" name="PQP title"/>
          <p:cNvSpPr txBox="1"/>
          <p:nvPr/>
        </p:nvSpPr>
        <p:spPr>
          <a:xfrm>
            <a:off x="1078992" y="113385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Project Quality Plan</a:t>
            </a:r>
            <a:endParaRPr lang="en-US" sz="1600" dirty="0"/>
          </a:p>
        </p:txBody>
      </p:sp>
      <p:sp>
        <p:nvSpPr>
          <p:cNvPr id="8" name="PQP label 1"/>
          <p:cNvSpPr txBox="1"/>
          <p:nvPr/>
        </p:nvSpPr>
        <p:spPr>
          <a:xfrm>
            <a:off x="685800" y="1691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Status</a:t>
            </a:r>
            <a:endParaRPr lang="en-US" sz="1300" dirty="0"/>
          </a:p>
        </p:txBody>
      </p:sp>
      <p:sp>
        <p:nvSpPr>
          <p:cNvPr id="9" name="PQP value 1"/>
          <p:cNvSpPr txBox="1"/>
          <p:nvPr/>
        </p:nvSpPr>
        <p:spPr>
          <a:xfrm>
            <a:off x="2011680" y="16916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Approved B</a:t>
            </a:r>
            <a:endParaRPr lang="en-US" sz="1400" dirty="0"/>
          </a:p>
        </p:txBody>
      </p:sp>
      <p:sp>
        <p:nvSpPr>
          <p:cNvPr id="10" name="PQP label 2"/>
          <p:cNvSpPr txBox="1"/>
          <p:nvPr/>
        </p:nvSpPr>
        <p:spPr>
          <a:xfrm>
            <a:off x="685800" y="2075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Submitted</a:t>
            </a:r>
            <a:endParaRPr lang="en-US" sz="1300" dirty="0"/>
          </a:p>
        </p:txBody>
      </p:sp>
      <p:sp>
        <p:nvSpPr>
          <p:cNvPr id="11" name="PQP value 2"/>
          <p:cNvSpPr txBox="1"/>
          <p:nvPr/>
        </p:nvSpPr>
        <p:spPr>
          <a:xfrm>
            <a:off x="2011680" y="20756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12-03-2026</a:t>
            </a:r>
            <a:endParaRPr lang="en-US" sz="1400" dirty="0"/>
          </a:p>
        </p:txBody>
      </p:sp>
      <p:sp>
        <p:nvSpPr>
          <p:cNvPr id="12" name="PQP label 3"/>
          <p:cNvSpPr txBox="1"/>
          <p:nvPr/>
        </p:nvSpPr>
        <p:spPr>
          <a:xfrm>
            <a:off x="685800" y="24597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Approved</a:t>
            </a:r>
            <a:endParaRPr lang="en-US" sz="1300" dirty="0"/>
          </a:p>
        </p:txBody>
      </p:sp>
      <p:sp>
        <p:nvSpPr>
          <p:cNvPr id="13" name="PQP value 3"/>
          <p:cNvSpPr txBox="1"/>
          <p:nvPr/>
        </p:nvSpPr>
        <p:spPr>
          <a:xfrm>
            <a:off x="2011680" y="245973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28-03-2026</a:t>
            </a:r>
            <a:endParaRPr lang="en-US" sz="1400" dirty="0"/>
          </a:p>
        </p:txBody>
      </p:sp>
      <p:sp>
        <p:nvSpPr>
          <p:cNvPr id="14" name="Audit icon bg"/>
          <p:cNvSpPr/>
          <p:nvPr/>
        </p:nvSpPr>
        <p:spPr>
          <a:xfrm>
            <a:off x="640080" y="330098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Audi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3383280"/>
            <a:ext cx="182880" cy="182880"/>
          </a:xfrm>
          <a:prstGeom prst="rect">
            <a:avLst/>
          </a:prstGeom>
        </p:spPr>
      </p:pic>
      <p:sp>
        <p:nvSpPr>
          <p:cNvPr id="16" name="Audit title"/>
          <p:cNvSpPr txBox="1"/>
          <p:nvPr/>
        </p:nvSpPr>
        <p:spPr>
          <a:xfrm>
            <a:off x="1078992" y="32826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QMS internal audit</a:t>
            </a:r>
            <a:endParaRPr lang="en-US" sz="1600" dirty="0"/>
          </a:p>
        </p:txBody>
      </p:sp>
      <p:sp>
        <p:nvSpPr>
          <p:cNvPr id="17" name="Audit label 1"/>
          <p:cNvSpPr txBox="1"/>
          <p:nvPr/>
        </p:nvSpPr>
        <p:spPr>
          <a:xfrm>
            <a:off x="685800" y="38404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Conducted</a:t>
            </a:r>
            <a:endParaRPr lang="en-US" sz="1300" dirty="0"/>
          </a:p>
        </p:txBody>
      </p:sp>
      <p:sp>
        <p:nvSpPr>
          <p:cNvPr id="18" name="Audit value 1"/>
          <p:cNvSpPr txBox="1"/>
          <p:nvPr/>
        </p:nvSpPr>
        <p:spPr>
          <a:xfrm>
            <a:off x="2011680" y="384048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Yes</a:t>
            </a:r>
            <a:endParaRPr lang="en-US" sz="1400" dirty="0"/>
          </a:p>
        </p:txBody>
      </p:sp>
      <p:sp>
        <p:nvSpPr>
          <p:cNvPr id="19" name="Audit label 2"/>
          <p:cNvSpPr txBox="1"/>
          <p:nvPr/>
        </p:nvSpPr>
        <p:spPr>
          <a:xfrm>
            <a:off x="685800" y="42245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Last audit</a:t>
            </a:r>
            <a:endParaRPr lang="en-US" sz="1300" dirty="0"/>
          </a:p>
        </p:txBody>
      </p:sp>
      <p:sp>
        <p:nvSpPr>
          <p:cNvPr id="20" name="Audit value 2"/>
          <p:cNvSpPr txBox="1"/>
          <p:nvPr/>
        </p:nvSpPr>
        <p:spPr>
          <a:xfrm>
            <a:off x="2011680" y="422452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18-09-2026</a:t>
            </a:r>
            <a:endParaRPr lang="en-US" sz="1400" dirty="0"/>
          </a:p>
        </p:txBody>
      </p:sp>
      <p:sp>
        <p:nvSpPr>
          <p:cNvPr id="21" name="Audit label 3"/>
          <p:cNvSpPr txBox="1"/>
          <p:nvPr/>
        </p:nvSpPr>
        <p:spPr>
          <a:xfrm>
            <a:off x="685800" y="4608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Next audit</a:t>
            </a:r>
            <a:endParaRPr lang="en-US" sz="1300" dirty="0"/>
          </a:p>
        </p:txBody>
      </p:sp>
      <p:sp>
        <p:nvSpPr>
          <p:cNvPr id="22" name="Audit value 3"/>
          <p:cNvSpPr txBox="1"/>
          <p:nvPr/>
        </p:nvSpPr>
        <p:spPr>
          <a:xfrm>
            <a:off x="2011680" y="460857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18-12-2026</a:t>
            </a:r>
            <a:endParaRPr lang="en-US" sz="1400" dirty="0"/>
          </a:p>
        </p:txBody>
      </p:sp>
      <p:sp>
        <p:nvSpPr>
          <p:cNvPr id="23" name="Last report ref"/>
          <p:cNvSpPr txBox="1"/>
          <p:nvPr/>
        </p:nvSpPr>
        <p:spPr>
          <a:xfrm>
            <a:off x="685800" y="5440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Last report sent to client: ALG-NKC-QAR-2026-09  (01-09-2026 to 30-09-2026)</a:t>
            </a:r>
            <a:endParaRPr lang="en-US" sz="1200" dirty="0"/>
          </a:p>
        </p:txBody>
      </p:sp>
      <p:sp>
        <p:nvSpPr>
          <p:cNvPr id="24" name="Meetings card"/>
          <p:cNvSpPr/>
          <p:nvPr/>
        </p:nvSpPr>
        <p:spPr>
          <a:xfrm>
            <a:off x="4389120" y="1005840"/>
            <a:ext cx="3931920" cy="534924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25" name="Meetings icon bg"/>
          <p:cNvSpPr/>
          <p:nvPr/>
        </p:nvSpPr>
        <p:spPr>
          <a:xfrm>
            <a:off x="4572000" y="115214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Meeting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234440"/>
            <a:ext cx="182880" cy="182880"/>
          </a:xfrm>
          <a:prstGeom prst="rect">
            <a:avLst/>
          </a:prstGeom>
        </p:spPr>
      </p:pic>
      <p:sp>
        <p:nvSpPr>
          <p:cNvPr id="27" name="Meetings title"/>
          <p:cNvSpPr txBox="1"/>
          <p:nvPr/>
        </p:nvSpPr>
        <p:spPr>
          <a:xfrm>
            <a:off x="5010912" y="113385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Meetings conducted (4)</a:t>
            </a:r>
            <a:endParaRPr lang="en-US" sz="1600" dirty="0"/>
          </a:p>
        </p:txBody>
      </p:sp>
      <p:sp>
        <p:nvSpPr>
          <p:cNvPr id="28" name="Meeting name 1"/>
          <p:cNvSpPr txBox="1"/>
          <p:nvPr/>
        </p:nvSpPr>
        <p:spPr>
          <a:xfrm>
            <a:off x="461772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Weekly Quality Review</a:t>
            </a:r>
            <a:endParaRPr lang="en-US" sz="1300" dirty="0"/>
          </a:p>
        </p:txBody>
      </p:sp>
      <p:sp>
        <p:nvSpPr>
          <p:cNvPr id="29" name="Meeting date 1"/>
          <p:cNvSpPr txBox="1"/>
          <p:nvPr/>
        </p:nvSpPr>
        <p:spPr>
          <a:xfrm>
            <a:off x="6949440" y="1691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07-10-2026</a:t>
            </a:r>
            <a:endParaRPr lang="en-US" sz="1200" dirty="0"/>
          </a:p>
        </p:txBody>
      </p:sp>
      <p:sp>
        <p:nvSpPr>
          <p:cNvPr id="30" name="Meeting outcome 1"/>
          <p:cNvSpPr txBox="1"/>
          <p:nvPr/>
        </p:nvSpPr>
        <p:spPr>
          <a:xfrm>
            <a:off x="4617720" y="1956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NCR ageing reviewed; 3 actions assigned</a:t>
            </a:r>
            <a:endParaRPr lang="en-US" sz="1100" dirty="0"/>
          </a:p>
        </p:txBody>
      </p:sp>
      <p:sp>
        <p:nvSpPr>
          <p:cNvPr id="31" name="Meeting name 2"/>
          <p:cNvSpPr txBox="1"/>
          <p:nvPr/>
        </p:nvSpPr>
        <p:spPr>
          <a:xfrm>
            <a:off x="4617720" y="2258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Subcontractor Quality Briefing</a:t>
            </a:r>
            <a:endParaRPr lang="en-US" sz="1300" dirty="0"/>
          </a:p>
        </p:txBody>
      </p:sp>
      <p:sp>
        <p:nvSpPr>
          <p:cNvPr id="32" name="Meeting date 2"/>
          <p:cNvSpPr txBox="1"/>
          <p:nvPr/>
        </p:nvSpPr>
        <p:spPr>
          <a:xfrm>
            <a:off x="6949440" y="22585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12-10-2026</a:t>
            </a:r>
            <a:endParaRPr lang="en-US" sz="1200" dirty="0"/>
          </a:p>
        </p:txBody>
      </p:sp>
      <p:sp>
        <p:nvSpPr>
          <p:cNvPr id="33" name="Meeting outcome 2"/>
          <p:cNvSpPr txBox="1"/>
          <p:nvPr/>
        </p:nvSpPr>
        <p:spPr>
          <a:xfrm>
            <a:off x="4617720" y="2523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Sleeve coordination checklist issued</a:t>
            </a:r>
            <a:endParaRPr lang="en-US" sz="1100" dirty="0"/>
          </a:p>
        </p:txBody>
      </p:sp>
      <p:sp>
        <p:nvSpPr>
          <p:cNvPr id="34" name="Meeting name 3"/>
          <p:cNvSpPr txBox="1"/>
          <p:nvPr/>
        </p:nvSpPr>
        <p:spPr>
          <a:xfrm>
            <a:off x="4617720" y="2825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Monthly Client Quality Meeting</a:t>
            </a:r>
            <a:endParaRPr lang="en-US" sz="1300" dirty="0"/>
          </a:p>
        </p:txBody>
      </p:sp>
      <p:sp>
        <p:nvSpPr>
          <p:cNvPr id="35" name="Meeting date 3"/>
          <p:cNvSpPr txBox="1"/>
          <p:nvPr/>
        </p:nvSpPr>
        <p:spPr>
          <a:xfrm>
            <a:off x="6949440" y="282549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20-10-2026</a:t>
            </a:r>
            <a:endParaRPr lang="en-US" sz="1200" dirty="0"/>
          </a:p>
        </p:txBody>
      </p:sp>
      <p:sp>
        <p:nvSpPr>
          <p:cNvPr id="36" name="Meeting outcome 3"/>
          <p:cNvSpPr txBox="1"/>
          <p:nvPr/>
        </p:nvSpPr>
        <p:spPr>
          <a:xfrm>
            <a:off x="4617720" y="3090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September report accepted; PQI trend noted</a:t>
            </a:r>
            <a:endParaRPr lang="en-US" sz="1100" dirty="0"/>
          </a:p>
        </p:txBody>
      </p:sp>
      <p:sp>
        <p:nvSpPr>
          <p:cNvPr id="37" name="Meeting name 4"/>
          <p:cNvSpPr txBox="1"/>
          <p:nvPr/>
        </p:nvSpPr>
        <p:spPr>
          <a:xfrm>
            <a:off x="4617720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Management Review</a:t>
            </a:r>
            <a:endParaRPr lang="en-US" sz="1300" dirty="0"/>
          </a:p>
        </p:txBody>
      </p:sp>
      <p:sp>
        <p:nvSpPr>
          <p:cNvPr id="38" name="Meeting date 4"/>
          <p:cNvSpPr txBox="1"/>
          <p:nvPr/>
        </p:nvSpPr>
        <p:spPr>
          <a:xfrm>
            <a:off x="6949440" y="33924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27-10-2026</a:t>
            </a:r>
            <a:endParaRPr lang="en-US" sz="1200" dirty="0"/>
          </a:p>
        </p:txBody>
      </p:sp>
      <p:sp>
        <p:nvSpPr>
          <p:cNvPr id="39" name="Meeting outcome 4"/>
          <p:cNvSpPr txBox="1"/>
          <p:nvPr/>
        </p:nvSpPr>
        <p:spPr>
          <a:xfrm>
            <a:off x="4617720" y="3657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Resources and Q4 audit plan confirmed</a:t>
            </a:r>
            <a:endParaRPr lang="en-US" sz="1100" dirty="0"/>
          </a:p>
        </p:txBody>
      </p:sp>
      <p:sp>
        <p:nvSpPr>
          <p:cNvPr id="40" name="QMS icon bg"/>
          <p:cNvSpPr/>
          <p:nvPr/>
        </p:nvSpPr>
        <p:spPr>
          <a:xfrm>
            <a:off x="4572000" y="412394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QM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4206240"/>
            <a:ext cx="182880" cy="182880"/>
          </a:xfrm>
          <a:prstGeom prst="rect">
            <a:avLst/>
          </a:prstGeom>
        </p:spPr>
      </p:pic>
      <p:sp>
        <p:nvSpPr>
          <p:cNvPr id="42" name="QMS title"/>
          <p:cNvSpPr txBox="1"/>
          <p:nvPr/>
        </p:nvSpPr>
        <p:spPr>
          <a:xfrm>
            <a:off x="5010912" y="410565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QMS reports (3)</a:t>
            </a:r>
            <a:endParaRPr lang="en-US" sz="1600" dirty="0"/>
          </a:p>
        </p:txBody>
      </p:sp>
      <p:sp>
        <p:nvSpPr>
          <p:cNvPr id="43" name="QMS name 1"/>
          <p:cNvSpPr txBox="1"/>
          <p:nvPr/>
        </p:nvSpPr>
        <p:spPr>
          <a:xfrm>
            <a:off x="4617720" y="4636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Document Control Audit Report</a:t>
            </a:r>
            <a:endParaRPr lang="en-US" sz="1300" dirty="0"/>
          </a:p>
        </p:txBody>
      </p:sp>
      <p:sp>
        <p:nvSpPr>
          <p:cNvPr id="44" name="QMS date 1"/>
          <p:cNvSpPr txBox="1"/>
          <p:nvPr/>
        </p:nvSpPr>
        <p:spPr>
          <a:xfrm>
            <a:off x="6949440" y="46360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22-10-2026</a:t>
            </a:r>
            <a:endParaRPr lang="en-US" sz="1200" dirty="0"/>
          </a:p>
        </p:txBody>
      </p:sp>
      <p:sp>
        <p:nvSpPr>
          <p:cNvPr id="45" name="QMS detail 1"/>
          <p:cNvSpPr txBox="1"/>
          <p:nvPr/>
        </p:nvSpPr>
        <p:spPr>
          <a:xfrm>
            <a:off x="4617720" y="48828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QMS-DC-2026-10  ·  Closed – no findings</a:t>
            </a:r>
            <a:endParaRPr lang="en-US" sz="1100" dirty="0"/>
          </a:p>
        </p:txBody>
      </p:sp>
      <p:sp>
        <p:nvSpPr>
          <p:cNvPr id="46" name="QMS name 2"/>
          <p:cNvSpPr txBox="1"/>
          <p:nvPr/>
        </p:nvSpPr>
        <p:spPr>
          <a:xfrm>
            <a:off x="4617720" y="5138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Corrective Action Register</a:t>
            </a:r>
            <a:endParaRPr lang="en-US" sz="1300" dirty="0"/>
          </a:p>
        </p:txBody>
      </p:sp>
      <p:sp>
        <p:nvSpPr>
          <p:cNvPr id="47" name="QMS date 2"/>
          <p:cNvSpPr txBox="1"/>
          <p:nvPr/>
        </p:nvSpPr>
        <p:spPr>
          <a:xfrm>
            <a:off x="6949440" y="51389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25-10-2026</a:t>
            </a:r>
            <a:endParaRPr lang="en-US" sz="1200" dirty="0"/>
          </a:p>
        </p:txBody>
      </p:sp>
      <p:sp>
        <p:nvSpPr>
          <p:cNvPr id="48" name="QMS detail 2"/>
          <p:cNvSpPr txBox="1"/>
          <p:nvPr/>
        </p:nvSpPr>
        <p:spPr>
          <a:xfrm>
            <a:off x="4617720" y="53858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QMS-CAR-2026-10  ·  2 actions open</a:t>
            </a:r>
            <a:endParaRPr lang="en-US" sz="1100" dirty="0"/>
          </a:p>
        </p:txBody>
      </p:sp>
      <p:sp>
        <p:nvSpPr>
          <p:cNvPr id="49" name="QMS name 3"/>
          <p:cNvSpPr txBox="1"/>
          <p:nvPr/>
        </p:nvSpPr>
        <p:spPr>
          <a:xfrm>
            <a:off x="4617720" y="5641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Management Review Minutes</a:t>
            </a:r>
            <a:endParaRPr lang="en-US" sz="1300" dirty="0"/>
          </a:p>
        </p:txBody>
      </p:sp>
      <p:sp>
        <p:nvSpPr>
          <p:cNvPr id="50" name="QMS date 3"/>
          <p:cNvSpPr txBox="1"/>
          <p:nvPr/>
        </p:nvSpPr>
        <p:spPr>
          <a:xfrm>
            <a:off x="6949440" y="56418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27-10-2026</a:t>
            </a:r>
            <a:endParaRPr lang="en-US" sz="1200" dirty="0"/>
          </a:p>
        </p:txBody>
      </p:sp>
      <p:sp>
        <p:nvSpPr>
          <p:cNvPr id="51" name="QMS detail 3"/>
          <p:cNvSpPr txBox="1"/>
          <p:nvPr/>
        </p:nvSpPr>
        <p:spPr>
          <a:xfrm>
            <a:off x="4617720" y="58887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QMS-MRM-2026-10  ·  Issued</a:t>
            </a:r>
            <a:endParaRPr lang="en-US" sz="1100" dirty="0"/>
          </a:p>
        </p:txBody>
      </p:sp>
      <p:sp>
        <p:nvSpPr>
          <p:cNvPr id="52" name="Manpower card"/>
          <p:cNvSpPr/>
          <p:nvPr/>
        </p:nvSpPr>
        <p:spPr>
          <a:xfrm>
            <a:off x="8503920" y="1005840"/>
            <a:ext cx="3227832" cy="5349240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53" name="Manpower icon bg"/>
          <p:cNvSpPr/>
          <p:nvPr/>
        </p:nvSpPr>
        <p:spPr>
          <a:xfrm>
            <a:off x="8686800" y="115214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4" name="Manpower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096" y="1234440"/>
            <a:ext cx="182880" cy="182880"/>
          </a:xfrm>
          <a:prstGeom prst="rect">
            <a:avLst/>
          </a:prstGeom>
        </p:spPr>
      </p:pic>
      <p:sp>
        <p:nvSpPr>
          <p:cNvPr id="55" name="Manpower title"/>
          <p:cNvSpPr txBox="1"/>
          <p:nvPr/>
        </p:nvSpPr>
        <p:spPr>
          <a:xfrm>
            <a:off x="9125712" y="113385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Quality manpower</a:t>
            </a:r>
            <a:endParaRPr lang="en-US" sz="1600" dirty="0"/>
          </a:p>
        </p:txBody>
      </p:sp>
      <p:graphicFrame>
        <p:nvGraphicFramePr>
          <p:cNvPr id="56" name="Manpower chart" descr=""/>
          <p:cNvGraphicFramePr/>
          <p:nvPr/>
        </p:nvGraphicFramePr>
        <p:xfrm>
          <a:off x="8641080" y="1600200"/>
          <a:ext cx="2953512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57" name="Manpower note"/>
          <p:cNvSpPr txBox="1"/>
          <p:nvPr/>
        </p:nvSpPr>
        <p:spPr>
          <a:xfrm>
            <a:off x="8732520" y="5257800"/>
            <a:ext cx="2770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11 total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Client approval required for all except Document Controller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gihaz QAQC Dashboard">
  <a:themeElements>
    <a:clrScheme name="Algihaz QAQC Dashboard">
      <a:dk1>
        <a:srgbClr val="3A3A3B"/>
      </a:dk1>
      <a:lt1>
        <a:srgbClr val="FFFFFF"/>
      </a:lt1>
      <a:dk2>
        <a:srgbClr val="582C83"/>
      </a:dk2>
      <a:lt2>
        <a:srgbClr val="F3EFF7"/>
      </a:lt2>
      <a:accent1>
        <a:srgbClr val="582C83"/>
      </a:accent1>
      <a:accent2>
        <a:srgbClr val="EB9823"/>
      </a:accent2>
      <a:accent3>
        <a:srgbClr val="06AEBB"/>
      </a:accent3>
      <a:accent4>
        <a:srgbClr val="A43C96"/>
      </a:accent4>
      <a:accent5>
        <a:srgbClr val="2E7D32"/>
      </a:accent5>
      <a:accent6>
        <a:srgbClr val="C0392B"/>
      </a:accent6>
      <a:hlink>
        <a:srgbClr val="582C83"/>
      </a:hlink>
      <a:folHlink>
        <a:srgbClr val="A43C96"/>
      </a:folHlink>
    </a:clrScheme>
    <a:fontScheme name="Algihaz QAQC Dashbo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QA/QC Monthly Dashboard</dc:title>
  <dc:subject>PptxGenJS Presentation</dc:subject>
  <dc:creator>Algihaz QA/QC</dc:creator>
  <cp:lastModifiedBy>Algihaz QA/QC</cp:lastModifiedBy>
  <cp:revision>1</cp:revision>
  <dcterms:created xsi:type="dcterms:W3CDTF">2026-10-14T09:58:55Z</dcterms:created>
  <dcterms:modified xsi:type="dcterms:W3CDTF">2026-10-14T09:58:55Z</dcterms:modified>
</cp:coreProperties>
</file>