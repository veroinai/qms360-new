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9" r:id="rId4"/>
    <p:sldId id="260" r:id="rId5"/>
    <p:sldId id="275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4231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10896"/>
            <a:ext cx="1051560" cy="4626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739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Internal Audit Report  |  [Audit Ref]  |  [Project / process name]</a:t>
            </a:r>
            <a:endParaRPr lang="en-US" sz="9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5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2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3291840"/>
            <a:ext cx="6766560" cy="6766560"/>
          </a:xfrm>
          <a:prstGeom prst="ellipse">
            <a:avLst/>
          </a:prstGeom>
          <a:solidFill>
            <a:srgbClr val="47237F">
              <a:alpha val="75000"/>
            </a:srgbClr>
          </a:solidFill>
          <a:ln w="12700">
            <a:solidFill>
              <a:srgbClr val="472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03920" y="-2926080"/>
            <a:ext cx="6035040" cy="6035040"/>
          </a:xfrm>
          <a:prstGeom prst="ellipse">
            <a:avLst/>
          </a:prstGeom>
          <a:solidFill>
            <a:srgbClr val="47237F">
              <a:alpha val="45000"/>
            </a:srgbClr>
          </a:solidFill>
          <a:ln w="12700">
            <a:solidFill>
              <a:srgbClr val="472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640080"/>
            <a:ext cx="17373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img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731520"/>
            <a:ext cx="1408176" cy="6217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057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INTERNAL AUDIT REPORT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46888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[Project / process / site name]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977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[One-line audit scope, e.g. process-based audit against ISO 9001:2015 and client requirements]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2578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A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REFERENCE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55046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[QAM-IA-YY-NNN]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3474720" y="52578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A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DATES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3474720" y="55046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[DD–DD Month YYYY]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217920" y="52578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A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/ PROJECT NO.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6217920" y="55046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[Number]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8961120" y="52578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A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REVISION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961120" y="55046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[Rev 00]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CONTROL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control and approval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001000" y="310896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C8A02A"/>
          </a:solidFill>
          <a:ln w="12700">
            <a:solidFill>
              <a:srgbClr val="C8A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001000" y="3108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PAGE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4754880" cy="4754880"/>
          </a:xfrm>
          <a:prstGeom prst="roundRect">
            <a:avLst>
              <a:gd name="adj" fmla="val 230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16276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information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03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title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194560" y="21031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Internal Audit Report (standard format)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743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no.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194560" y="27432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[QAM-F-000]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383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194560" y="33832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[00]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023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date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194560" y="40233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21-Sep-2026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663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owner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194560" y="46634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[Corporate QA/QC Manager]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303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194560" y="53035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quality internal audits conducted by Algihaz auditors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57784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5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450734"/>
              </p:ext>
            </p:extLst>
          </p:nvPr>
        </p:nvGraphicFramePr>
        <p:xfrm>
          <a:off x="5577840" y="1783080"/>
          <a:ext cx="6062472" cy="2066544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6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and title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Prepared by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Abdulkarim Alanazi / Lead QC and Auditing Engineer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Reviewed by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Mohammed Attaullah / title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 by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Fouad Al-Zahrani / Corporate QA/QC Manager</a:t>
                      </a: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 txBox="1"/>
          <p:nvPr/>
        </p:nvSpPr>
        <p:spPr>
          <a:xfrm>
            <a:off x="557784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history</a:t>
            </a:r>
            <a:endParaRPr lang="en-US" sz="15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0677852"/>
              </p:ext>
            </p:extLst>
          </p:nvPr>
        </p:nvGraphicFramePr>
        <p:xfrm>
          <a:off x="5577840" y="4434840"/>
          <a:ext cx="6062472" cy="173736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 of change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21-Sep-2026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 issue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Abdulkarim Alanazi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OVERVIEW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details and project profile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0" cy="4754880"/>
          </a:xfrm>
          <a:prstGeom prst="roundRect">
            <a:avLst>
              <a:gd name="adj" fmla="val 230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6276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details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title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697480" y="21031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[Quality Internal Audit – project / process / site]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reference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2606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[QAM-IA-YY-NNN]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108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type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3108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Internal   ☐ Supplier   ☐ Follow-up   ☐ Other: [ ]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611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dates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36118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[DD–DD Month YYYY]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114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/ department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4114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[Site, office or department audited]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617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auditor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697480" y="46177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[Name, title]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120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team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5120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[Names, titles]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623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Auditee representatives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697480" y="5623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[Names, titles]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223760" y="1463040"/>
            <a:ext cx="4416552" cy="4754880"/>
          </a:xfrm>
          <a:prstGeom prst="roundRect">
            <a:avLst>
              <a:gd name="adj" fmla="val 2484"/>
            </a:avLst>
          </a:prstGeom>
          <a:solidFill>
            <a:srgbClr val="2B1257"/>
          </a:solidFill>
          <a:ln w="12700">
            <a:solidFill>
              <a:srgbClr val="2B125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Text 21"/>
          <p:cNvSpPr txBox="1"/>
          <p:nvPr/>
        </p:nvSpPr>
        <p:spPr>
          <a:xfrm>
            <a:off x="7498080" y="16276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profile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498080" y="2148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326880" y="2148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0" y="26700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326880" y="26700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498080" y="319125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/ project no.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326880" y="319125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498080" y="371246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signed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326880" y="371246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498080" y="42336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period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326880" y="42336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498080" y="4754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TCC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9326880" y="4754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7498080" y="52760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9326880" y="52760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7498080" y="5760720"/>
            <a:ext cx="16780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b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</a:t>
            </a:r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41" name="Text 35">
            <a:extLst>
              <a:ext uri="{FF2B5EF4-FFF2-40B4-BE49-F238E27FC236}">
                <a16:creationId xmlns:a16="http://schemas.microsoft.com/office/drawing/2014/main" id="{710C952D-D831-EA31-A5D2-F34DE5BBA519}"/>
              </a:ext>
            </a:extLst>
          </p:cNvPr>
          <p:cNvSpPr txBox="1"/>
          <p:nvPr/>
        </p:nvSpPr>
        <p:spPr>
          <a:xfrm>
            <a:off x="9326880" y="5729037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OVERVIEW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Objective, scope, criteria and method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572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1051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[One or two sentences: what the audit was intended to confirm, e.g. compliance of the management control framework with company, client and ISO requirements]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3611880" cy="365760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3DD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7240" y="2743200"/>
            <a:ext cx="457200" cy="457200"/>
          </a:xfrm>
          <a:prstGeom prst="ellipse">
            <a:avLst/>
          </a:prstGeom>
          <a:solidFill>
            <a:srgbClr val="DCD2EF"/>
          </a:solidFill>
          <a:ln w="12700">
            <a:solidFill>
              <a:srgbClr val="DCD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2866644"/>
            <a:ext cx="210312" cy="21031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71600" y="28163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38328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scope: </a:t>
            </a: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[processes, areas, activities]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scope / not audited: </a:t>
            </a: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[and why]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and sample covered: </a:t>
            </a: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[dates, records, sample size]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phases covered: </a:t>
            </a: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[design, procurement, construction, T&amp;C]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288536" y="2560320"/>
            <a:ext cx="3611880" cy="365760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3DD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517136" y="2743200"/>
            <a:ext cx="457200" cy="457200"/>
          </a:xfrm>
          <a:prstGeom prst="ellipse">
            <a:avLst/>
          </a:prstGeom>
          <a:solidFill>
            <a:srgbClr val="DCD2EF"/>
          </a:solidFill>
          <a:ln w="12700">
            <a:solidFill>
              <a:srgbClr val="DCD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0580" y="2866644"/>
            <a:ext cx="210312" cy="21031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111496" y="28163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criteria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4517136" y="338328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ISO 9001:2015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ISO 45001:2018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ISO/IEC 17025:2017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Client specifications (e.g. PTS, SOW)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Project Quality Plan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Company procedures: [list]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Approved drawings and specifications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028432" y="2560320"/>
            <a:ext cx="3611880" cy="365760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3DD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8257032" y="2743200"/>
            <a:ext cx="457200" cy="457200"/>
          </a:xfrm>
          <a:prstGeom prst="ellipse">
            <a:avLst/>
          </a:prstGeom>
          <a:solidFill>
            <a:srgbClr val="DCD2EF"/>
          </a:solidFill>
          <a:ln w="12700">
            <a:solidFill>
              <a:srgbClr val="DCD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0476" y="2866644"/>
            <a:ext cx="210312" cy="21031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851392" y="28163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8257032" y="338328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Interviews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Observation of activities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Sample-based review of records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Site / store walk-down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Supplier or third-party verification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basis: </a:t>
            </a: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[how samples were selected]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programme and participation</a:t>
            </a:r>
            <a:endParaRPr lang="en-US" sz="2800" dirty="0"/>
          </a:p>
        </p:txBody>
      </p:sp>
      <p:pic>
        <p:nvPicPr>
          <p:cNvPr id="4" name="Image 0" descr="/home/claude/img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310896"/>
            <a:ext cx="1051560" cy="46268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739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Internal Audit Report 2026  |  QAM-IA-26-009  |  Expansion of Tabarjal PV 380/132kV BSP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55680" y="6473952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</a:t>
            </a:r>
            <a:r>
              <a:rPr lang="en-US" sz="1500" b="1" dirty="0" err="1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</a:t>
            </a: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(DD-MMM-YYYY)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41832" y="2057400"/>
            <a:ext cx="0" cy="3429000"/>
          </a:xfrm>
          <a:prstGeom prst="line">
            <a:avLst/>
          </a:prstGeom>
          <a:noFill/>
          <a:ln w="25400">
            <a:solidFill>
              <a:srgbClr val="DCD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95528" y="2057400"/>
            <a:ext cx="292608" cy="292608"/>
          </a:xfrm>
          <a:prstGeom prst="ellipse">
            <a:avLst/>
          </a:prstGeom>
          <a:solidFill>
            <a:srgbClr val="47237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1325880" y="18928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09:00–09:30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21671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meeting with site team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95528" y="2926080"/>
            <a:ext cx="292608" cy="292608"/>
          </a:xfrm>
          <a:prstGeom prst="ellipse">
            <a:avLst/>
          </a:prstGeom>
          <a:solidFill>
            <a:srgbClr val="47237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1325880" y="27614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09:30–12:00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30358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visit at the (insert the project name)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95528" y="3794760"/>
            <a:ext cx="292608" cy="292608"/>
          </a:xfrm>
          <a:prstGeom prst="ellipse">
            <a:avLst/>
          </a:prstGeom>
          <a:solidFill>
            <a:srgbClr val="DCD2E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1325880" y="36301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12:00–13:00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325880" y="39044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Prayer and lunch break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95528" y="4663440"/>
            <a:ext cx="292608" cy="292608"/>
          </a:xfrm>
          <a:prstGeom prst="ellipse">
            <a:avLst/>
          </a:prstGeom>
          <a:solidFill>
            <a:srgbClr val="47237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1325880" y="44988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13:00–16:00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325880" y="47731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of documents and records; QMS implementation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95528" y="5532120"/>
            <a:ext cx="292608" cy="292608"/>
          </a:xfrm>
          <a:prstGeom prst="ellipse">
            <a:avLst/>
          </a:prstGeom>
          <a:solidFill>
            <a:srgbClr val="47237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1325880" y="53675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16:00–16:30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325880" y="56418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of the day, closing meeting and recommendations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400800" y="1463040"/>
            <a:ext cx="5239512" cy="1417320"/>
          </a:xfrm>
          <a:prstGeom prst="roundRect">
            <a:avLst>
              <a:gd name="adj" fmla="val 7742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6629400" y="1645920"/>
            <a:ext cx="457200" cy="457200"/>
          </a:xfrm>
          <a:prstGeom prst="ellipse">
            <a:avLst/>
          </a:prstGeom>
          <a:solidFill>
            <a:srgbClr val="DCD2EF"/>
          </a:solidFill>
          <a:ln w="12700">
            <a:solidFill>
              <a:srgbClr val="DCD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2844" y="1769364"/>
            <a:ext cx="210312" cy="210312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7269480" y="1627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team</a:t>
            </a:r>
            <a:endParaRPr lang="en-US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7269480" y="1993392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300"/>
              </a:spcAft>
            </a:pPr>
            <a:r>
              <a:rPr lang="en-US" sz="13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Engr. (Name: Title)</a:t>
            </a:r>
            <a:endParaRPr lang="en-US" sz="1350" dirty="0"/>
          </a:p>
        </p:txBody>
      </p:sp>
      <p:sp>
        <p:nvSpPr>
          <p:cNvPr id="29" name="Shape 25"/>
          <p:cNvSpPr/>
          <p:nvPr/>
        </p:nvSpPr>
        <p:spPr>
          <a:xfrm>
            <a:off x="6400800" y="3063240"/>
            <a:ext cx="5239512" cy="1600200"/>
          </a:xfrm>
          <a:prstGeom prst="roundRect">
            <a:avLst>
              <a:gd name="adj" fmla="val 6857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6629400" y="3246120"/>
            <a:ext cx="457200" cy="457200"/>
          </a:xfrm>
          <a:prstGeom prst="ellipse">
            <a:avLst/>
          </a:prstGeom>
          <a:solidFill>
            <a:srgbClr val="DCD2EF"/>
          </a:solidFill>
          <a:ln w="12700">
            <a:solidFill>
              <a:srgbClr val="DCD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2844" y="3369564"/>
            <a:ext cx="210312" cy="210312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7269480" y="3227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Auditees present</a:t>
            </a:r>
            <a:endParaRPr lang="en-US" sz="1500" dirty="0"/>
          </a:p>
        </p:txBody>
      </p:sp>
      <p:sp>
        <p:nvSpPr>
          <p:cNvPr id="33" name="Text 28"/>
          <p:cNvSpPr txBox="1"/>
          <p:nvPr/>
        </p:nvSpPr>
        <p:spPr>
          <a:xfrm>
            <a:off x="7269480" y="3593592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Engr. (Name: Title)</a:t>
            </a:r>
            <a:endParaRPr lang="en-US" sz="1350" dirty="0"/>
          </a:p>
        </p:txBody>
      </p:sp>
      <p:sp>
        <p:nvSpPr>
          <p:cNvPr id="34" name="Shape 29"/>
          <p:cNvSpPr/>
          <p:nvPr/>
        </p:nvSpPr>
        <p:spPr>
          <a:xfrm>
            <a:off x="6400800" y="4846320"/>
            <a:ext cx="523951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027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0"/>
          <p:cNvSpPr/>
          <p:nvPr/>
        </p:nvSpPr>
        <p:spPr>
          <a:xfrm>
            <a:off x="6629400" y="5029200"/>
            <a:ext cx="457200" cy="457200"/>
          </a:xfrm>
          <a:prstGeom prst="ellipse">
            <a:avLst/>
          </a:prstGeom>
          <a:solidFill>
            <a:srgbClr val="FBE4E7"/>
          </a:solidFill>
          <a:ln w="12700">
            <a:solidFill>
              <a:srgbClr val="FBE4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2844" y="5152644"/>
            <a:ext cx="210312" cy="210312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7269480" y="5010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C02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represented</a:t>
            </a:r>
            <a:endParaRPr lang="en-US" sz="1500" dirty="0"/>
          </a:p>
        </p:txBody>
      </p:sp>
      <p:sp>
        <p:nvSpPr>
          <p:cNvPr id="38" name="Text 32"/>
          <p:cNvSpPr txBox="1"/>
          <p:nvPr/>
        </p:nvSpPr>
        <p:spPr>
          <a:xfrm>
            <a:off x="7269480" y="53492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Project Manager, Site Manager, Project Engineers or delegates were not available, limiting verification.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results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788920" cy="1325880"/>
          </a:xfrm>
          <a:prstGeom prst="roundRect">
            <a:avLst>
              <a:gd name="adj" fmla="val 8276"/>
            </a:avLst>
          </a:prstGeom>
          <a:solidFill>
            <a:srgbClr val="47237F"/>
          </a:solidFill>
          <a:ln w="12700">
            <a:solidFill>
              <a:srgbClr val="472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15087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2057400" y="1828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CD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Non-conformities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66160" y="1463040"/>
            <a:ext cx="2788920" cy="1325880"/>
          </a:xfrm>
          <a:prstGeom prst="roundRect">
            <a:avLst>
              <a:gd name="adj" fmla="val 8276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3794760" y="15087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828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for improvement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7830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9050">
            <a:solidFill>
              <a:srgbClr val="C027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48640" y="30175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02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7033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560320" y="2971800"/>
            <a:ext cx="17830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9050">
            <a:solidFill>
              <a:srgbClr val="E380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2560320" y="30175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380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2560320" y="37033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0" y="2971800"/>
            <a:ext cx="17830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9050">
            <a:solidFill>
              <a:srgbClr val="5877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572000" y="30175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587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37033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66560" y="1463040"/>
            <a:ext cx="4873752" cy="2651760"/>
          </a:xfrm>
          <a:prstGeom prst="roundRect">
            <a:avLst>
              <a:gd name="adj" fmla="val 413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040880" y="162763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RATING (SELECT ONE)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0" y="19933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0" y="22768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are met; improvements only.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0" y="26791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with improvements required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0" y="29626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action needed on non-conformities.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7498080" y="33649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effective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498080" y="36484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or systemic failures of the system or controls.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4343400"/>
            <a:ext cx="5806440" cy="1874520"/>
          </a:xfrm>
          <a:prstGeom prst="roundRect">
            <a:avLst>
              <a:gd name="adj" fmla="val 5854"/>
            </a:avLst>
          </a:prstGeom>
          <a:solidFill>
            <a:srgbClr val="2B1257"/>
          </a:solidFill>
          <a:ln w="12700">
            <a:solidFill>
              <a:srgbClr val="2B1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822960" y="449884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A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CONCLUSION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4773168"/>
            <a:ext cx="5257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[Two to four sentences: were the audit objectives achieved; how well the QMS is implemented and effective; main strengths and main gaps]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583680" y="4343400"/>
            <a:ext cx="5056632" cy="1874520"/>
          </a:xfrm>
          <a:prstGeom prst="roundRect">
            <a:avLst>
              <a:gd name="adj" fmla="val 5854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6858000" y="44988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MESSAGES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0" y="4773168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message 1: most significant finding or trend]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message 2]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message 3]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message 4]</a:t>
            </a:r>
            <a:endParaRPr lang="en-US" sz="13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summary by audit area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040880" cy="45720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area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027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80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877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4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management and organization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4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and engineering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4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Procurement and supplier 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4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QMS and documentation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4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Construction and site works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4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and material 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4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 and commissioning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[Other area]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035040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 must equal the number of findings in the register.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7863840" y="1463040"/>
            <a:ext cx="3776472" cy="4754880"/>
          </a:xfrm>
          <a:prstGeom prst="roundRect">
            <a:avLst>
              <a:gd name="adj" fmla="val 290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8092440" y="16276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THEMES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092440" y="2011680"/>
            <a:ext cx="457200" cy="457200"/>
          </a:xfrm>
          <a:prstGeom prst="ellipse">
            <a:avLst/>
          </a:prstGeom>
          <a:solidFill>
            <a:srgbClr val="47237F"/>
          </a:solidFill>
          <a:ln w="12700">
            <a:solidFill>
              <a:srgbClr val="472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6"/>
          <p:cNvSpPr txBox="1"/>
          <p:nvPr/>
        </p:nvSpPr>
        <p:spPr>
          <a:xfrm>
            <a:off x="80924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68680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[Theme or systemic cause]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8686800" y="23317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it indicates]  ·  NC refs: [B.x.x]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092440" y="3383280"/>
            <a:ext cx="457200" cy="457200"/>
          </a:xfrm>
          <a:prstGeom prst="ellipse">
            <a:avLst/>
          </a:prstGeom>
          <a:solidFill>
            <a:srgbClr val="47237F"/>
          </a:solidFill>
          <a:ln w="12700">
            <a:solidFill>
              <a:srgbClr val="472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809244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686800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[Theme or systemic cause]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8686800" y="37033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it indicates]  ·  NC refs: [B.x.x]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092440" y="4754880"/>
            <a:ext cx="457200" cy="457200"/>
          </a:xfrm>
          <a:prstGeom prst="ellipse">
            <a:avLst/>
          </a:prstGeom>
          <a:solidFill>
            <a:srgbClr val="47237F"/>
          </a:solidFill>
          <a:ln w="12700">
            <a:solidFill>
              <a:srgbClr val="472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809244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6868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[Theme or systemic cause]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8686800" y="50749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it indicates]  ·  NC refs: [B.x.x]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project progress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001000" y="310896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C8A02A"/>
          </a:solidFill>
          <a:ln w="12700">
            <a:solidFill>
              <a:srgbClr val="C8A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001000" y="3108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IF NOT APPLICABLE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772400" cy="4279392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 period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Preparation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 &amp; Design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Equipment &amp; Material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Testing, Commissioning &amp; Energization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Close-out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943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at: </a:t>
            </a:r>
            <a:r>
              <a:rPr lang="en-US" sz="11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[DD-MMM-YYYY]</a:t>
            </a:r>
            <a:r>
              <a:rPr lang="en-US" sz="11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Source: </a:t>
            </a:r>
            <a:r>
              <a:rPr lang="en-US" sz="11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[weekly progress report ref.]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595360" y="1463040"/>
            <a:ext cx="3044952" cy="2103120"/>
          </a:xfrm>
          <a:prstGeom prst="roundRect">
            <a:avLst>
              <a:gd name="adj" fmla="val 5217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82396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</a:t>
            </a:r>
            <a:endParaRPr lang="en-US" sz="1300" dirty="0"/>
          </a:p>
        </p:txBody>
      </p:sp>
      <p:sp>
        <p:nvSpPr>
          <p:cNvPr id="6" name="Text 7"/>
          <p:cNvSpPr txBox="1"/>
          <p:nvPr/>
        </p:nvSpPr>
        <p:spPr>
          <a:xfrm>
            <a:off x="8823960" y="192024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= Actual − Plan, in percentage points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must total 100%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= Σ (weight × phase progress)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595360" y="3749040"/>
            <a:ext cx="3044952" cy="2468880"/>
          </a:xfrm>
          <a:prstGeom prst="roundRect">
            <a:avLst>
              <a:gd name="adj" fmla="val 4444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882396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comment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823960" y="4206240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[Main causes of variance; were recovery actions evidenced? Which phase contributes most?]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procurement status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001000" y="310896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C8A02A"/>
          </a:solidFill>
          <a:ln w="12700">
            <a:solidFill>
              <a:srgbClr val="C8A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001000" y="3108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IF NOT APPLICABLE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40680" cy="4754880"/>
          </a:xfrm>
          <a:prstGeom prst="roundRect">
            <a:avLst>
              <a:gd name="adj" fmla="val 230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199632" y="1463040"/>
            <a:ext cx="5440680" cy="4754880"/>
          </a:xfrm>
          <a:prstGeom prst="roundRect">
            <a:avLst>
              <a:gd name="adj" fmla="val 230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submittals (DTS)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965960"/>
          <a:ext cx="4983480" cy="226771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review (U/R)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Cancelled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submittals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777240" y="43434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Check: sum of statuses equals total submittals</a:t>
            </a:r>
            <a:endParaRPr lang="en-US" sz="1150" dirty="0"/>
          </a:p>
        </p:txBody>
      </p:sp>
      <p:sp>
        <p:nvSpPr>
          <p:cNvPr id="9" name="Shape 8"/>
          <p:cNvSpPr/>
          <p:nvPr/>
        </p:nvSpPr>
        <p:spPr>
          <a:xfrm>
            <a:off x="777240" y="4709160"/>
            <a:ext cx="49834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914400" y="4818888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Comment: </a:t>
            </a:r>
            <a:r>
              <a:rPr lang="en-US" sz="12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[design progress, Code C / rejected volume, IFC status of drawings]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428232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5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28232" y="1965960"/>
          <a:ext cx="4983480" cy="2551176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items tracked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 order issued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manufacturing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 completed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 pending / report under approval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Shipped / in transit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Received at site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 planned receipt date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6428232" y="4709160"/>
            <a:ext cx="49834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6565392" y="4818888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Comment: </a:t>
            </a:r>
            <a:r>
              <a:rPr lang="en-US" sz="12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[approved vendors, PO compliance, FAT status, delayed items]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CONFORMING AREAS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verified as conforming and good practices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312724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5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 / process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was verified and found conforming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/ evidence reference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[Area / process]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[What was verified and found conforming]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[Record / document ref.]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[Area / process]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[What was verified and found conforming]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[Record / document ref.]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[Area / process]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[What was verified and found conforming]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[Record / document ref.]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[Area / process]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[What was verified and found conforming]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[Record / document ref.]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[Area / process]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[What was verified and found conforming]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[Record / document ref.]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846320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77240" y="50749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373" y="5223053"/>
            <a:ext cx="252374" cy="25237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54480" y="4983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practices and positive observations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1554480" y="5321808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[Practices worth sharing across projects; cooperation of auditees; facilities and controls that exceed requirements]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NON-CONFORMITY REGISTER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Non-conformities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4151376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 evidence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 gridSpan="5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B.[n]  [Audit area, e.g. Design, Procurement, QMS, Site, Store]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B.[n].1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[What was found, where and when; how it deviates from the requirement]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[Record, document no., photo ref. or interview]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[Standard / procedure / specification and clause]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[Grade]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B.[n].2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[What was found, where and when; how it deviates from the requirement]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[Record, document no., photo ref. or interview]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[Standard / procedure / specification and clause]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[Grade]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B.[n].3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[What was found, where and when; how it deviates from the requirement]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[Record, document no., photo ref. or interview]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[Standard / procedure / specification and clause]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[Grade]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B.[n].4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[What was found, where and when; how it deviates from the requirement]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[Record, document no., photo ref. or interview]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[Standard / procedure / specification and clause]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[Grade]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B.[n].5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[What was found, where and when; how it deviates from the requirement]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[Record, document no., photo ref. or interview]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[Standard / procedure / specification and clause]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[Grade]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17220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this slide for further areas. Grades: Major, Moderate or Minor (see grading slide). Reference format B.[section].[no.].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FOR IMPROVEMENT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for improvement (OFI)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4151376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 evidence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 gridSpan="5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OFI  Observations that are not breaches of a requirement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B.[n].1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[What was observed and the improvement suggested]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[Record, document no., photo ref. or interview]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[Standard clause or good practice, if any]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B.[n].2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[What was observed and the improvement suggested]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[Record, document no., photo ref. or interview]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[Standard clause or good practice, if any]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B.[n].3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[What was observed and the improvement suggested]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[Record, document no., photo ref. or interview]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[Standard clause or good practice, if any]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B.[n].4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[What was observed and the improvement suggested]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[Record, document no., photo ref. or interview]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[Standard clause or good practice, if any]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B.[n].5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[What was observed and the improvement suggested]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[Record, document no., photo ref. or interview]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[Standard clause or good practice, if any]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17220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OFI does not require a formal corrective action response; the auditee decides and records its response.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Photographic evidence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3017520"/>
          </a:xfrm>
          <a:prstGeom prst="rect">
            <a:avLst/>
          </a:prstGeom>
          <a:solidFill>
            <a:srgbClr val="F3EEFA"/>
          </a:solidFill>
          <a:ln w="15875">
            <a:solidFill>
              <a:srgbClr val="A99BC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2331720"/>
            <a:ext cx="594360" cy="5943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01752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photo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310128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or arrow the defect; one finding per photo pair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61772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</a:t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[B.x.x]     </a:t>
            </a: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Grade: </a:t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    </a:t>
            </a: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</a:t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93776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</a:t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[area, grid, element]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25780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</a:t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the photo shows and why it is a non-conformity]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80644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Requirement: </a:t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[standard / spec / clause]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99632" y="1463040"/>
            <a:ext cx="5440680" cy="3017520"/>
          </a:xfrm>
          <a:prstGeom prst="rect">
            <a:avLst/>
          </a:prstGeom>
          <a:solidFill>
            <a:srgbClr val="F3EEFA"/>
          </a:solidFill>
          <a:ln w="15875">
            <a:solidFill>
              <a:srgbClr val="A99BC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2" y="2331720"/>
            <a:ext cx="594360" cy="5943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199632" y="301752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photo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6199632" y="3310128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or arrow the defect; one finding per photo pair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6199632" y="461772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</a:t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[B.x.x]     </a:t>
            </a: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Grade: </a:t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    </a:t>
            </a: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</a:t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6199632" y="493776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</a:t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[area, grid, element]</a:t>
            </a:r>
            <a:endParaRPr lang="en-US" sz="1250" dirty="0"/>
          </a:p>
        </p:txBody>
      </p:sp>
      <p:sp>
        <p:nvSpPr>
          <p:cNvPr id="18" name="Text 14"/>
          <p:cNvSpPr txBox="1"/>
          <p:nvPr/>
        </p:nvSpPr>
        <p:spPr>
          <a:xfrm>
            <a:off x="6199632" y="525780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</a:t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the photo shows and why it is a non-conformity]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6199632" y="580644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Requirement: </a:t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[standard / spec / clause]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AND RESPONSE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grades and response requirements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057400" cy="1188720"/>
          </a:xfrm>
          <a:prstGeom prst="roundRect">
            <a:avLst>
              <a:gd name="adj" fmla="val 9231"/>
            </a:avLst>
          </a:prstGeom>
          <a:solidFill>
            <a:srgbClr val="47237F"/>
          </a:solidFill>
          <a:ln w="12700">
            <a:solidFill>
              <a:srgbClr val="472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15727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C8A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116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Auditee root-cause analysis and CAPA plan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807208" y="1463040"/>
            <a:ext cx="2057400" cy="1188720"/>
          </a:xfrm>
          <a:prstGeom prst="roundRect">
            <a:avLst>
              <a:gd name="adj" fmla="val 9231"/>
            </a:avLst>
          </a:prstGeom>
          <a:solidFill>
            <a:srgbClr val="47237F"/>
          </a:solidFill>
          <a:ln w="12700">
            <a:solidFill>
              <a:srgbClr val="472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2990088" y="15727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C8A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990088" y="20116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team reviews and accepts plan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65776" y="1463040"/>
            <a:ext cx="2057400" cy="1188720"/>
          </a:xfrm>
          <a:prstGeom prst="roundRect">
            <a:avLst>
              <a:gd name="adj" fmla="val 9231"/>
            </a:avLst>
          </a:prstGeom>
          <a:solidFill>
            <a:srgbClr val="47237F"/>
          </a:solidFill>
          <a:ln w="12700">
            <a:solidFill>
              <a:srgbClr val="472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248656" y="15727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C8A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248656" y="20116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implemented with evidence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24344" y="1463040"/>
            <a:ext cx="2057400" cy="1188720"/>
          </a:xfrm>
          <a:prstGeom prst="roundRect">
            <a:avLst>
              <a:gd name="adj" fmla="val 9231"/>
            </a:avLst>
          </a:prstGeom>
          <a:solidFill>
            <a:srgbClr val="47237F"/>
          </a:solidFill>
          <a:ln w="12700">
            <a:solidFill>
              <a:srgbClr val="472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507224" y="15727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C8A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7507224" y="20116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Effectiveness verified by auditors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582912" y="1463040"/>
            <a:ext cx="2057400" cy="1188720"/>
          </a:xfrm>
          <a:prstGeom prst="roundRect">
            <a:avLst>
              <a:gd name="adj" fmla="val 9231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9765792" y="15727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9765792" y="20116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closed in tracker</a:t>
            </a:r>
            <a:endParaRPr lang="en-US" sz="12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71800"/>
          <a:ext cx="11091672" cy="285292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9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 requirement (days from report issue)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27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of a required control, or a condition that could compromise the integrity, safety or performance of the works or the system.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 containment. CAPA plan within 7 days; closure within 30 days.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80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 departure from a specified requirement that could affect quality if left uncorrected.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 plan within 14 days; closure within 45 days.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77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Isolated lapse or documentation gap with low immediate impact.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 plan within 14 days; closure within 60 days.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 suggestion; not a breach of a requirement.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Auditee decides and records its response; reviewed at the next audit.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7"/>
          <p:cNvSpPr txBox="1"/>
          <p:nvPr/>
        </p:nvSpPr>
        <p:spPr>
          <a:xfrm>
            <a:off x="548640" y="617220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 and response windows are proposed for approval of this standard.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ACTIONS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action tracker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4352544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Correction and corrective 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 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by / 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B.x.x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[Grade]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[Action taken or planned]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[Date]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[Status]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17220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Open, In progress, Implemented, Verified, Closed. Use the same reference numbers as the register.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priority actions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11880" cy="4160520"/>
          </a:xfrm>
          <a:prstGeom prst="roundRect">
            <a:avLst>
              <a:gd name="adj" fmla="val 303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664208"/>
            <a:ext cx="3154680" cy="365760"/>
          </a:xfrm>
          <a:prstGeom prst="roundRect">
            <a:avLst>
              <a:gd name="adj" fmla="val 50000"/>
            </a:avLst>
          </a:prstGeom>
          <a:solidFill>
            <a:srgbClr val="C0273B"/>
          </a:solidFill>
          <a:ln w="12700">
            <a:solidFill>
              <a:srgbClr val="C027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6642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 the risk now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8600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  ([NC ref])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  ([NC ref])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  ([NC ref])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  ([NC ref])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  ([NC ref])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88536" y="1463040"/>
            <a:ext cx="3611880" cy="4160520"/>
          </a:xfrm>
          <a:prstGeom prst="roundRect">
            <a:avLst>
              <a:gd name="adj" fmla="val 303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17136" y="1664208"/>
            <a:ext cx="3154680" cy="365760"/>
          </a:xfrm>
          <a:prstGeom prst="roundRect">
            <a:avLst>
              <a:gd name="adj" fmla="val 50000"/>
            </a:avLst>
          </a:prstGeom>
          <a:solidFill>
            <a:srgbClr val="E3800B"/>
          </a:solidFill>
          <a:ln w="12700">
            <a:solidFill>
              <a:srgbClr val="E380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517136" y="16642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and close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17136" y="228600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  ([NC ref])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  ([NC ref])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  ([NC ref])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  ([NC ref])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  ([NC ref])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28432" y="1463040"/>
            <a:ext cx="3611880" cy="4160520"/>
          </a:xfrm>
          <a:prstGeom prst="roundRect">
            <a:avLst>
              <a:gd name="adj" fmla="val 303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57032" y="1664208"/>
            <a:ext cx="3154680" cy="365760"/>
          </a:xfrm>
          <a:prstGeom prst="roundRect">
            <a:avLst>
              <a:gd name="adj" fmla="val 50000"/>
            </a:avLst>
          </a:prstGeom>
          <a:solidFill>
            <a:srgbClr val="47237F"/>
          </a:solidFill>
          <a:ln w="12700">
            <a:solidFill>
              <a:srgbClr val="472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257032" y="16642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recurrence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257032" y="228600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  ([NC ref])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  ([NC ref])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  ([NC ref])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  ([NC ref])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  ([NC ref])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760720"/>
            <a:ext cx="11091672" cy="457200"/>
          </a:xfrm>
          <a:prstGeom prst="roundRect">
            <a:avLst>
              <a:gd name="adj" fmla="val 24000"/>
            </a:avLst>
          </a:prstGeom>
          <a:solidFill>
            <a:srgbClr val="2B1257"/>
          </a:solidFill>
          <a:ln w="12700">
            <a:solidFill>
              <a:srgbClr val="2B1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48640" y="57607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requires a documented root cause and corrective action plan; Major findings are actioned first.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309360" cy="6858000"/>
          </a:xfrm>
          <a:prstGeom prst="rect">
            <a:avLst/>
          </a:prstGeom>
          <a:solidFill>
            <a:srgbClr val="2B1257"/>
          </a:solidFill>
          <a:ln w="12700">
            <a:solidFill>
              <a:srgbClr val="2B1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645920" y="4480560"/>
            <a:ext cx="4572000" cy="4572000"/>
          </a:xfrm>
          <a:prstGeom prst="ellipse">
            <a:avLst/>
          </a:prstGeom>
          <a:solidFill>
            <a:srgbClr val="47237F">
              <a:alpha val="65000"/>
            </a:srgbClr>
          </a:solidFill>
          <a:ln w="12700">
            <a:solidFill>
              <a:srgbClr val="472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40080" y="685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A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0058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[Headline conclusion in one line]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9456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[Were the audit objectives achieved?]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[Overall effectiveness of the system and priority findings]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[Follow-up audit: date and scope]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074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CD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issue date: </a:t>
            </a:r>
            <a:r>
              <a:rPr lang="en-US" sz="1250" i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[DD-MMM-YYYY]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4406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CD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Distribution: </a:t>
            </a:r>
            <a:r>
              <a:rPr lang="en-US" sz="1250" i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[names / departments]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960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12344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auditor: [name]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66560" y="1920240"/>
            <a:ext cx="2926080" cy="0"/>
          </a:xfrm>
          <a:prstGeom prst="line">
            <a:avLst/>
          </a:prstGeom>
          <a:noFill/>
          <a:ln w="9525">
            <a:solidFill>
              <a:srgbClr val="6A6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058400" y="1920240"/>
            <a:ext cx="1554480" cy="0"/>
          </a:xfrm>
          <a:prstGeom prst="line">
            <a:avLst/>
          </a:prstGeom>
          <a:noFill/>
          <a:ln w="9525">
            <a:solidFill>
              <a:srgbClr val="6A6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766560" y="19568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0" y="195681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23317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by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26060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[Lead QA/QC and Audit / Corporate QA/QC Manager: name]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66560" y="3291840"/>
            <a:ext cx="2926080" cy="0"/>
          </a:xfrm>
          <a:prstGeom prst="line">
            <a:avLst/>
          </a:prstGeom>
          <a:noFill/>
          <a:ln w="9525">
            <a:solidFill>
              <a:srgbClr val="6A6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058400" y="3291840"/>
            <a:ext cx="1554480" cy="0"/>
          </a:xfrm>
          <a:prstGeom prst="line">
            <a:avLst/>
          </a:prstGeom>
          <a:noFill/>
          <a:ln w="9525">
            <a:solidFill>
              <a:srgbClr val="6A6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766560" y="3328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0" y="332841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3703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by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39776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[Audit manager / QA/QC Director: name]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766560" y="4663440"/>
            <a:ext cx="2926080" cy="0"/>
          </a:xfrm>
          <a:prstGeom prst="line">
            <a:avLst/>
          </a:prstGeom>
          <a:noFill/>
          <a:ln w="9525">
            <a:solidFill>
              <a:srgbClr val="6A6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058400" y="4663440"/>
            <a:ext cx="1554480" cy="0"/>
          </a:xfrm>
          <a:prstGeom prst="line">
            <a:avLst/>
          </a:prstGeom>
          <a:noFill/>
          <a:ln w="9525">
            <a:solidFill>
              <a:srgbClr val="6A6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6766560" y="47000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10058400" y="470001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766560" y="50749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Acknowledged by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766560" y="5349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Auditee, project manager: [name]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766560" y="6035040"/>
            <a:ext cx="2926080" cy="0"/>
          </a:xfrm>
          <a:prstGeom prst="line">
            <a:avLst/>
          </a:prstGeom>
          <a:noFill/>
          <a:ln w="9525">
            <a:solidFill>
              <a:srgbClr val="6A6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0058400" y="6035040"/>
            <a:ext cx="1554480" cy="0"/>
          </a:xfrm>
          <a:prstGeom prst="line">
            <a:avLst/>
          </a:prstGeom>
          <a:noFill/>
          <a:ln w="9525">
            <a:solidFill>
              <a:srgbClr val="6A6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6766560" y="60716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10058400" y="607161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B12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926080"/>
            <a:ext cx="6035040" cy="6035040"/>
          </a:xfrm>
          <a:prstGeom prst="ellipse">
            <a:avLst/>
          </a:prstGeom>
          <a:solidFill>
            <a:srgbClr val="47237F">
              <a:alpha val="45000"/>
            </a:srgbClr>
          </a:solidFill>
          <a:ln w="12700">
            <a:solidFill>
              <a:srgbClr val="472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377440" y="4206240"/>
            <a:ext cx="5852160" cy="5852160"/>
          </a:xfrm>
          <a:prstGeom prst="ellipse">
            <a:avLst/>
          </a:prstGeom>
          <a:solidFill>
            <a:srgbClr val="47237F">
              <a:alpha val="75000"/>
            </a:srgbClr>
          </a:solidFill>
          <a:ln w="12700">
            <a:solidFill>
              <a:srgbClr val="472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731520" y="1097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Report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468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A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ATTACHMENTS (TICK THOSE INCLUDED)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9260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9260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plan / programme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760720" y="29260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29260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attendance sheet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5661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5661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checklists and working notes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760720" y="35661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35661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Photographic evidence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2062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2062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Non-conformity forms and CAPA responses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760720" y="42062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42062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records and reports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692640" y="5669280"/>
            <a:ext cx="17373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0" descr="/home/claude/img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5760720"/>
            <a:ext cx="1408176" cy="6217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2330</Words>
  <Application>Microsoft Office PowerPoint</Application>
  <PresentationFormat>Widescreen</PresentationFormat>
  <Paragraphs>489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Document control and approval</vt:lpstr>
      <vt:lpstr>Audit details and project profile</vt:lpstr>
      <vt:lpstr>Objective, scope, criteria and method</vt:lpstr>
      <vt:lpstr>PowerPoint Presentation</vt:lpstr>
      <vt:lpstr>Audit results at a glance</vt:lpstr>
      <vt:lpstr>Findings summary by audit area</vt:lpstr>
      <vt:lpstr>Overall project progress</vt:lpstr>
      <vt:lpstr>Design and procurement status</vt:lpstr>
      <vt:lpstr>Areas verified as conforming and good practices</vt:lpstr>
      <vt:lpstr>Non-conformities</vt:lpstr>
      <vt:lpstr>Opportunities for improvement (OFI)</vt:lpstr>
      <vt:lpstr>Photographic evidence</vt:lpstr>
      <vt:lpstr>Finding grades and response requirements</vt:lpstr>
      <vt:lpstr>Corrective action tracker</vt:lpstr>
      <vt:lpstr>Recommended priority actions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Quality Internal Audit Report - Standard Format</dc:title>
  <dc:subject>PptxGenJS Presentation</dc:subject>
  <dc:creator>Algihaz Holding - Quality Assurance</dc:creator>
  <cp:lastModifiedBy>Abdulkarim Alanazi</cp:lastModifiedBy>
  <cp:revision>2</cp:revision>
  <dcterms:created xsi:type="dcterms:W3CDTF">2026-09-21T08:33:37Z</dcterms:created>
  <dcterms:modified xsi:type="dcterms:W3CDTF">2026-09-21T09:19:38Z</dcterms:modified>
</cp:coreProperties>
</file>